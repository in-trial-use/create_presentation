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59200"/>
            <a:ext cx="10972080" cy="108468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5" name="PlaceHolder 2"/>
          <p:cNvSpPr>
            <a:spLocks noGrp="1"/>
          </p:cNvSpPr>
          <p:nvPr>
            <p:ph type="subTitle"/>
          </p:nvPr>
        </p:nvSpPr>
        <p:spPr>
          <a:xfrm>
            <a:off x="609480" y="1520280"/>
            <a:ext cx="10972080" cy="376848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lvl1pPr indent="0" algn="ctr">
              <a:buNone/>
              <a:defRPr lang="ja-JP" sz="4400" b="0" u="none" strike="noStrike">
                <a:solidFill>
                  <a:srgbClr val="000000"/>
                </a:solidFill>
                <a:effectLst/>
                <a:uFillTx/>
                <a:latin typeface="Arial"/>
              </a:defRPr>
            </a:lvl1pPr>
          </a:lstStyle>
          <a:p>
            <a:pPr indent="0" algn="ctr">
              <a:buNone/>
            </a:pPr>
            <a:r>
              <a:rPr lang="ja-JP" sz="4400" b="0" u="none" strike="noStrike">
                <a:solidFill>
                  <a:srgbClr val="000000"/>
                </a:solidFill>
                <a:effectLst/>
                <a:uFillTx/>
                <a:latin typeface="Arial"/>
              </a:rPr>
              <a:t>クリックしてタイトルテキストを編集</a:t>
            </a:r>
            <a:endParaRPr lang="en-US" sz="4400" b="0" u="none" strike="noStrike">
              <a:solidFill>
                <a:srgbClr val="000000"/>
              </a:solidFill>
              <a:effectLst/>
              <a:uFillTx/>
              <a:latin typeface="Arial"/>
            </a:endParaRPr>
          </a:p>
        </p:txBody>
      </p:sp>
      <p:sp>
        <p:nvSpPr>
          <p:cNvPr id="3" name="PlaceHolder 2"/>
          <p:cNvSpPr>
            <a:spLocks noGrp="1"/>
          </p:cNvSpPr>
          <p:nvPr>
            <p:ph type="body"/>
          </p:nvPr>
        </p:nvSpPr>
        <p:spPr>
          <a:xfrm>
            <a:off x="609480" y="1520280"/>
            <a:ext cx="10972080" cy="37684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ja-JP"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ja-JP"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ja-JP"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ja-JP"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ja-JP"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ja-JP"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ja-JP"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ja-JP" sz="3200" b="0" u="none" strike="noStrike">
                <a:solidFill>
                  <a:srgbClr val="000000"/>
                </a:solidFill>
                <a:effectLst/>
                <a:uFillTx/>
                <a:latin typeface="Arial"/>
              </a:rPr>
              <a:t>クリックしてアウトラインのテキストを編集</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ja-JP" sz="2800" b="0" u="none" strike="noStrike">
                <a:solidFill>
                  <a:srgbClr val="000000"/>
                </a:solidFill>
                <a:effectLst/>
                <a:uFillTx/>
                <a:latin typeface="Arial"/>
              </a:rPr>
              <a:t>第</a:t>
            </a:r>
            <a:r>
              <a:rPr lang="en-US" sz="2800" b="0" u="none" strike="noStrike">
                <a:solidFill>
                  <a:srgbClr val="000000"/>
                </a:solidFill>
                <a:effectLst/>
                <a:uFillTx/>
                <a:latin typeface="Arial"/>
              </a:rPr>
              <a:t>2</a:t>
            </a:r>
            <a:r>
              <a:rPr lang="ja-JP" sz="2800" b="0" u="none" strike="noStrike">
                <a:solidFill>
                  <a:srgbClr val="000000"/>
                </a:solidFill>
                <a:effectLst/>
                <a:uFillTx/>
                <a:latin typeface="Arial"/>
              </a:rPr>
              <a:t>レベル アウトライン</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ja-JP" sz="2400" b="0" u="none" strike="noStrike">
                <a:solidFill>
                  <a:srgbClr val="000000"/>
                </a:solidFill>
                <a:effectLst/>
                <a:uFillTx/>
                <a:latin typeface="Arial"/>
              </a:rPr>
              <a:t>第</a:t>
            </a:r>
            <a:r>
              <a:rPr lang="en-US" sz="2400" b="0" u="none" strike="noStrike">
                <a:solidFill>
                  <a:srgbClr val="000000"/>
                </a:solidFill>
                <a:effectLst/>
                <a:uFillTx/>
                <a:latin typeface="Arial"/>
              </a:rPr>
              <a:t>3</a:t>
            </a:r>
            <a:r>
              <a:rPr lang="ja-JP" sz="2400" b="0" u="none" strike="noStrike">
                <a:solidFill>
                  <a:srgbClr val="000000"/>
                </a:solidFill>
                <a:effectLst/>
                <a:uFillTx/>
                <a:latin typeface="Arial"/>
              </a:rPr>
              <a:t>レベル アウトライン</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ja-JP" sz="2000" b="0" u="none" strike="noStrike">
                <a:solidFill>
                  <a:srgbClr val="000000"/>
                </a:solidFill>
                <a:effectLst/>
                <a:uFillTx/>
                <a:latin typeface="Arial"/>
              </a:rPr>
              <a:t>第</a:t>
            </a:r>
            <a:r>
              <a:rPr lang="en-US" sz="2000" b="0" u="none" strike="noStrike">
                <a:solidFill>
                  <a:srgbClr val="000000"/>
                </a:solidFill>
                <a:effectLst/>
                <a:uFillTx/>
                <a:latin typeface="Arial"/>
              </a:rPr>
              <a:t>4</a:t>
            </a:r>
            <a:r>
              <a:rPr lang="ja-JP" sz="2000" b="0" u="none" strike="noStrike">
                <a:solidFill>
                  <a:srgbClr val="000000"/>
                </a:solidFill>
                <a:effectLst/>
                <a:uFillTx/>
                <a:latin typeface="Arial"/>
              </a:rPr>
              <a:t>レベル アウトライン</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ja-JP" sz="2000" b="0" u="none" strike="noStrike">
                <a:solidFill>
                  <a:srgbClr val="000000"/>
                </a:solidFill>
                <a:effectLst/>
                <a:uFillTx/>
                <a:latin typeface="Arial"/>
              </a:rPr>
              <a:t>第</a:t>
            </a:r>
            <a:r>
              <a:rPr lang="en-US" sz="2000" b="0" u="none" strike="noStrike">
                <a:solidFill>
                  <a:srgbClr val="000000"/>
                </a:solidFill>
                <a:effectLst/>
                <a:uFillTx/>
                <a:latin typeface="Arial"/>
              </a:rPr>
              <a:t>5</a:t>
            </a:r>
            <a:r>
              <a:rPr lang="ja-JP" sz="2000" b="0" u="none" strike="noStrike">
                <a:solidFill>
                  <a:srgbClr val="000000"/>
                </a:solidFill>
                <a:effectLst/>
                <a:uFillTx/>
                <a:latin typeface="Arial"/>
              </a:rPr>
              <a:t>レベル アウトライン</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ja-JP" sz="2000" b="0" u="none" strike="noStrike">
                <a:solidFill>
                  <a:srgbClr val="000000"/>
                </a:solidFill>
                <a:effectLst/>
                <a:uFillTx/>
                <a:latin typeface="Arial"/>
              </a:rPr>
              <a:t>第</a:t>
            </a:r>
            <a:r>
              <a:rPr lang="en-US" sz="2000" b="0" u="none" strike="noStrike">
                <a:solidFill>
                  <a:srgbClr val="000000"/>
                </a:solidFill>
                <a:effectLst/>
                <a:uFillTx/>
                <a:latin typeface="Arial"/>
              </a:rPr>
              <a:t>6</a:t>
            </a:r>
            <a:r>
              <a:rPr lang="ja-JP" sz="2000" b="0" u="none" strike="noStrike">
                <a:solidFill>
                  <a:srgbClr val="000000"/>
                </a:solidFill>
                <a:effectLst/>
                <a:uFillTx/>
                <a:latin typeface="Arial"/>
              </a:rPr>
              <a:t>レベル アウトライン</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ja-JP" sz="2000" b="0" u="none" strike="noStrike">
                <a:solidFill>
                  <a:srgbClr val="000000"/>
                </a:solidFill>
                <a:effectLst/>
                <a:uFillTx/>
                <a:latin typeface="Arial"/>
              </a:rPr>
              <a:t>第</a:t>
            </a:r>
            <a:r>
              <a:rPr lang="en-US" sz="2000" b="0" u="none" strike="noStrike">
                <a:solidFill>
                  <a:srgbClr val="000000"/>
                </a:solidFill>
                <a:effectLst/>
                <a:uFillTx/>
                <a:latin typeface="Arial"/>
              </a:rPr>
              <a:t>7</a:t>
            </a:r>
            <a:r>
              <a:rPr lang="ja-JP" sz="2000" b="0" u="none" strike="noStrike">
                <a:solidFill>
                  <a:srgbClr val="000000"/>
                </a:solidFill>
                <a:effectLst/>
                <a:uFillTx/>
                <a:latin typeface="Arial"/>
              </a:rPr>
              <a:t>レベル アウトライン</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9" name=""/>
          <p:cNvSpPr txBox="1"/>
          <p:nvPr/>
        </p:nvSpPr>
        <p:spPr>
          <a:xfrm>
            <a:off x="4926240" y="1876320"/>
            <a:ext cx="2347920" cy="299160"/>
          </a:xfrm>
          <a:prstGeom prst="rect">
            <a:avLst/>
          </a:prstGeom>
          <a:noFill/>
          <a:ln w="0">
            <a:noFill/>
          </a:ln>
        </p:spPr>
        <p:txBody>
          <a:bodyPr wrap="none" lIns="0" tIns="0" rIns="0" bIns="0" anchor="t">
            <a:spAutoFit/>
          </a:bodyPr>
          <a:p>
            <a:pPr/>
            <a:r>
              <a:rPr lang="ja-JP" sz="1950" b="0" u="none" strike="noStrike">
                <a:solidFill>
                  <a:srgbClr val="0B4B78"/>
                </a:solidFill>
                <a:effectLst/>
                <a:uFillTx/>
                <a:latin typeface="NotoSansJP"/>
                <a:ea typeface="NotoSansJP"/>
              </a:rPr>
              <a:t>論文紹介 </a:t>
            </a:r>
            <a:r>
              <a:rPr lang="en-US" sz="1950" b="0" u="none" strike="noStrike">
                <a:solidFill>
                  <a:srgbClr val="0B4B78"/>
                </a:solidFill>
                <a:effectLst/>
                <a:uFillTx/>
                <a:latin typeface="NotoSansJP"/>
                <a:ea typeface="NotoSansJP"/>
              </a:rPr>
              <a:t>2026/06/13</a:t>
            </a:r>
            <a:endParaRPr lang="en-US" sz="1950" b="0" u="none" strike="noStrike">
              <a:solidFill>
                <a:srgbClr val="000000"/>
              </a:solidFill>
              <a:effectLst/>
              <a:uFillTx/>
              <a:latin typeface="Noto Serif JP"/>
            </a:endParaRPr>
          </a:p>
        </p:txBody>
      </p:sp>
      <p:sp>
        <p:nvSpPr>
          <p:cNvPr id="10" name=""/>
          <p:cNvSpPr/>
          <p:nvPr/>
        </p:nvSpPr>
        <p:spPr>
          <a:xfrm>
            <a:off x="0" y="3771720"/>
            <a:ext cx="12192120" cy="3086280"/>
          </a:xfrm>
          <a:custGeom>
            <a:avLst/>
            <a:gdLst/>
            <a:ahLst/>
            <a:rect l="0" t="0" r="r" b="b"/>
            <a:pathLst>
              <a:path w="33867" h="8573">
                <a:moveTo>
                  <a:pt x="0" y="0"/>
                </a:moveTo>
                <a:lnTo>
                  <a:pt x="33867" y="0"/>
                </a:lnTo>
                <a:lnTo>
                  <a:pt x="33867" y="8573"/>
                </a:lnTo>
                <a:lnTo>
                  <a:pt x="0" y="8573"/>
                </a:lnTo>
                <a:lnTo>
                  <a:pt x="0" y="0"/>
                </a:ln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11" name=""/>
          <p:cNvSpPr txBox="1"/>
          <p:nvPr/>
        </p:nvSpPr>
        <p:spPr>
          <a:xfrm>
            <a:off x="3282120" y="2533680"/>
            <a:ext cx="5040000" cy="573480"/>
          </a:xfrm>
          <a:prstGeom prst="rect">
            <a:avLst/>
          </a:prstGeom>
          <a:noFill/>
          <a:ln w="0">
            <a:noFill/>
          </a:ln>
        </p:spPr>
        <p:txBody>
          <a:bodyPr wrap="none" lIns="0" tIns="0" rIns="0" bIns="0" anchor="t">
            <a:spAutoFit/>
          </a:bodyPr>
          <a:p>
            <a:pPr/>
            <a:r>
              <a:rPr lang="en-US" sz="3750" b="1" u="none" strike="noStrike">
                <a:solidFill>
                  <a:srgbClr val="0B4B78"/>
                </a:solidFill>
                <a:effectLst/>
                <a:uFillTx/>
                <a:latin typeface="NotoSansJPThin"/>
                <a:ea typeface="NotoSansJPThin"/>
              </a:rPr>
              <a:t>Attention is all you need</a:t>
            </a:r>
            <a:endParaRPr lang="en-US" sz="3750" b="0" u="none" strike="noStrike">
              <a:solidFill>
                <a:srgbClr val="000000"/>
              </a:solidFill>
              <a:effectLst/>
              <a:uFillTx/>
              <a:latin typeface="Noto Serif JP"/>
            </a:endParaRPr>
          </a:p>
        </p:txBody>
      </p:sp>
      <p:sp>
        <p:nvSpPr>
          <p:cNvPr id="12" name=""/>
          <p:cNvSpPr txBox="1"/>
          <p:nvPr/>
        </p:nvSpPr>
        <p:spPr>
          <a:xfrm>
            <a:off x="5575680" y="4724280"/>
            <a:ext cx="1143720" cy="274680"/>
          </a:xfrm>
          <a:prstGeom prst="rect">
            <a:avLst/>
          </a:prstGeom>
          <a:noFill/>
          <a:ln w="0">
            <a:noFill/>
          </a:ln>
        </p:spPr>
        <p:txBody>
          <a:bodyPr wrap="none" lIns="0" tIns="0" rIns="0" bIns="0" anchor="t">
            <a:spAutoFit/>
          </a:bodyPr>
          <a:p>
            <a:pPr/>
            <a:r>
              <a:rPr lang="ja-JP" sz="1800" b="1" u="none" strike="noStrike">
                <a:solidFill>
                  <a:srgbClr val="FFFFFF"/>
                </a:solidFill>
                <a:effectLst/>
                <a:uFillTx/>
                <a:latin typeface="NotoSansJPThin"/>
                <a:ea typeface="NotoSansJPThin"/>
              </a:rPr>
              <a:t>所属未入力</a:t>
            </a:r>
            <a:endParaRPr lang="en-US" sz="1800" b="0" u="none" strike="noStrike">
              <a:solidFill>
                <a:srgbClr val="000000"/>
              </a:solidFill>
              <a:effectLst/>
              <a:uFillTx/>
              <a:latin typeface="Noto Serif JP"/>
            </a:endParaRPr>
          </a:p>
        </p:txBody>
      </p:sp>
      <p:sp>
        <p:nvSpPr>
          <p:cNvPr id="13" name=""/>
          <p:cNvSpPr txBox="1"/>
          <p:nvPr/>
        </p:nvSpPr>
        <p:spPr>
          <a:xfrm>
            <a:off x="5290200" y="5305320"/>
            <a:ext cx="1719720" cy="344880"/>
          </a:xfrm>
          <a:prstGeom prst="rect">
            <a:avLst/>
          </a:prstGeom>
          <a:noFill/>
          <a:ln w="0">
            <a:noFill/>
          </a:ln>
        </p:spPr>
        <p:txBody>
          <a:bodyPr wrap="none" lIns="0" tIns="0" rIns="0" bIns="0" anchor="t">
            <a:spAutoFit/>
          </a:bodyPr>
          <a:p>
            <a:pPr/>
            <a:r>
              <a:rPr lang="ja-JP" sz="2250" b="1" u="none" strike="noStrike">
                <a:solidFill>
                  <a:srgbClr val="FFFFFF"/>
                </a:solidFill>
                <a:effectLst/>
                <a:uFillTx/>
                <a:latin typeface="NotoSansJPThin"/>
                <a:ea typeface="NotoSansJPThin"/>
              </a:rPr>
              <a:t>発表者未入力</a:t>
            </a:r>
            <a:endParaRPr lang="en-US" sz="2250" b="0" u="none" strike="noStrike">
              <a:solidFill>
                <a:srgbClr val="000000"/>
              </a:solidFill>
              <a:effectLst/>
              <a:uFillTx/>
              <a:latin typeface="Noto Serif JP"/>
            </a:endParaRPr>
          </a:p>
        </p:txBody>
      </p:sp>
      <p:sp>
        <p:nvSpPr>
          <p:cNvPr id="14" name=""/>
          <p:cNvSpPr txBox="1"/>
          <p:nvPr/>
        </p:nvSpPr>
        <p:spPr>
          <a:xfrm>
            <a:off x="11946600" y="6458040"/>
            <a:ext cx="304560" cy="366120"/>
          </a:xfrm>
          <a:prstGeom prst="rect">
            <a:avLst/>
          </a:prstGeom>
          <a:noFill/>
          <a:ln w="0">
            <a:noFill/>
          </a:ln>
        </p:spPr>
        <p:txBody>
          <a:bodyPr wrap="none" lIns="0" tIns="0" rIns="0" bIns="0" anchor="t">
            <a:spAutoFit/>
          </a:bodyPr>
          <a:p>
            <a:pPr/>
            <a:r>
              <a:rPr lang="en-US" sz="2400" b="0" u="none" strike="noStrike">
                <a:solidFill>
                  <a:srgbClr val="111111"/>
                </a:solidFill>
                <a:effectLst/>
                <a:uFillTx/>
                <a:latin typeface="NotoSansJP"/>
                <a:ea typeface="NotoSansJP"/>
              </a:rPr>
              <a:t>1</a:t>
            </a:r>
            <a:endParaRPr lang="en-US" sz="2400" b="0" u="none" strike="noStrike">
              <a:solidFill>
                <a:srgbClr val="000000"/>
              </a:solidFill>
              <a:effectLst/>
              <a:uFillTx/>
              <a:latin typeface="Noto Serif JP"/>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1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1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18" name=""/>
          <p:cNvSpPr txBox="1"/>
          <p:nvPr/>
        </p:nvSpPr>
        <p:spPr>
          <a:xfrm>
            <a:off x="3009960" y="2000160"/>
            <a:ext cx="2134440" cy="366120"/>
          </a:xfrm>
          <a:prstGeom prst="rect">
            <a:avLst/>
          </a:prstGeom>
          <a:noFill/>
          <a:ln w="0">
            <a:noFill/>
          </a:ln>
        </p:spPr>
        <p:txBody>
          <a:bodyPr wrap="none" lIns="0" tIns="0" rIns="0" bIns="0" anchor="t">
            <a:spAutoFit/>
          </a:bodyPr>
          <a:p>
            <a:pPr/>
            <a:r>
              <a:rPr lang="ja-JP" sz="2400" b="1" u="none" strike="noStrike">
                <a:solidFill>
                  <a:srgbClr val="0B4B78"/>
                </a:solidFill>
                <a:effectLst/>
                <a:uFillTx/>
                <a:latin typeface="NotoSansJPThin"/>
                <a:ea typeface="NotoSansJPThin"/>
              </a:rPr>
              <a:t>研究背景と課題</a:t>
            </a:r>
            <a:endParaRPr lang="en-US" sz="2400" b="0" u="none" strike="noStrike">
              <a:solidFill>
                <a:srgbClr val="000000"/>
              </a:solidFill>
              <a:effectLst/>
              <a:uFillTx/>
              <a:latin typeface="Noto Serif JP"/>
            </a:endParaRPr>
          </a:p>
        </p:txBody>
      </p:sp>
      <p:sp>
        <p:nvSpPr>
          <p:cNvPr id="19" name=""/>
          <p:cNvSpPr txBox="1"/>
          <p:nvPr/>
        </p:nvSpPr>
        <p:spPr>
          <a:xfrm>
            <a:off x="3009960" y="2457360"/>
            <a:ext cx="4398480" cy="366120"/>
          </a:xfrm>
          <a:prstGeom prst="rect">
            <a:avLst/>
          </a:prstGeom>
          <a:noFill/>
          <a:ln w="0">
            <a:noFill/>
          </a:ln>
        </p:spPr>
        <p:txBody>
          <a:bodyPr wrap="none" lIns="0" tIns="0" rIns="0" bIns="0" anchor="t">
            <a:spAutoFit/>
          </a:bodyPr>
          <a:p>
            <a:pPr/>
            <a:r>
              <a:rPr lang="ja-JP" sz="2400" b="1" u="none" strike="noStrike">
                <a:solidFill>
                  <a:srgbClr val="0B4B78"/>
                </a:solidFill>
                <a:effectLst/>
                <a:uFillTx/>
                <a:latin typeface="NotoSansJPThin"/>
                <a:ea typeface="NotoSansJPThin"/>
              </a:rPr>
              <a:t>提案手法：</a:t>
            </a:r>
            <a:r>
              <a:rPr lang="en-US" sz="2400" b="1" u="none" strike="noStrike">
                <a:solidFill>
                  <a:srgbClr val="0B4B78"/>
                </a:solidFill>
                <a:effectLst/>
                <a:uFillTx/>
                <a:latin typeface="NotoSansJPThin"/>
                <a:ea typeface="NotoSansJPThin"/>
              </a:rPr>
              <a:t>Transformer</a:t>
            </a:r>
            <a:r>
              <a:rPr lang="ja-JP" sz="2400" b="1" u="none" strike="noStrike">
                <a:solidFill>
                  <a:srgbClr val="0B4B78"/>
                </a:solidFill>
                <a:effectLst/>
                <a:uFillTx/>
                <a:latin typeface="NotoSansJPThin"/>
                <a:ea typeface="NotoSansJPThin"/>
              </a:rPr>
              <a:t>の全体像</a:t>
            </a:r>
            <a:endParaRPr lang="en-US" sz="2400" b="0" u="none" strike="noStrike">
              <a:solidFill>
                <a:srgbClr val="000000"/>
              </a:solidFill>
              <a:effectLst/>
              <a:uFillTx/>
              <a:latin typeface="Noto Serif JP"/>
            </a:endParaRPr>
          </a:p>
        </p:txBody>
      </p:sp>
      <p:sp>
        <p:nvSpPr>
          <p:cNvPr id="20" name=""/>
          <p:cNvSpPr txBox="1"/>
          <p:nvPr/>
        </p:nvSpPr>
        <p:spPr>
          <a:xfrm>
            <a:off x="3009960" y="2914560"/>
            <a:ext cx="2569680" cy="366120"/>
          </a:xfrm>
          <a:prstGeom prst="rect">
            <a:avLst/>
          </a:prstGeom>
          <a:noFill/>
          <a:ln w="0">
            <a:noFill/>
          </a:ln>
        </p:spPr>
        <p:txBody>
          <a:bodyPr wrap="none" lIns="0" tIns="0" rIns="0" bIns="0" anchor="t">
            <a:spAutoFit/>
          </a:bodyPr>
          <a:p>
            <a:pPr/>
            <a:r>
              <a:rPr lang="en-US" sz="2400" b="1" u="none" strike="noStrike">
                <a:solidFill>
                  <a:srgbClr val="0B4B78"/>
                </a:solidFill>
                <a:effectLst/>
                <a:uFillTx/>
                <a:latin typeface="NotoSansJPThin"/>
                <a:ea typeface="NotoSansJPThin"/>
              </a:rPr>
              <a:t>Transformer</a:t>
            </a:r>
            <a:r>
              <a:rPr lang="ja-JP" sz="2400" b="1" u="none" strike="noStrike">
                <a:solidFill>
                  <a:srgbClr val="0B4B78"/>
                </a:solidFill>
                <a:effectLst/>
                <a:uFillTx/>
                <a:latin typeface="NotoSansJPThin"/>
                <a:ea typeface="NotoSansJPThin"/>
              </a:rPr>
              <a:t>の詳細</a:t>
            </a:r>
            <a:endParaRPr lang="en-US" sz="2400" b="0" u="none" strike="noStrike">
              <a:solidFill>
                <a:srgbClr val="000000"/>
              </a:solidFill>
              <a:effectLst/>
              <a:uFillTx/>
              <a:latin typeface="Noto Serif JP"/>
            </a:endParaRPr>
          </a:p>
        </p:txBody>
      </p:sp>
      <p:sp>
        <p:nvSpPr>
          <p:cNvPr id="21" name=""/>
          <p:cNvSpPr txBox="1"/>
          <p:nvPr/>
        </p:nvSpPr>
        <p:spPr>
          <a:xfrm>
            <a:off x="3009960" y="3371760"/>
            <a:ext cx="1220040" cy="366120"/>
          </a:xfrm>
          <a:prstGeom prst="rect">
            <a:avLst/>
          </a:prstGeom>
          <a:noFill/>
          <a:ln w="0">
            <a:noFill/>
          </a:ln>
        </p:spPr>
        <p:txBody>
          <a:bodyPr wrap="none" lIns="0" tIns="0" rIns="0" bIns="0" anchor="t">
            <a:spAutoFit/>
          </a:bodyPr>
          <a:p>
            <a:pPr/>
            <a:r>
              <a:rPr lang="ja-JP" sz="2400" b="1" u="none" strike="noStrike">
                <a:solidFill>
                  <a:srgbClr val="0B4B78"/>
                </a:solidFill>
                <a:effectLst/>
                <a:uFillTx/>
                <a:latin typeface="NotoSansJPThin"/>
                <a:ea typeface="NotoSansJPThin"/>
              </a:rPr>
              <a:t>実験設定</a:t>
            </a:r>
            <a:endParaRPr lang="en-US" sz="2400" b="0" u="none" strike="noStrike">
              <a:solidFill>
                <a:srgbClr val="000000"/>
              </a:solidFill>
              <a:effectLst/>
              <a:uFillTx/>
              <a:latin typeface="Noto Serif JP"/>
            </a:endParaRPr>
          </a:p>
        </p:txBody>
      </p:sp>
      <p:sp>
        <p:nvSpPr>
          <p:cNvPr id="22" name=""/>
          <p:cNvSpPr txBox="1"/>
          <p:nvPr/>
        </p:nvSpPr>
        <p:spPr>
          <a:xfrm>
            <a:off x="3009960" y="3828960"/>
            <a:ext cx="1220040" cy="366120"/>
          </a:xfrm>
          <a:prstGeom prst="rect">
            <a:avLst/>
          </a:prstGeom>
          <a:noFill/>
          <a:ln w="0">
            <a:noFill/>
          </a:ln>
        </p:spPr>
        <p:txBody>
          <a:bodyPr wrap="none" lIns="0" tIns="0" rIns="0" bIns="0" anchor="t">
            <a:spAutoFit/>
          </a:bodyPr>
          <a:p>
            <a:pPr/>
            <a:r>
              <a:rPr lang="ja-JP" sz="2400" b="1" u="none" strike="noStrike">
                <a:solidFill>
                  <a:srgbClr val="0B4B78"/>
                </a:solidFill>
                <a:effectLst/>
                <a:uFillTx/>
                <a:latin typeface="NotoSansJPThin"/>
                <a:ea typeface="NotoSansJPThin"/>
              </a:rPr>
              <a:t>実験結果</a:t>
            </a:r>
            <a:endParaRPr lang="en-US" sz="2400" b="0" u="none" strike="noStrike">
              <a:solidFill>
                <a:srgbClr val="000000"/>
              </a:solidFill>
              <a:effectLst/>
              <a:uFillTx/>
              <a:latin typeface="Noto Serif JP"/>
            </a:endParaRPr>
          </a:p>
        </p:txBody>
      </p:sp>
      <p:sp>
        <p:nvSpPr>
          <p:cNvPr id="23" name=""/>
          <p:cNvSpPr txBox="1"/>
          <p:nvPr/>
        </p:nvSpPr>
        <p:spPr>
          <a:xfrm>
            <a:off x="3009960" y="4286160"/>
            <a:ext cx="915120" cy="366120"/>
          </a:xfrm>
          <a:prstGeom prst="rect">
            <a:avLst/>
          </a:prstGeom>
          <a:noFill/>
          <a:ln w="0">
            <a:noFill/>
          </a:ln>
        </p:spPr>
        <p:txBody>
          <a:bodyPr wrap="none" lIns="0" tIns="0" rIns="0" bIns="0" anchor="t">
            <a:spAutoFit/>
          </a:bodyPr>
          <a:p>
            <a:pPr/>
            <a:r>
              <a:rPr lang="ja-JP" sz="2400" b="1" u="none" strike="noStrike">
                <a:solidFill>
                  <a:srgbClr val="0B4B78"/>
                </a:solidFill>
                <a:effectLst/>
                <a:uFillTx/>
                <a:latin typeface="NotoSansJPThin"/>
                <a:ea typeface="NotoSansJPThin"/>
              </a:rPr>
              <a:t>まとめ</a:t>
            </a:r>
            <a:endParaRPr lang="en-US" sz="2400" b="0" u="none" strike="noStrike">
              <a:solidFill>
                <a:srgbClr val="000000"/>
              </a:solidFill>
              <a:effectLst/>
              <a:uFillTx/>
              <a:latin typeface="Noto Serif JP"/>
            </a:endParaRPr>
          </a:p>
        </p:txBody>
      </p:sp>
      <p:sp>
        <p:nvSpPr>
          <p:cNvPr id="24" name=""/>
          <p:cNvSpPr/>
          <p:nvPr/>
        </p:nvSpPr>
        <p:spPr>
          <a:xfrm>
            <a:off x="209520" y="266400"/>
            <a:ext cx="152640" cy="305280"/>
          </a:xfrm>
          <a:custGeom>
            <a:avLst/>
            <a:gdLst/>
            <a:ahLst/>
            <a:rect l="0" t="0" r="r" b="b"/>
            <a:pathLst>
              <a:path w="424" h="848">
                <a:moveTo>
                  <a:pt x="0" y="0"/>
                </a:moveTo>
                <a:lnTo>
                  <a:pt x="424" y="0"/>
                </a:lnTo>
                <a:lnTo>
                  <a:pt x="424" y="848"/>
                </a:lnTo>
                <a:lnTo>
                  <a:pt x="0" y="848"/>
                </a:lnTo>
                <a:lnTo>
                  <a:pt x="0" y="0"/>
                </a:ln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5" name=""/>
          <p:cNvSpPr/>
          <p:nvPr/>
        </p:nvSpPr>
        <p:spPr>
          <a:xfrm>
            <a:off x="2666880" y="21049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6" name=""/>
          <p:cNvSpPr/>
          <p:nvPr/>
        </p:nvSpPr>
        <p:spPr>
          <a:xfrm>
            <a:off x="2666880" y="25621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7" name=""/>
          <p:cNvSpPr/>
          <p:nvPr/>
        </p:nvSpPr>
        <p:spPr>
          <a:xfrm>
            <a:off x="2666880" y="30193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8" name=""/>
          <p:cNvSpPr/>
          <p:nvPr/>
        </p:nvSpPr>
        <p:spPr>
          <a:xfrm>
            <a:off x="2666880" y="34765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9" name=""/>
          <p:cNvSpPr/>
          <p:nvPr/>
        </p:nvSpPr>
        <p:spPr>
          <a:xfrm>
            <a:off x="2666880" y="39337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0" name=""/>
          <p:cNvSpPr/>
          <p:nvPr/>
        </p:nvSpPr>
        <p:spPr>
          <a:xfrm>
            <a:off x="2666880" y="4390920"/>
            <a:ext cx="171720" cy="171720"/>
          </a:xfrm>
          <a:custGeom>
            <a:avLst/>
            <a:gdLst/>
            <a:ahLst/>
            <a:rect l="0" t="0" r="r" b="b"/>
            <a:pathLst>
              <a:path w="477" h="477">
                <a:moveTo>
                  <a:pt x="0" y="0"/>
                </a:moveTo>
                <a:lnTo>
                  <a:pt x="477" y="0"/>
                </a:lnTo>
                <a:lnTo>
                  <a:pt x="477" y="477"/>
                </a:lnTo>
                <a:lnTo>
                  <a:pt x="0" y="477"/>
                </a:lnTo>
                <a:lnTo>
                  <a:pt x="0" y="0"/>
                </a:ln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1" name=""/>
          <p:cNvSpPr txBox="1"/>
          <p:nvPr/>
        </p:nvSpPr>
        <p:spPr>
          <a:xfrm>
            <a:off x="495360" y="209520"/>
            <a:ext cx="1623960" cy="390600"/>
          </a:xfrm>
          <a:prstGeom prst="rect">
            <a:avLst/>
          </a:prstGeom>
          <a:noFill/>
          <a:ln w="0">
            <a:noFill/>
          </a:ln>
        </p:spPr>
        <p:txBody>
          <a:bodyPr wrap="none" lIns="0" tIns="0" rIns="0" bIns="0" anchor="t">
            <a:spAutoFit/>
          </a:bodyPr>
          <a:p>
            <a:pPr/>
            <a:r>
              <a:rPr lang="ja-JP" sz="2550" b="1" u="none" strike="noStrike">
                <a:solidFill>
                  <a:srgbClr val="111111"/>
                </a:solidFill>
                <a:effectLst/>
                <a:uFillTx/>
                <a:latin typeface="NotoSansJPThin"/>
                <a:ea typeface="NotoSansJPThin"/>
              </a:rPr>
              <a:t>アジェンダ</a:t>
            </a:r>
            <a:endParaRPr lang="en-US" sz="2550" b="0" u="none" strike="noStrike">
              <a:solidFill>
                <a:srgbClr val="000000"/>
              </a:solidFill>
              <a:effectLst/>
              <a:uFillTx/>
              <a:latin typeface="Noto Serif JP"/>
            </a:endParaRPr>
          </a:p>
        </p:txBody>
      </p:sp>
      <p:sp>
        <p:nvSpPr>
          <p:cNvPr id="32" name=""/>
          <p:cNvSpPr txBox="1"/>
          <p:nvPr/>
        </p:nvSpPr>
        <p:spPr>
          <a:xfrm>
            <a:off x="11946600" y="6458040"/>
            <a:ext cx="304560" cy="366120"/>
          </a:xfrm>
          <a:prstGeom prst="rect">
            <a:avLst/>
          </a:prstGeom>
          <a:noFill/>
          <a:ln w="0">
            <a:noFill/>
          </a:ln>
        </p:spPr>
        <p:txBody>
          <a:bodyPr wrap="none" lIns="0" tIns="0" rIns="0" bIns="0" anchor="t">
            <a:spAutoFit/>
          </a:bodyPr>
          <a:p>
            <a:pPr/>
            <a:r>
              <a:rPr lang="en-US" sz="2400" b="0" u="none" strike="noStrike">
                <a:solidFill>
                  <a:srgbClr val="111111"/>
                </a:solidFill>
                <a:effectLst/>
                <a:uFillTx/>
                <a:latin typeface="NotoSansJP"/>
                <a:ea typeface="NotoSansJP"/>
              </a:rPr>
              <a:t>2</a:t>
            </a:r>
            <a:endParaRPr lang="en-US" sz="2400" b="0" u="none" strike="noStrike">
              <a:solidFill>
                <a:srgbClr val="000000"/>
              </a:solidFill>
              <a:effectLst/>
              <a:uFillTx/>
              <a:latin typeface="Noto Serif JP"/>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6"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0"/>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7"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8" name=""/>
          <p:cNvSpPr txBox="1"/>
          <p:nvPr/>
        </p:nvSpPr>
        <p:spPr>
          <a:xfrm>
            <a:off x="533520" y="942840"/>
            <a:ext cx="694224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現在のシーケンス変換モデルは</a:t>
            </a:r>
            <a:r>
              <a:rPr lang="en-US" sz="2170" b="0" u="none" strike="noStrike">
                <a:solidFill>
                  <a:srgbClr val="111111"/>
                </a:solidFill>
                <a:effectLst/>
                <a:uFillTx/>
                <a:latin typeface="NotoSansJP"/>
                <a:ea typeface="NotoSansJP"/>
              </a:rPr>
              <a:t>RNN</a:t>
            </a:r>
            <a:r>
              <a:rPr lang="ja-JP" sz="2170" b="0" u="none" strike="noStrike">
                <a:solidFill>
                  <a:srgbClr val="111111"/>
                </a:solidFill>
                <a:effectLst/>
                <a:uFillTx/>
                <a:latin typeface="NotoSansJP"/>
                <a:ea typeface="NotoSansJP"/>
              </a:rPr>
              <a:t>や</a:t>
            </a:r>
            <a:r>
              <a:rPr lang="en-US" sz="2170" b="0" u="none" strike="noStrike">
                <a:solidFill>
                  <a:srgbClr val="111111"/>
                </a:solidFill>
                <a:effectLst/>
                <a:uFillTx/>
                <a:latin typeface="NotoSansJP"/>
                <a:ea typeface="NotoSansJP"/>
              </a:rPr>
              <a:t>CNN</a:t>
            </a:r>
            <a:r>
              <a:rPr lang="ja-JP" sz="2170" b="0" u="none" strike="noStrike">
                <a:solidFill>
                  <a:srgbClr val="111111"/>
                </a:solidFill>
                <a:effectLst/>
                <a:uFillTx/>
                <a:latin typeface="NotoSansJP"/>
                <a:ea typeface="NotoSansJP"/>
              </a:rPr>
              <a:t>が主流です。</a:t>
            </a:r>
            <a:endParaRPr lang="en-US" sz="2170" b="0" u="none" strike="noStrike">
              <a:solidFill>
                <a:srgbClr val="000000"/>
              </a:solidFill>
              <a:effectLst/>
              <a:uFillTx/>
              <a:latin typeface="Noto Serif JP"/>
            </a:endParaRPr>
          </a:p>
        </p:txBody>
      </p:sp>
      <p:sp>
        <p:nvSpPr>
          <p:cNvPr id="39" name=""/>
          <p:cNvSpPr/>
          <p:nvPr/>
        </p:nvSpPr>
        <p:spPr>
          <a:xfrm>
            <a:off x="1361880" y="1990440"/>
            <a:ext cx="105120" cy="105120"/>
          </a:xfrm>
          <a:custGeom>
            <a:avLst/>
            <a:gdLst/>
            <a:ahLst/>
            <a:rect l="0" t="0" r="r" b="b"/>
            <a:pathLst>
              <a:path w="292" h="292">
                <a:moveTo>
                  <a:pt x="292" y="147"/>
                </a:moveTo>
                <a:cubicBezTo>
                  <a:pt x="292" y="156"/>
                  <a:pt x="291" y="166"/>
                  <a:pt x="289" y="175"/>
                </a:cubicBezTo>
                <a:cubicBezTo>
                  <a:pt x="287" y="185"/>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5"/>
                  <a:pt x="3" y="175"/>
                </a:cubicBezTo>
                <a:cubicBezTo>
                  <a:pt x="1" y="166"/>
                  <a:pt x="0" y="156"/>
                  <a:pt x="0" y="147"/>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40" name=""/>
          <p:cNvSpPr txBox="1"/>
          <p:nvPr/>
        </p:nvSpPr>
        <p:spPr>
          <a:xfrm>
            <a:off x="1085760" y="1457280"/>
            <a:ext cx="1650600" cy="331200"/>
          </a:xfrm>
          <a:prstGeom prst="rect">
            <a:avLst/>
          </a:prstGeom>
          <a:noFill/>
          <a:ln w="0">
            <a:noFill/>
          </a:ln>
        </p:spPr>
        <p:txBody>
          <a:bodyPr wrap="none" lIns="0" tIns="0" rIns="0" bIns="0" anchor="t">
            <a:spAutoFit/>
          </a:bodyPr>
          <a:p>
            <a:pPr/>
            <a:r>
              <a:rPr lang="en-US" sz="2170" b="1" u="none" strike="noStrike">
                <a:solidFill>
                  <a:srgbClr val="111111"/>
                </a:solidFill>
                <a:effectLst/>
                <a:uFillTx/>
                <a:latin typeface="NotoSansJPThin"/>
                <a:ea typeface="NotoSansJPThin"/>
              </a:rPr>
              <a:t>RNN</a:t>
            </a:r>
            <a:r>
              <a:rPr lang="ja-JP" sz="2170" b="1" u="none" strike="noStrike">
                <a:solidFill>
                  <a:srgbClr val="111111"/>
                </a:solidFill>
                <a:effectLst/>
                <a:uFillTx/>
                <a:latin typeface="NotoSansJPThin"/>
                <a:ea typeface="NotoSansJPThin"/>
              </a:rPr>
              <a:t>系モデル</a:t>
            </a:r>
            <a:endParaRPr lang="en-US" sz="2170" b="0" u="none" strike="noStrike">
              <a:solidFill>
                <a:srgbClr val="000000"/>
              </a:solidFill>
              <a:effectLst/>
              <a:uFillTx/>
              <a:latin typeface="Noto Serif JP"/>
            </a:endParaRPr>
          </a:p>
        </p:txBody>
      </p:sp>
      <p:sp>
        <p:nvSpPr>
          <p:cNvPr id="41" name=""/>
          <p:cNvSpPr/>
          <p:nvPr/>
        </p:nvSpPr>
        <p:spPr>
          <a:xfrm>
            <a:off x="1361880" y="247644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7"/>
                  <a:pt x="7" y="98"/>
                  <a:pt x="11" y="89"/>
                </a:cubicBezTo>
                <a:cubicBezTo>
                  <a:pt x="15" y="81"/>
                  <a:pt x="19" y="72"/>
                  <a:pt x="25" y="64"/>
                </a:cubicBezTo>
                <a:cubicBezTo>
                  <a:pt x="30" y="56"/>
                  <a:pt x="36" y="49"/>
                  <a:pt x="43" y="42"/>
                </a:cubicBezTo>
                <a:cubicBezTo>
                  <a:pt x="49" y="36"/>
                  <a:pt x="57" y="29"/>
                  <a:pt x="65" y="24"/>
                </a:cubicBezTo>
                <a:cubicBezTo>
                  <a:pt x="73" y="19"/>
                  <a:pt x="81" y="14"/>
                  <a:pt x="90" y="11"/>
                </a:cubicBezTo>
                <a:cubicBezTo>
                  <a:pt x="99" y="7"/>
                  <a:pt x="108" y="4"/>
                  <a:pt x="117" y="2"/>
                </a:cubicBezTo>
                <a:cubicBezTo>
                  <a:pt x="127" y="1"/>
                  <a:pt x="136" y="0"/>
                  <a:pt x="147" y="0"/>
                </a:cubicBezTo>
                <a:cubicBezTo>
                  <a:pt x="156" y="0"/>
                  <a:pt x="166" y="1"/>
                  <a:pt x="175" y="2"/>
                </a:cubicBezTo>
                <a:cubicBezTo>
                  <a:pt x="184" y="4"/>
                  <a:pt x="193" y="7"/>
                  <a:pt x="202" y="11"/>
                </a:cubicBezTo>
                <a:cubicBezTo>
                  <a:pt x="211" y="14"/>
                  <a:pt x="219" y="19"/>
                  <a:pt x="227" y="24"/>
                </a:cubicBezTo>
                <a:cubicBezTo>
                  <a:pt x="235" y="29"/>
                  <a:pt x="243" y="36"/>
                  <a:pt x="249" y="42"/>
                </a:cubicBezTo>
                <a:cubicBezTo>
                  <a:pt x="256" y="49"/>
                  <a:pt x="262" y="56"/>
                  <a:pt x="268" y="64"/>
                </a:cubicBezTo>
                <a:cubicBezTo>
                  <a:pt x="273" y="72"/>
                  <a:pt x="277" y="81"/>
                  <a:pt x="281" y="89"/>
                </a:cubicBezTo>
                <a:cubicBezTo>
                  <a:pt x="285" y="98"/>
                  <a:pt x="287" y="107"/>
                  <a:pt x="289" y="117"/>
                </a:cubicBezTo>
                <a:cubicBezTo>
                  <a:pt x="291" y="126"/>
                  <a:pt x="292" y="136"/>
                  <a:pt x="292" y="145"/>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42" name=""/>
          <p:cNvSpPr txBox="1"/>
          <p:nvPr/>
        </p:nvSpPr>
        <p:spPr>
          <a:xfrm>
            <a:off x="1638360" y="1866960"/>
            <a:ext cx="795744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長短期記憶 </a:t>
            </a:r>
            <a:r>
              <a:rPr lang="en-US" sz="2170" b="0" u="none" strike="noStrike">
                <a:solidFill>
                  <a:srgbClr val="111111"/>
                </a:solidFill>
                <a:effectLst/>
                <a:uFillTx/>
                <a:latin typeface="NotoSansJP"/>
                <a:ea typeface="NotoSansJP"/>
              </a:rPr>
              <a:t>(LSTM) </a:t>
            </a:r>
            <a:r>
              <a:rPr lang="ja-JP" sz="2170" b="0" u="none" strike="noStrike">
                <a:solidFill>
                  <a:srgbClr val="111111"/>
                </a:solidFill>
                <a:effectLst/>
                <a:uFillTx/>
                <a:latin typeface="NotoSansJP"/>
                <a:ea typeface="NotoSansJP"/>
              </a:rPr>
              <a:t>やゲート付き回帰型ユニット </a:t>
            </a:r>
            <a:r>
              <a:rPr lang="en-US" sz="2170" b="0" u="none" strike="noStrike">
                <a:solidFill>
                  <a:srgbClr val="111111"/>
                </a:solidFill>
                <a:effectLst/>
                <a:uFillTx/>
                <a:latin typeface="NotoSansJP"/>
                <a:ea typeface="NotoSansJP"/>
              </a:rPr>
              <a:t>(GRU) </a:t>
            </a:r>
            <a:r>
              <a:rPr lang="ja-JP" sz="2170" b="0" u="none" strike="noStrike">
                <a:solidFill>
                  <a:srgbClr val="111111"/>
                </a:solidFill>
                <a:effectLst/>
                <a:uFillTx/>
                <a:latin typeface="NotoSansJP"/>
                <a:ea typeface="NotoSansJP"/>
              </a:rPr>
              <a:t>が主流。</a:t>
            </a:r>
            <a:endParaRPr lang="en-US" sz="2170" b="0" u="none" strike="noStrike">
              <a:solidFill>
                <a:srgbClr val="000000"/>
              </a:solidFill>
              <a:effectLst/>
              <a:uFillTx/>
              <a:latin typeface="Noto Serif JP"/>
            </a:endParaRPr>
          </a:p>
        </p:txBody>
      </p:sp>
      <p:sp>
        <p:nvSpPr>
          <p:cNvPr id="43" name=""/>
          <p:cNvSpPr/>
          <p:nvPr/>
        </p:nvSpPr>
        <p:spPr>
          <a:xfrm>
            <a:off x="1361880" y="2962080"/>
            <a:ext cx="105120" cy="105120"/>
          </a:xfrm>
          <a:custGeom>
            <a:avLst/>
            <a:gdLst/>
            <a:ahLst/>
            <a:rect l="0" t="0" r="r" b="b"/>
            <a:pathLst>
              <a:path w="292" h="292">
                <a:moveTo>
                  <a:pt x="292" y="147"/>
                </a:moveTo>
                <a:cubicBezTo>
                  <a:pt x="292" y="156"/>
                  <a:pt x="291" y="166"/>
                  <a:pt x="289" y="175"/>
                </a:cubicBezTo>
                <a:cubicBezTo>
                  <a:pt x="287" y="184"/>
                  <a:pt x="285" y="193"/>
                  <a:pt x="281" y="202"/>
                </a:cubicBezTo>
                <a:cubicBezTo>
                  <a:pt x="277" y="211"/>
                  <a:pt x="273" y="219"/>
                  <a:pt x="268" y="227"/>
                </a:cubicBezTo>
                <a:cubicBezTo>
                  <a:pt x="262" y="235"/>
                  <a:pt x="256" y="243"/>
                  <a:pt x="249" y="249"/>
                </a:cubicBezTo>
                <a:cubicBezTo>
                  <a:pt x="243" y="256"/>
                  <a:pt x="235" y="262"/>
                  <a:pt x="227" y="268"/>
                </a:cubicBezTo>
                <a:cubicBezTo>
                  <a:pt x="219" y="273"/>
                  <a:pt x="211" y="277"/>
                  <a:pt x="202" y="281"/>
                </a:cubicBezTo>
                <a:cubicBezTo>
                  <a:pt x="193" y="285"/>
                  <a:pt x="184" y="287"/>
                  <a:pt x="175" y="289"/>
                </a:cubicBezTo>
                <a:cubicBezTo>
                  <a:pt x="166" y="291"/>
                  <a:pt x="156" y="292"/>
                  <a:pt x="147" y="292"/>
                </a:cubicBezTo>
                <a:cubicBezTo>
                  <a:pt x="136" y="292"/>
                  <a:pt x="127" y="291"/>
                  <a:pt x="117" y="289"/>
                </a:cubicBezTo>
                <a:cubicBezTo>
                  <a:pt x="108" y="287"/>
                  <a:pt x="99" y="285"/>
                  <a:pt x="90" y="281"/>
                </a:cubicBezTo>
                <a:cubicBezTo>
                  <a:pt x="81" y="277"/>
                  <a:pt x="73" y="273"/>
                  <a:pt x="65" y="268"/>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6"/>
                  <a:pt x="0" y="156"/>
                  <a:pt x="0" y="147"/>
                </a:cubicBezTo>
                <a:cubicBezTo>
                  <a:pt x="0" y="137"/>
                  <a:pt x="1" y="128"/>
                  <a:pt x="3" y="118"/>
                </a:cubicBezTo>
                <a:cubicBezTo>
                  <a:pt x="5" y="109"/>
                  <a:pt x="7" y="100"/>
                  <a:pt x="11" y="91"/>
                </a:cubicBezTo>
                <a:cubicBezTo>
                  <a:pt x="15" y="82"/>
                  <a:pt x="19" y="74"/>
                  <a:pt x="25" y="65"/>
                </a:cubicBezTo>
                <a:cubicBezTo>
                  <a:pt x="30" y="57"/>
                  <a:pt x="36" y="49"/>
                  <a:pt x="43" y="43"/>
                </a:cubicBezTo>
                <a:cubicBezTo>
                  <a:pt x="49" y="36"/>
                  <a:pt x="57" y="30"/>
                  <a:pt x="65" y="25"/>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5"/>
                </a:cubicBezTo>
                <a:cubicBezTo>
                  <a:pt x="235" y="30"/>
                  <a:pt x="243" y="36"/>
                  <a:pt x="249" y="43"/>
                </a:cubicBezTo>
                <a:cubicBezTo>
                  <a:pt x="256" y="49"/>
                  <a:pt x="262" y="57"/>
                  <a:pt x="268" y="65"/>
                </a:cubicBezTo>
                <a:cubicBezTo>
                  <a:pt x="273" y="74"/>
                  <a:pt x="277" y="82"/>
                  <a:pt x="281" y="91"/>
                </a:cubicBezTo>
                <a:cubicBezTo>
                  <a:pt x="285" y="100"/>
                  <a:pt x="287" y="109"/>
                  <a:pt x="289" y="118"/>
                </a:cubicBezTo>
                <a:cubicBezTo>
                  <a:pt x="291" y="128"/>
                  <a:pt x="292" y="137"/>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44" name=""/>
          <p:cNvSpPr txBox="1"/>
          <p:nvPr/>
        </p:nvSpPr>
        <p:spPr>
          <a:xfrm>
            <a:off x="1638360" y="2352600"/>
            <a:ext cx="524160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計算が本質的に逐次的で、並列化が困難。</a:t>
            </a:r>
            <a:endParaRPr lang="en-US" sz="2170" b="0" u="none" strike="noStrike">
              <a:solidFill>
                <a:srgbClr val="000000"/>
              </a:solidFill>
              <a:effectLst/>
              <a:uFillTx/>
              <a:latin typeface="Noto Serif JP"/>
            </a:endParaRPr>
          </a:p>
        </p:txBody>
      </p:sp>
      <p:sp>
        <p:nvSpPr>
          <p:cNvPr id="45" name=""/>
          <p:cNvSpPr/>
          <p:nvPr/>
        </p:nvSpPr>
        <p:spPr>
          <a:xfrm>
            <a:off x="809280" y="3447720"/>
            <a:ext cx="105120" cy="105120"/>
          </a:xfrm>
          <a:custGeom>
            <a:avLst/>
            <a:gdLst/>
            <a:ahLst/>
            <a:rect l="0" t="0" r="r" b="b"/>
            <a:pathLst>
              <a:path w="292" h="292">
                <a:moveTo>
                  <a:pt x="292" y="146"/>
                </a:moveTo>
                <a:cubicBezTo>
                  <a:pt x="292" y="155"/>
                  <a:pt x="292" y="165"/>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2"/>
                  <a:pt x="146" y="292"/>
                </a:cubicBezTo>
                <a:cubicBezTo>
                  <a:pt x="136" y="292"/>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5"/>
                  <a:pt x="0" y="155"/>
                  <a:pt x="0" y="146"/>
                </a:cubicBezTo>
                <a:cubicBezTo>
                  <a:pt x="0" y="136"/>
                  <a:pt x="1" y="127"/>
                  <a:pt x="3" y="118"/>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8"/>
                </a:cubicBezTo>
                <a:cubicBezTo>
                  <a:pt x="292" y="127"/>
                  <a:pt x="292" y="136"/>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46" name=""/>
          <p:cNvSpPr txBox="1"/>
          <p:nvPr/>
        </p:nvSpPr>
        <p:spPr>
          <a:xfrm>
            <a:off x="1638360" y="2838600"/>
            <a:ext cx="772452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長いシーケンスでは訓練に時間がかかり、メモリ制約も課題。</a:t>
            </a:r>
            <a:endParaRPr lang="en-US" sz="2170" b="0" u="none" strike="noStrike">
              <a:solidFill>
                <a:srgbClr val="000000"/>
              </a:solidFill>
              <a:effectLst/>
              <a:uFillTx/>
              <a:latin typeface="Noto Serif JP"/>
            </a:endParaRPr>
          </a:p>
        </p:txBody>
      </p:sp>
      <p:sp>
        <p:nvSpPr>
          <p:cNvPr id="47" name=""/>
          <p:cNvSpPr/>
          <p:nvPr/>
        </p:nvSpPr>
        <p:spPr>
          <a:xfrm>
            <a:off x="1361880" y="3857400"/>
            <a:ext cx="105120" cy="105120"/>
          </a:xfrm>
          <a:custGeom>
            <a:avLst/>
            <a:gdLst/>
            <a:ahLst/>
            <a:rect l="0" t="0" r="r" b="b"/>
            <a:pathLst>
              <a:path w="292" h="292">
                <a:moveTo>
                  <a:pt x="292" y="146"/>
                </a:moveTo>
                <a:cubicBezTo>
                  <a:pt x="292" y="155"/>
                  <a:pt x="291" y="165"/>
                  <a:pt x="289" y="174"/>
                </a:cubicBezTo>
                <a:cubicBezTo>
                  <a:pt x="287" y="183"/>
                  <a:pt x="285" y="193"/>
                  <a:pt x="281" y="202"/>
                </a:cubicBezTo>
                <a:cubicBezTo>
                  <a:pt x="277" y="211"/>
                  <a:pt x="273" y="220"/>
                  <a:pt x="268" y="227"/>
                </a:cubicBezTo>
                <a:cubicBezTo>
                  <a:pt x="262" y="235"/>
                  <a:pt x="256" y="243"/>
                  <a:pt x="249" y="250"/>
                </a:cubicBezTo>
                <a:cubicBezTo>
                  <a:pt x="243" y="256"/>
                  <a:pt x="235" y="262"/>
                  <a:pt x="227" y="268"/>
                </a:cubicBezTo>
                <a:cubicBezTo>
                  <a:pt x="219" y="273"/>
                  <a:pt x="211" y="277"/>
                  <a:pt x="202" y="281"/>
                </a:cubicBezTo>
                <a:cubicBezTo>
                  <a:pt x="193" y="285"/>
                  <a:pt x="184" y="288"/>
                  <a:pt x="175" y="289"/>
                </a:cubicBezTo>
                <a:cubicBezTo>
                  <a:pt x="166" y="291"/>
                  <a:pt x="156" y="292"/>
                  <a:pt x="147" y="292"/>
                </a:cubicBezTo>
                <a:cubicBezTo>
                  <a:pt x="136" y="292"/>
                  <a:pt x="127" y="291"/>
                  <a:pt x="117" y="289"/>
                </a:cubicBezTo>
                <a:cubicBezTo>
                  <a:pt x="108" y="288"/>
                  <a:pt x="99" y="285"/>
                  <a:pt x="90" y="281"/>
                </a:cubicBezTo>
                <a:cubicBezTo>
                  <a:pt x="81" y="277"/>
                  <a:pt x="73" y="273"/>
                  <a:pt x="65" y="268"/>
                </a:cubicBezTo>
                <a:cubicBezTo>
                  <a:pt x="57" y="262"/>
                  <a:pt x="49" y="256"/>
                  <a:pt x="43" y="250"/>
                </a:cubicBezTo>
                <a:cubicBezTo>
                  <a:pt x="36" y="243"/>
                  <a:pt x="30" y="235"/>
                  <a:pt x="25" y="227"/>
                </a:cubicBezTo>
                <a:cubicBezTo>
                  <a:pt x="19" y="220"/>
                  <a:pt x="15" y="211"/>
                  <a:pt x="11" y="202"/>
                </a:cubicBezTo>
                <a:cubicBezTo>
                  <a:pt x="7" y="193"/>
                  <a:pt x="5" y="183"/>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19"/>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19"/>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48" name=""/>
          <p:cNvSpPr txBox="1"/>
          <p:nvPr/>
        </p:nvSpPr>
        <p:spPr>
          <a:xfrm>
            <a:off x="1085760" y="3324240"/>
            <a:ext cx="1658880" cy="331200"/>
          </a:xfrm>
          <a:prstGeom prst="rect">
            <a:avLst/>
          </a:prstGeom>
          <a:noFill/>
          <a:ln w="0">
            <a:noFill/>
          </a:ln>
        </p:spPr>
        <p:txBody>
          <a:bodyPr wrap="none" lIns="0" tIns="0" rIns="0" bIns="0" anchor="t">
            <a:spAutoFit/>
          </a:bodyPr>
          <a:p>
            <a:pPr/>
            <a:r>
              <a:rPr lang="en-US" sz="2170" b="1" u="none" strike="noStrike">
                <a:solidFill>
                  <a:srgbClr val="111111"/>
                </a:solidFill>
                <a:effectLst/>
                <a:uFillTx/>
                <a:latin typeface="NotoSansJPThin"/>
                <a:ea typeface="NotoSansJPThin"/>
              </a:rPr>
              <a:t>CNN</a:t>
            </a:r>
            <a:r>
              <a:rPr lang="ja-JP" sz="2170" b="1" u="none" strike="noStrike">
                <a:solidFill>
                  <a:srgbClr val="111111"/>
                </a:solidFill>
                <a:effectLst/>
                <a:uFillTx/>
                <a:latin typeface="NotoSansJPThin"/>
                <a:ea typeface="NotoSansJPThin"/>
              </a:rPr>
              <a:t>系モデル</a:t>
            </a:r>
            <a:endParaRPr lang="en-US" sz="2170" b="0" u="none" strike="noStrike">
              <a:solidFill>
                <a:srgbClr val="000000"/>
              </a:solidFill>
              <a:effectLst/>
              <a:uFillTx/>
              <a:latin typeface="Noto Serif JP"/>
            </a:endParaRPr>
          </a:p>
        </p:txBody>
      </p:sp>
      <p:sp>
        <p:nvSpPr>
          <p:cNvPr id="49" name=""/>
          <p:cNvSpPr/>
          <p:nvPr/>
        </p:nvSpPr>
        <p:spPr>
          <a:xfrm>
            <a:off x="1361880" y="4343040"/>
            <a:ext cx="105120" cy="105480"/>
          </a:xfrm>
          <a:custGeom>
            <a:avLst/>
            <a:gdLst/>
            <a:ahLst/>
            <a:rect l="0" t="0" r="r" b="b"/>
            <a:pathLst>
              <a:path w="292" h="293">
                <a:moveTo>
                  <a:pt x="292" y="147"/>
                </a:moveTo>
                <a:cubicBezTo>
                  <a:pt x="292" y="157"/>
                  <a:pt x="291" y="166"/>
                  <a:pt x="289" y="175"/>
                </a:cubicBezTo>
                <a:cubicBezTo>
                  <a:pt x="287" y="185"/>
                  <a:pt x="285" y="194"/>
                  <a:pt x="281" y="203"/>
                </a:cubicBezTo>
                <a:cubicBezTo>
                  <a:pt x="277" y="212"/>
                  <a:pt x="273" y="220"/>
                  <a:pt x="268" y="228"/>
                </a:cubicBezTo>
                <a:cubicBezTo>
                  <a:pt x="262" y="236"/>
                  <a:pt x="256" y="243"/>
                  <a:pt x="249" y="250"/>
                </a:cubicBezTo>
                <a:cubicBezTo>
                  <a:pt x="243" y="257"/>
                  <a:pt x="235" y="263"/>
                  <a:pt x="227" y="268"/>
                </a:cubicBezTo>
                <a:cubicBezTo>
                  <a:pt x="219" y="273"/>
                  <a:pt x="211" y="278"/>
                  <a:pt x="202" y="281"/>
                </a:cubicBezTo>
                <a:cubicBezTo>
                  <a:pt x="193" y="285"/>
                  <a:pt x="184" y="288"/>
                  <a:pt x="175" y="290"/>
                </a:cubicBezTo>
                <a:cubicBezTo>
                  <a:pt x="166" y="292"/>
                  <a:pt x="156" y="293"/>
                  <a:pt x="147" y="293"/>
                </a:cubicBezTo>
                <a:cubicBezTo>
                  <a:pt x="136" y="293"/>
                  <a:pt x="127" y="292"/>
                  <a:pt x="117" y="290"/>
                </a:cubicBezTo>
                <a:cubicBezTo>
                  <a:pt x="108" y="288"/>
                  <a:pt x="99" y="285"/>
                  <a:pt x="90" y="281"/>
                </a:cubicBezTo>
                <a:cubicBezTo>
                  <a:pt x="81" y="278"/>
                  <a:pt x="73" y="273"/>
                  <a:pt x="65" y="268"/>
                </a:cubicBezTo>
                <a:cubicBezTo>
                  <a:pt x="57" y="263"/>
                  <a:pt x="49" y="257"/>
                  <a:pt x="43" y="250"/>
                </a:cubicBezTo>
                <a:cubicBezTo>
                  <a:pt x="36" y="243"/>
                  <a:pt x="30" y="236"/>
                  <a:pt x="25" y="228"/>
                </a:cubicBezTo>
                <a:cubicBezTo>
                  <a:pt x="19" y="220"/>
                  <a:pt x="15" y="212"/>
                  <a:pt x="11" y="203"/>
                </a:cubicBezTo>
                <a:cubicBezTo>
                  <a:pt x="7" y="194"/>
                  <a:pt x="5" y="185"/>
                  <a:pt x="3" y="175"/>
                </a:cubicBezTo>
                <a:cubicBezTo>
                  <a:pt x="1" y="166"/>
                  <a:pt x="0" y="157"/>
                  <a:pt x="0" y="147"/>
                </a:cubicBezTo>
                <a:cubicBezTo>
                  <a:pt x="0" y="137"/>
                  <a:pt x="1" y="128"/>
                  <a:pt x="3" y="119"/>
                </a:cubicBezTo>
                <a:cubicBezTo>
                  <a:pt x="5" y="109"/>
                  <a:pt x="7" y="100"/>
                  <a:pt x="11" y="91"/>
                </a:cubicBezTo>
                <a:cubicBezTo>
                  <a:pt x="15" y="83"/>
                  <a:pt x="19" y="74"/>
                  <a:pt x="25" y="66"/>
                </a:cubicBezTo>
                <a:cubicBezTo>
                  <a:pt x="30" y="58"/>
                  <a:pt x="36" y="51"/>
                  <a:pt x="43" y="44"/>
                </a:cubicBezTo>
                <a:cubicBezTo>
                  <a:pt x="49" y="37"/>
                  <a:pt x="57" y="31"/>
                  <a:pt x="65" y="26"/>
                </a:cubicBezTo>
                <a:cubicBezTo>
                  <a:pt x="73" y="21"/>
                  <a:pt x="81" y="16"/>
                  <a:pt x="90" y="12"/>
                </a:cubicBezTo>
                <a:cubicBezTo>
                  <a:pt x="99" y="8"/>
                  <a:pt x="108" y="5"/>
                  <a:pt x="117" y="3"/>
                </a:cubicBezTo>
                <a:cubicBezTo>
                  <a:pt x="127" y="1"/>
                  <a:pt x="136" y="0"/>
                  <a:pt x="147" y="0"/>
                </a:cubicBezTo>
                <a:cubicBezTo>
                  <a:pt x="156" y="0"/>
                  <a:pt x="166" y="1"/>
                  <a:pt x="175" y="3"/>
                </a:cubicBezTo>
                <a:cubicBezTo>
                  <a:pt x="184" y="5"/>
                  <a:pt x="193" y="8"/>
                  <a:pt x="202" y="12"/>
                </a:cubicBezTo>
                <a:cubicBezTo>
                  <a:pt x="211" y="16"/>
                  <a:pt x="219" y="21"/>
                  <a:pt x="227" y="26"/>
                </a:cubicBezTo>
                <a:cubicBezTo>
                  <a:pt x="235" y="31"/>
                  <a:pt x="243" y="37"/>
                  <a:pt x="249" y="44"/>
                </a:cubicBezTo>
                <a:cubicBezTo>
                  <a:pt x="256" y="51"/>
                  <a:pt x="262" y="58"/>
                  <a:pt x="268" y="66"/>
                </a:cubicBezTo>
                <a:cubicBezTo>
                  <a:pt x="273" y="74"/>
                  <a:pt x="277" y="83"/>
                  <a:pt x="281" y="91"/>
                </a:cubicBezTo>
                <a:cubicBezTo>
                  <a:pt x="285" y="100"/>
                  <a:pt x="287" y="109"/>
                  <a:pt x="289" y="119"/>
                </a:cubicBezTo>
                <a:cubicBezTo>
                  <a:pt x="291" y="128"/>
                  <a:pt x="292" y="137"/>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50" name=""/>
          <p:cNvSpPr txBox="1"/>
          <p:nvPr/>
        </p:nvSpPr>
        <p:spPr>
          <a:xfrm>
            <a:off x="1638360" y="3733920"/>
            <a:ext cx="548568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ByteNet</a:t>
            </a:r>
            <a:r>
              <a:rPr lang="ja-JP" sz="2170" b="0" u="none" strike="noStrike">
                <a:solidFill>
                  <a:srgbClr val="111111"/>
                </a:solidFill>
                <a:effectLst/>
                <a:uFillTx/>
                <a:latin typeface="NotoSansJP"/>
                <a:ea typeface="NotoSansJP"/>
              </a:rPr>
              <a:t>や</a:t>
            </a:r>
            <a:r>
              <a:rPr lang="en-US" sz="2170" b="0" u="none" strike="noStrike">
                <a:solidFill>
                  <a:srgbClr val="111111"/>
                </a:solidFill>
                <a:effectLst/>
                <a:uFillTx/>
                <a:latin typeface="NotoSansJP"/>
                <a:ea typeface="NotoSansJP"/>
              </a:rPr>
              <a:t>ConvS2S</a:t>
            </a:r>
            <a:r>
              <a:rPr lang="ja-JP" sz="2170" b="0" u="none" strike="noStrike">
                <a:solidFill>
                  <a:srgbClr val="111111"/>
                </a:solidFill>
                <a:effectLst/>
                <a:uFillTx/>
                <a:latin typeface="NotoSansJP"/>
                <a:ea typeface="NotoSansJP"/>
              </a:rPr>
              <a:t>などが提案されている。</a:t>
            </a:r>
            <a:endParaRPr lang="en-US" sz="2170" b="0" u="none" strike="noStrike">
              <a:solidFill>
                <a:srgbClr val="000000"/>
              </a:solidFill>
              <a:effectLst/>
              <a:uFillTx/>
              <a:latin typeface="Noto Serif JP"/>
            </a:endParaRPr>
          </a:p>
        </p:txBody>
      </p:sp>
      <p:sp>
        <p:nvSpPr>
          <p:cNvPr id="51" name=""/>
          <p:cNvSpPr/>
          <p:nvPr/>
        </p:nvSpPr>
        <p:spPr>
          <a:xfrm>
            <a:off x="1361880" y="482904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3"/>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3"/>
                  <a:pt x="30" y="235"/>
                  <a:pt x="25" y="227"/>
                </a:cubicBezTo>
                <a:cubicBezTo>
                  <a:pt x="19" y="219"/>
                  <a:pt x="15" y="211"/>
                  <a:pt x="11" y="202"/>
                </a:cubicBezTo>
                <a:cubicBezTo>
                  <a:pt x="7" y="193"/>
                  <a:pt x="5" y="184"/>
                  <a:pt x="3" y="175"/>
                </a:cubicBezTo>
                <a:cubicBezTo>
                  <a:pt x="1" y="165"/>
                  <a:pt x="0" y="156"/>
                  <a:pt x="0" y="146"/>
                </a:cubicBezTo>
                <a:cubicBezTo>
                  <a:pt x="0" y="137"/>
                  <a:pt x="1" y="127"/>
                  <a:pt x="3" y="117"/>
                </a:cubicBezTo>
                <a:cubicBezTo>
                  <a:pt x="5" y="108"/>
                  <a:pt x="7" y="99"/>
                  <a:pt x="11" y="90"/>
                </a:cubicBezTo>
                <a:cubicBezTo>
                  <a:pt x="15" y="81"/>
                  <a:pt x="19" y="72"/>
                  <a:pt x="25" y="65"/>
                </a:cubicBezTo>
                <a:cubicBezTo>
                  <a:pt x="30" y="57"/>
                  <a:pt x="36" y="49"/>
                  <a:pt x="43" y="42"/>
                </a:cubicBezTo>
                <a:cubicBezTo>
                  <a:pt x="49" y="36"/>
                  <a:pt x="57" y="30"/>
                  <a:pt x="65" y="24"/>
                </a:cubicBezTo>
                <a:cubicBezTo>
                  <a:pt x="73" y="19"/>
                  <a:pt x="81" y="15"/>
                  <a:pt x="90" y="11"/>
                </a:cubicBezTo>
                <a:cubicBezTo>
                  <a:pt x="99" y="7"/>
                  <a:pt x="108" y="5"/>
                  <a:pt x="117" y="3"/>
                </a:cubicBezTo>
                <a:cubicBezTo>
                  <a:pt x="127" y="1"/>
                  <a:pt x="136" y="0"/>
                  <a:pt x="147" y="0"/>
                </a:cubicBezTo>
                <a:cubicBezTo>
                  <a:pt x="156" y="0"/>
                  <a:pt x="166" y="1"/>
                  <a:pt x="175" y="3"/>
                </a:cubicBezTo>
                <a:cubicBezTo>
                  <a:pt x="184" y="5"/>
                  <a:pt x="193" y="7"/>
                  <a:pt x="202" y="11"/>
                </a:cubicBezTo>
                <a:cubicBezTo>
                  <a:pt x="211" y="15"/>
                  <a:pt x="219" y="19"/>
                  <a:pt x="227" y="24"/>
                </a:cubicBezTo>
                <a:cubicBezTo>
                  <a:pt x="235" y="30"/>
                  <a:pt x="243" y="36"/>
                  <a:pt x="249" y="42"/>
                </a:cubicBezTo>
                <a:cubicBezTo>
                  <a:pt x="256" y="49"/>
                  <a:pt x="262" y="57"/>
                  <a:pt x="268" y="65"/>
                </a:cubicBezTo>
                <a:cubicBezTo>
                  <a:pt x="273" y="72"/>
                  <a:pt x="277" y="81"/>
                  <a:pt x="281" y="90"/>
                </a:cubicBezTo>
                <a:cubicBezTo>
                  <a:pt x="285" y="99"/>
                  <a:pt x="287" y="108"/>
                  <a:pt x="289" y="117"/>
                </a:cubicBezTo>
                <a:cubicBezTo>
                  <a:pt x="291" y="127"/>
                  <a:pt x="292" y="137"/>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52" name=""/>
          <p:cNvSpPr txBox="1"/>
          <p:nvPr/>
        </p:nvSpPr>
        <p:spPr>
          <a:xfrm>
            <a:off x="1638360" y="4219560"/>
            <a:ext cx="937944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信号間の関連付けに必要な演算数が距離に対して線形または対数的に増加。</a:t>
            </a:r>
            <a:endParaRPr lang="en-US" sz="2170" b="0" u="none" strike="noStrike">
              <a:solidFill>
                <a:srgbClr val="000000"/>
              </a:solidFill>
              <a:effectLst/>
              <a:uFillTx/>
              <a:latin typeface="Noto Serif JP"/>
            </a:endParaRPr>
          </a:p>
        </p:txBody>
      </p:sp>
      <p:sp>
        <p:nvSpPr>
          <p:cNvPr id="53" name=""/>
          <p:cNvSpPr txBox="1"/>
          <p:nvPr/>
        </p:nvSpPr>
        <p:spPr>
          <a:xfrm>
            <a:off x="1638360" y="4705200"/>
            <a:ext cx="524160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遠い位置間の依存関係学習が困難になる。</a:t>
            </a:r>
            <a:endParaRPr lang="en-US" sz="2170" b="0" u="none" strike="noStrike">
              <a:solidFill>
                <a:srgbClr val="000000"/>
              </a:solidFill>
              <a:effectLst/>
              <a:uFillTx/>
              <a:latin typeface="Noto Serif JP"/>
            </a:endParaRPr>
          </a:p>
        </p:txBody>
      </p:sp>
      <p:sp>
        <p:nvSpPr>
          <p:cNvPr id="54"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55" name=""/>
          <p:cNvSpPr txBox="1"/>
          <p:nvPr/>
        </p:nvSpPr>
        <p:spPr>
          <a:xfrm>
            <a:off x="914400" y="409680"/>
            <a:ext cx="3478320" cy="299160"/>
          </a:xfrm>
          <a:prstGeom prst="rect">
            <a:avLst/>
          </a:prstGeom>
          <a:noFill/>
          <a:ln w="0">
            <a:noFill/>
          </a:ln>
        </p:spPr>
        <p:txBody>
          <a:bodyPr wrap="none" lIns="0" tIns="0" rIns="0" bIns="0" anchor="t">
            <a:spAutoFit/>
          </a:bodyPr>
          <a:p>
            <a:pPr/>
            <a:r>
              <a:rPr lang="ja-JP" sz="1950" b="1" u="none" strike="noStrike">
                <a:solidFill>
                  <a:srgbClr val="111111"/>
                </a:solidFill>
                <a:effectLst/>
                <a:uFillTx/>
                <a:latin typeface="NotoSansJPThin"/>
                <a:ea typeface="NotoSansJPThin"/>
              </a:rPr>
              <a:t>研究背景：従来のモデルと課題</a:t>
            </a:r>
            <a:endParaRPr lang="en-US" sz="1950" b="0" u="none" strike="noStrike">
              <a:solidFill>
                <a:srgbClr val="000000"/>
              </a:solidFill>
              <a:effectLst/>
              <a:uFillTx/>
              <a:latin typeface="Noto Serif JP"/>
            </a:endParaRPr>
          </a:p>
        </p:txBody>
      </p:sp>
      <p:sp>
        <p:nvSpPr>
          <p:cNvPr id="56" name=""/>
          <p:cNvSpPr txBox="1"/>
          <p:nvPr/>
        </p:nvSpPr>
        <p:spPr>
          <a:xfrm>
            <a:off x="11946600" y="6458040"/>
            <a:ext cx="304560" cy="366120"/>
          </a:xfrm>
          <a:prstGeom prst="rect">
            <a:avLst/>
          </a:prstGeom>
          <a:noFill/>
          <a:ln w="0">
            <a:noFill/>
          </a:ln>
        </p:spPr>
        <p:txBody>
          <a:bodyPr wrap="none" lIns="0" tIns="0" rIns="0" bIns="0" anchor="t">
            <a:spAutoFit/>
          </a:bodyPr>
          <a:p>
            <a:pPr/>
            <a:r>
              <a:rPr lang="en-US" sz="2400" b="0" u="none" strike="noStrike">
                <a:solidFill>
                  <a:srgbClr val="111111"/>
                </a:solidFill>
                <a:effectLst/>
                <a:uFillTx/>
                <a:latin typeface="NotoSansJP"/>
                <a:ea typeface="NotoSansJP"/>
              </a:rPr>
              <a:t>3</a:t>
            </a:r>
            <a:endParaRPr lang="en-US" sz="2400" b="0" u="none" strike="noStrike">
              <a:solidFill>
                <a:srgbClr val="000000"/>
              </a:solidFill>
              <a:effectLst/>
              <a:uFillTx/>
              <a:latin typeface="Noto Serif JP"/>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5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5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60"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0"/>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61"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62" name=""/>
          <p:cNvSpPr txBox="1"/>
          <p:nvPr/>
        </p:nvSpPr>
        <p:spPr>
          <a:xfrm>
            <a:off x="533520" y="942840"/>
            <a:ext cx="910368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従来のモデルは、その構造上、逐次計算のボトルネックを抱えています。</a:t>
            </a:r>
            <a:endParaRPr lang="en-US" sz="2170" b="0" u="none" strike="noStrike">
              <a:solidFill>
                <a:srgbClr val="000000"/>
              </a:solidFill>
              <a:effectLst/>
              <a:uFillTx/>
              <a:latin typeface="Noto Serif JP"/>
            </a:endParaRPr>
          </a:p>
        </p:txBody>
      </p:sp>
      <p:sp>
        <p:nvSpPr>
          <p:cNvPr id="63" name=""/>
          <p:cNvSpPr/>
          <p:nvPr/>
        </p:nvSpPr>
        <p:spPr>
          <a:xfrm>
            <a:off x="1361880" y="1990440"/>
            <a:ext cx="105120" cy="105120"/>
          </a:xfrm>
          <a:custGeom>
            <a:avLst/>
            <a:gdLst/>
            <a:ahLst/>
            <a:rect l="0" t="0" r="r" b="b"/>
            <a:pathLst>
              <a:path w="292" h="292">
                <a:moveTo>
                  <a:pt x="292" y="147"/>
                </a:moveTo>
                <a:cubicBezTo>
                  <a:pt x="292" y="156"/>
                  <a:pt x="291" y="166"/>
                  <a:pt x="289" y="175"/>
                </a:cubicBezTo>
                <a:cubicBezTo>
                  <a:pt x="287" y="185"/>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5"/>
                  <a:pt x="3" y="175"/>
                </a:cubicBezTo>
                <a:cubicBezTo>
                  <a:pt x="1" y="166"/>
                  <a:pt x="0" y="156"/>
                  <a:pt x="0" y="147"/>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64" name=""/>
          <p:cNvSpPr txBox="1"/>
          <p:nvPr/>
        </p:nvSpPr>
        <p:spPr>
          <a:xfrm>
            <a:off x="1085760" y="1457280"/>
            <a:ext cx="1374840" cy="331200"/>
          </a:xfrm>
          <a:prstGeom prst="rect">
            <a:avLst/>
          </a:prstGeom>
          <a:noFill/>
          <a:ln w="0">
            <a:noFill/>
          </a:ln>
        </p:spPr>
        <p:txBody>
          <a:bodyPr wrap="none" lIns="0" tIns="0" rIns="0" bIns="0" anchor="t">
            <a:spAutoFit/>
          </a:bodyPr>
          <a:p>
            <a:pPr/>
            <a:r>
              <a:rPr lang="en-US" sz="2170" b="1" u="none" strike="noStrike">
                <a:solidFill>
                  <a:srgbClr val="111111"/>
                </a:solidFill>
                <a:effectLst/>
                <a:uFillTx/>
                <a:latin typeface="NotoSansJPThin"/>
                <a:ea typeface="NotoSansJPThin"/>
              </a:rPr>
              <a:t>RNN</a:t>
            </a:r>
            <a:r>
              <a:rPr lang="ja-JP" sz="2170" b="1" u="none" strike="noStrike">
                <a:solidFill>
                  <a:srgbClr val="111111"/>
                </a:solidFill>
                <a:effectLst/>
                <a:uFillTx/>
                <a:latin typeface="NotoSansJPThin"/>
                <a:ea typeface="NotoSansJPThin"/>
              </a:rPr>
              <a:t>の制約</a:t>
            </a:r>
            <a:endParaRPr lang="en-US" sz="2170" b="0" u="none" strike="noStrike">
              <a:solidFill>
                <a:srgbClr val="000000"/>
              </a:solidFill>
              <a:effectLst/>
              <a:uFillTx/>
              <a:latin typeface="Noto Serif JP"/>
            </a:endParaRPr>
          </a:p>
        </p:txBody>
      </p:sp>
      <p:sp>
        <p:nvSpPr>
          <p:cNvPr id="65" name=""/>
          <p:cNvSpPr/>
          <p:nvPr/>
        </p:nvSpPr>
        <p:spPr>
          <a:xfrm>
            <a:off x="1361880" y="247644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7"/>
                  <a:pt x="7" y="98"/>
                  <a:pt x="11" y="89"/>
                </a:cubicBezTo>
                <a:cubicBezTo>
                  <a:pt x="15" y="81"/>
                  <a:pt x="19" y="72"/>
                  <a:pt x="25" y="64"/>
                </a:cubicBezTo>
                <a:cubicBezTo>
                  <a:pt x="30" y="56"/>
                  <a:pt x="36" y="49"/>
                  <a:pt x="43" y="42"/>
                </a:cubicBezTo>
                <a:cubicBezTo>
                  <a:pt x="49" y="36"/>
                  <a:pt x="57" y="29"/>
                  <a:pt x="65" y="24"/>
                </a:cubicBezTo>
                <a:cubicBezTo>
                  <a:pt x="73" y="19"/>
                  <a:pt x="81" y="14"/>
                  <a:pt x="90" y="11"/>
                </a:cubicBezTo>
                <a:cubicBezTo>
                  <a:pt x="99" y="7"/>
                  <a:pt x="108" y="4"/>
                  <a:pt x="117" y="2"/>
                </a:cubicBezTo>
                <a:cubicBezTo>
                  <a:pt x="127" y="1"/>
                  <a:pt x="136" y="0"/>
                  <a:pt x="147" y="0"/>
                </a:cubicBezTo>
                <a:cubicBezTo>
                  <a:pt x="156" y="0"/>
                  <a:pt x="166" y="1"/>
                  <a:pt x="175" y="2"/>
                </a:cubicBezTo>
                <a:cubicBezTo>
                  <a:pt x="184" y="4"/>
                  <a:pt x="193" y="7"/>
                  <a:pt x="202" y="11"/>
                </a:cubicBezTo>
                <a:cubicBezTo>
                  <a:pt x="211" y="14"/>
                  <a:pt x="219" y="19"/>
                  <a:pt x="227" y="24"/>
                </a:cubicBezTo>
                <a:cubicBezTo>
                  <a:pt x="235" y="29"/>
                  <a:pt x="243" y="36"/>
                  <a:pt x="249" y="42"/>
                </a:cubicBezTo>
                <a:cubicBezTo>
                  <a:pt x="256" y="49"/>
                  <a:pt x="262" y="56"/>
                  <a:pt x="268" y="64"/>
                </a:cubicBezTo>
                <a:cubicBezTo>
                  <a:pt x="273" y="72"/>
                  <a:pt x="277" y="81"/>
                  <a:pt x="281" y="89"/>
                </a:cubicBezTo>
                <a:cubicBezTo>
                  <a:pt x="285" y="98"/>
                  <a:pt x="287" y="107"/>
                  <a:pt x="289" y="117"/>
                </a:cubicBezTo>
                <a:cubicBezTo>
                  <a:pt x="291" y="126"/>
                  <a:pt x="292" y="136"/>
                  <a:pt x="292" y="145"/>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66" name=""/>
          <p:cNvSpPr txBox="1"/>
          <p:nvPr/>
        </p:nvSpPr>
        <p:spPr>
          <a:xfrm>
            <a:off x="1638360" y="1866960"/>
            <a:ext cx="717264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入力‧出力シーケンスの各シンボル位置で計算を因子化。</a:t>
            </a:r>
            <a:endParaRPr lang="en-US" sz="2170" b="0" u="none" strike="noStrike">
              <a:solidFill>
                <a:srgbClr val="000000"/>
              </a:solidFill>
              <a:effectLst/>
              <a:uFillTx/>
              <a:latin typeface="Noto Serif JP"/>
            </a:endParaRPr>
          </a:p>
        </p:txBody>
      </p:sp>
      <p:sp>
        <p:nvSpPr>
          <p:cNvPr id="67" name=""/>
          <p:cNvSpPr txBox="1"/>
          <p:nvPr/>
        </p:nvSpPr>
        <p:spPr>
          <a:xfrm>
            <a:off x="1638360" y="2352600"/>
            <a:ext cx="116604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隠れ状態 </a:t>
            </a:r>
            <a:endParaRPr lang="en-US" sz="2170" b="0" u="none" strike="noStrike">
              <a:solidFill>
                <a:srgbClr val="000000"/>
              </a:solidFill>
              <a:effectLst/>
              <a:uFillTx/>
              <a:latin typeface="Noto Serif JP"/>
            </a:endParaRPr>
          </a:p>
        </p:txBody>
      </p:sp>
      <p:sp>
        <p:nvSpPr>
          <p:cNvPr id="68" name=""/>
          <p:cNvSpPr txBox="1"/>
          <p:nvPr/>
        </p:nvSpPr>
        <p:spPr>
          <a:xfrm>
            <a:off x="3064680" y="2352600"/>
            <a:ext cx="95184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が前の </a:t>
            </a:r>
            <a:endParaRPr lang="en-US" sz="2170" b="0" u="none" strike="noStrike">
              <a:solidFill>
                <a:srgbClr val="000000"/>
              </a:solidFill>
              <a:effectLst/>
              <a:uFillTx/>
              <a:latin typeface="Noto Serif JP"/>
            </a:endParaRPr>
          </a:p>
        </p:txBody>
      </p:sp>
      <p:sp>
        <p:nvSpPr>
          <p:cNvPr id="69" name=""/>
          <p:cNvSpPr/>
          <p:nvPr/>
        </p:nvSpPr>
        <p:spPr>
          <a:xfrm>
            <a:off x="809280" y="2962080"/>
            <a:ext cx="105120" cy="105120"/>
          </a:xfrm>
          <a:custGeom>
            <a:avLst/>
            <a:gdLst/>
            <a:ahLst/>
            <a:rect l="0" t="0" r="r" b="b"/>
            <a:pathLst>
              <a:path w="292" h="292">
                <a:moveTo>
                  <a:pt x="292" y="147"/>
                </a:moveTo>
                <a:cubicBezTo>
                  <a:pt x="292" y="156"/>
                  <a:pt x="292" y="166"/>
                  <a:pt x="290" y="175"/>
                </a:cubicBezTo>
                <a:cubicBezTo>
                  <a:pt x="288" y="184"/>
                  <a:pt x="285" y="193"/>
                  <a:pt x="281" y="202"/>
                </a:cubicBezTo>
                <a:cubicBezTo>
                  <a:pt x="278" y="211"/>
                  <a:pt x="273" y="219"/>
                  <a:pt x="268" y="227"/>
                </a:cubicBezTo>
                <a:cubicBezTo>
                  <a:pt x="263" y="235"/>
                  <a:pt x="257" y="243"/>
                  <a:pt x="250" y="249"/>
                </a:cubicBezTo>
                <a:cubicBezTo>
                  <a:pt x="243" y="256"/>
                  <a:pt x="236" y="262"/>
                  <a:pt x="228" y="268"/>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8"/>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6"/>
                  <a:pt x="0" y="156"/>
                  <a:pt x="0" y="147"/>
                </a:cubicBezTo>
                <a:cubicBezTo>
                  <a:pt x="0" y="137"/>
                  <a:pt x="1" y="128"/>
                  <a:pt x="3" y="118"/>
                </a:cubicBezTo>
                <a:cubicBezTo>
                  <a:pt x="5" y="109"/>
                  <a:pt x="8" y="100"/>
                  <a:pt x="12" y="91"/>
                </a:cubicBezTo>
                <a:cubicBezTo>
                  <a:pt x="15" y="82"/>
                  <a:pt x="20" y="74"/>
                  <a:pt x="25" y="65"/>
                </a:cubicBezTo>
                <a:cubicBezTo>
                  <a:pt x="30" y="57"/>
                  <a:pt x="36" y="49"/>
                  <a:pt x="43" y="43"/>
                </a:cubicBezTo>
                <a:cubicBezTo>
                  <a:pt x="50" y="36"/>
                  <a:pt x="57" y="30"/>
                  <a:pt x="65" y="25"/>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5"/>
                </a:cubicBezTo>
                <a:cubicBezTo>
                  <a:pt x="236" y="30"/>
                  <a:pt x="243" y="36"/>
                  <a:pt x="250" y="43"/>
                </a:cubicBezTo>
                <a:cubicBezTo>
                  <a:pt x="257" y="49"/>
                  <a:pt x="263" y="57"/>
                  <a:pt x="268" y="65"/>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70" name=""/>
          <p:cNvSpPr txBox="1"/>
          <p:nvPr/>
        </p:nvSpPr>
        <p:spPr>
          <a:xfrm>
            <a:off x="4495680" y="2352600"/>
            <a:ext cx="613116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と現在の入力に依存するため、並列化が不可能。</a:t>
            </a:r>
            <a:endParaRPr lang="en-US" sz="2170" b="0" u="none" strike="noStrike">
              <a:solidFill>
                <a:srgbClr val="000000"/>
              </a:solidFill>
              <a:effectLst/>
              <a:uFillTx/>
              <a:latin typeface="Noto Serif JP"/>
            </a:endParaRPr>
          </a:p>
        </p:txBody>
      </p:sp>
      <p:sp>
        <p:nvSpPr>
          <p:cNvPr id="71" name=""/>
          <p:cNvSpPr/>
          <p:nvPr/>
        </p:nvSpPr>
        <p:spPr>
          <a:xfrm>
            <a:off x="1361880" y="337176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2"/>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9"/>
                  <a:pt x="7" y="99"/>
                  <a:pt x="11" y="90"/>
                </a:cubicBezTo>
                <a:cubicBezTo>
                  <a:pt x="15" y="81"/>
                  <a:pt x="19" y="72"/>
                  <a:pt x="25" y="64"/>
                </a:cubicBezTo>
                <a:cubicBezTo>
                  <a:pt x="30" y="56"/>
                  <a:pt x="36" y="49"/>
                  <a:pt x="43" y="42"/>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2"/>
                </a:cubicBezTo>
                <a:cubicBezTo>
                  <a:pt x="256" y="49"/>
                  <a:pt x="262" y="56"/>
                  <a:pt x="268" y="64"/>
                </a:cubicBezTo>
                <a:cubicBezTo>
                  <a:pt x="273" y="72"/>
                  <a:pt x="277" y="81"/>
                  <a:pt x="281" y="90"/>
                </a:cubicBezTo>
                <a:cubicBezTo>
                  <a:pt x="285" y="99"/>
                  <a:pt x="287" y="109"/>
                  <a:pt x="289" y="118"/>
                </a:cubicBezTo>
                <a:cubicBezTo>
                  <a:pt x="291" y="127"/>
                  <a:pt x="292" y="137"/>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72" name=""/>
          <p:cNvSpPr txBox="1"/>
          <p:nvPr/>
        </p:nvSpPr>
        <p:spPr>
          <a:xfrm>
            <a:off x="1085760" y="2838600"/>
            <a:ext cx="2509200" cy="331200"/>
          </a:xfrm>
          <a:prstGeom prst="rect">
            <a:avLst/>
          </a:prstGeom>
          <a:noFill/>
          <a:ln w="0">
            <a:noFill/>
          </a:ln>
        </p:spPr>
        <p:txBody>
          <a:bodyPr wrap="none" lIns="0" tIns="0" rIns="0" bIns="0" anchor="t">
            <a:spAutoFit/>
          </a:bodyPr>
          <a:p>
            <a:pPr/>
            <a:r>
              <a:rPr lang="en-US" sz="2170" b="1" u="none" strike="noStrike">
                <a:solidFill>
                  <a:srgbClr val="111111"/>
                </a:solidFill>
                <a:effectLst/>
                <a:uFillTx/>
                <a:latin typeface="NotoSansJPThin"/>
                <a:ea typeface="NotoSansJPThin"/>
              </a:rPr>
              <a:t>Attention</a:t>
            </a:r>
            <a:r>
              <a:rPr lang="ja-JP" sz="2170" b="1" u="none" strike="noStrike">
                <a:solidFill>
                  <a:srgbClr val="111111"/>
                </a:solidFill>
                <a:effectLst/>
                <a:uFillTx/>
                <a:latin typeface="NotoSansJPThin"/>
                <a:ea typeface="NotoSansJPThin"/>
              </a:rPr>
              <a:t>機構の活用</a:t>
            </a:r>
            <a:endParaRPr lang="en-US" sz="2170" b="0" u="none" strike="noStrike">
              <a:solidFill>
                <a:srgbClr val="000000"/>
              </a:solidFill>
              <a:effectLst/>
              <a:uFillTx/>
              <a:latin typeface="Noto Serif JP"/>
            </a:endParaRPr>
          </a:p>
        </p:txBody>
      </p:sp>
      <p:sp>
        <p:nvSpPr>
          <p:cNvPr id="73" name=""/>
          <p:cNvSpPr/>
          <p:nvPr/>
        </p:nvSpPr>
        <p:spPr>
          <a:xfrm>
            <a:off x="1361880" y="3857400"/>
            <a:ext cx="105120" cy="105120"/>
          </a:xfrm>
          <a:custGeom>
            <a:avLst/>
            <a:gdLst/>
            <a:ahLst/>
            <a:rect l="0" t="0" r="r" b="b"/>
            <a:pathLst>
              <a:path w="292" h="292">
                <a:moveTo>
                  <a:pt x="292" y="146"/>
                </a:moveTo>
                <a:cubicBezTo>
                  <a:pt x="292" y="155"/>
                  <a:pt x="291" y="165"/>
                  <a:pt x="289" y="174"/>
                </a:cubicBezTo>
                <a:cubicBezTo>
                  <a:pt x="287" y="183"/>
                  <a:pt x="285" y="193"/>
                  <a:pt x="281" y="202"/>
                </a:cubicBezTo>
                <a:cubicBezTo>
                  <a:pt x="277" y="211"/>
                  <a:pt x="273" y="220"/>
                  <a:pt x="268" y="227"/>
                </a:cubicBezTo>
                <a:cubicBezTo>
                  <a:pt x="262" y="235"/>
                  <a:pt x="256" y="243"/>
                  <a:pt x="249" y="250"/>
                </a:cubicBezTo>
                <a:cubicBezTo>
                  <a:pt x="243" y="256"/>
                  <a:pt x="235" y="262"/>
                  <a:pt x="227" y="268"/>
                </a:cubicBezTo>
                <a:cubicBezTo>
                  <a:pt x="219" y="273"/>
                  <a:pt x="211" y="277"/>
                  <a:pt x="202" y="281"/>
                </a:cubicBezTo>
                <a:cubicBezTo>
                  <a:pt x="193" y="285"/>
                  <a:pt x="184" y="288"/>
                  <a:pt x="175" y="289"/>
                </a:cubicBezTo>
                <a:cubicBezTo>
                  <a:pt x="166" y="291"/>
                  <a:pt x="156" y="292"/>
                  <a:pt x="147" y="292"/>
                </a:cubicBezTo>
                <a:cubicBezTo>
                  <a:pt x="136" y="292"/>
                  <a:pt x="127" y="291"/>
                  <a:pt x="117" y="289"/>
                </a:cubicBezTo>
                <a:cubicBezTo>
                  <a:pt x="108" y="288"/>
                  <a:pt x="99" y="285"/>
                  <a:pt x="90" y="281"/>
                </a:cubicBezTo>
                <a:cubicBezTo>
                  <a:pt x="81" y="277"/>
                  <a:pt x="73" y="273"/>
                  <a:pt x="65" y="268"/>
                </a:cubicBezTo>
                <a:cubicBezTo>
                  <a:pt x="57" y="262"/>
                  <a:pt x="49" y="256"/>
                  <a:pt x="43" y="250"/>
                </a:cubicBezTo>
                <a:cubicBezTo>
                  <a:pt x="36" y="243"/>
                  <a:pt x="30" y="235"/>
                  <a:pt x="25" y="227"/>
                </a:cubicBezTo>
                <a:cubicBezTo>
                  <a:pt x="19" y="220"/>
                  <a:pt x="15" y="211"/>
                  <a:pt x="11" y="202"/>
                </a:cubicBezTo>
                <a:cubicBezTo>
                  <a:pt x="7" y="193"/>
                  <a:pt x="5" y="183"/>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19"/>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19"/>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74" name=""/>
          <p:cNvSpPr txBox="1"/>
          <p:nvPr/>
        </p:nvSpPr>
        <p:spPr>
          <a:xfrm>
            <a:off x="1638360" y="3247920"/>
            <a:ext cx="672984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Attention</a:t>
            </a:r>
            <a:r>
              <a:rPr lang="ja-JP" sz="2170" b="0" u="none" strike="noStrike">
                <a:solidFill>
                  <a:srgbClr val="111111"/>
                </a:solidFill>
                <a:effectLst/>
                <a:uFillTx/>
                <a:latin typeface="NotoSansJP"/>
                <a:ea typeface="NotoSansJP"/>
              </a:rPr>
              <a:t>は距離に関わらず依存関係をモデル化可能。</a:t>
            </a:r>
            <a:endParaRPr lang="en-US" sz="2170" b="0" u="none" strike="noStrike">
              <a:solidFill>
                <a:srgbClr val="000000"/>
              </a:solidFill>
              <a:effectLst/>
              <a:uFillTx/>
              <a:latin typeface="Noto Serif JP"/>
            </a:endParaRPr>
          </a:p>
        </p:txBody>
      </p:sp>
      <p:sp>
        <p:nvSpPr>
          <p:cNvPr id="75" name=""/>
          <p:cNvSpPr txBox="1"/>
          <p:nvPr/>
        </p:nvSpPr>
        <p:spPr>
          <a:xfrm>
            <a:off x="1638360" y="3733920"/>
            <a:ext cx="997632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しかし、ほとんどの場合</a:t>
            </a:r>
            <a:r>
              <a:rPr lang="en-US" sz="2170" b="0" u="none" strike="noStrike">
                <a:solidFill>
                  <a:srgbClr val="111111"/>
                </a:solidFill>
                <a:effectLst/>
                <a:uFillTx/>
                <a:latin typeface="NotoSansJP"/>
                <a:ea typeface="NotoSansJP"/>
              </a:rPr>
              <a:t>RNN</a:t>
            </a:r>
            <a:r>
              <a:rPr lang="ja-JP" sz="2170" b="0" u="none" strike="noStrike">
                <a:solidFill>
                  <a:srgbClr val="111111"/>
                </a:solidFill>
                <a:effectLst/>
                <a:uFillTx/>
                <a:latin typeface="NotoSansJP"/>
                <a:ea typeface="NotoSansJP"/>
              </a:rPr>
              <a:t>と併用されており、</a:t>
            </a:r>
            <a:r>
              <a:rPr lang="en-US" sz="2170" b="0" u="none" strike="noStrike">
                <a:solidFill>
                  <a:srgbClr val="111111"/>
                </a:solidFill>
                <a:effectLst/>
                <a:uFillTx/>
                <a:latin typeface="NotoSansJP"/>
                <a:ea typeface="NotoSansJP"/>
              </a:rPr>
              <a:t>RNN</a:t>
            </a:r>
            <a:r>
              <a:rPr lang="ja-JP" sz="2170" b="0" u="none" strike="noStrike">
                <a:solidFill>
                  <a:srgbClr val="111111"/>
                </a:solidFill>
                <a:effectLst/>
                <a:uFillTx/>
                <a:latin typeface="NotoSansJP"/>
                <a:ea typeface="NotoSansJP"/>
              </a:rPr>
              <a:t>の逐次計算の制約を完全に</a:t>
            </a:r>
            <a:endParaRPr lang="en-US" sz="2170" b="0" u="none" strike="noStrike">
              <a:solidFill>
                <a:srgbClr val="000000"/>
              </a:solidFill>
              <a:effectLst/>
              <a:uFillTx/>
              <a:latin typeface="Noto Serif JP"/>
            </a:endParaRPr>
          </a:p>
        </p:txBody>
      </p:sp>
      <p:sp>
        <p:nvSpPr>
          <p:cNvPr id="76" name=""/>
          <p:cNvSpPr txBox="1"/>
          <p:nvPr/>
        </p:nvSpPr>
        <p:spPr>
          <a:xfrm>
            <a:off x="1638360" y="4152960"/>
            <a:ext cx="248328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克服できていない。</a:t>
            </a:r>
            <a:endParaRPr lang="en-US" sz="2170" b="0" u="none" strike="noStrike">
              <a:solidFill>
                <a:srgbClr val="000000"/>
              </a:solidFill>
              <a:effectLst/>
              <a:uFillTx/>
              <a:latin typeface="Noto Serif JP"/>
            </a:endParaRPr>
          </a:p>
        </p:txBody>
      </p:sp>
      <p:sp>
        <p:nvSpPr>
          <p:cNvPr id="77"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78" name=""/>
          <p:cNvSpPr txBox="1"/>
          <p:nvPr/>
        </p:nvSpPr>
        <p:spPr>
          <a:xfrm>
            <a:off x="914400" y="409680"/>
            <a:ext cx="3478320" cy="299160"/>
          </a:xfrm>
          <a:prstGeom prst="rect">
            <a:avLst/>
          </a:prstGeom>
          <a:noFill/>
          <a:ln w="0">
            <a:noFill/>
          </a:ln>
        </p:spPr>
        <p:txBody>
          <a:bodyPr wrap="none" lIns="0" tIns="0" rIns="0" bIns="0" anchor="t">
            <a:spAutoFit/>
          </a:bodyPr>
          <a:p>
            <a:pPr/>
            <a:r>
              <a:rPr lang="ja-JP" sz="1950" b="1" u="none" strike="noStrike">
                <a:solidFill>
                  <a:srgbClr val="111111"/>
                </a:solidFill>
                <a:effectLst/>
                <a:uFillTx/>
                <a:latin typeface="NotoSansJPThin"/>
                <a:ea typeface="NotoSansJPThin"/>
              </a:rPr>
              <a:t>課題：逐次計算のボトルネック</a:t>
            </a:r>
            <a:endParaRPr lang="en-US" sz="1950" b="0" u="none" strike="noStrike">
              <a:solidFill>
                <a:srgbClr val="000000"/>
              </a:solidFill>
              <a:effectLst/>
              <a:uFillTx/>
              <a:latin typeface="Noto Serif JP"/>
            </a:endParaRPr>
          </a:p>
        </p:txBody>
      </p:sp>
      <p:sp>
        <p:nvSpPr>
          <p:cNvPr id="79" name=""/>
          <p:cNvSpPr txBox="1"/>
          <p:nvPr/>
        </p:nvSpPr>
        <p:spPr>
          <a:xfrm>
            <a:off x="2805120" y="234720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h</a:t>
            </a:r>
            <a:endParaRPr lang="en-US" sz="2220" b="0" u="none" strike="noStrike">
              <a:solidFill>
                <a:srgbClr val="000000"/>
              </a:solidFill>
              <a:effectLst/>
              <a:uFillTx/>
              <a:latin typeface="Noto Serif JP"/>
            </a:endParaRPr>
          </a:p>
        </p:txBody>
      </p:sp>
      <p:sp>
        <p:nvSpPr>
          <p:cNvPr id="80" name=""/>
          <p:cNvSpPr txBox="1"/>
          <p:nvPr/>
        </p:nvSpPr>
        <p:spPr>
          <a:xfrm>
            <a:off x="2976120" y="246996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t</a:t>
            </a:r>
            <a:endParaRPr lang="en-US" sz="1560" b="0" u="none" strike="noStrike">
              <a:solidFill>
                <a:srgbClr val="000000"/>
              </a:solidFill>
              <a:effectLst/>
              <a:uFillTx/>
              <a:latin typeface="Noto Serif JP"/>
            </a:endParaRPr>
          </a:p>
        </p:txBody>
      </p:sp>
      <p:sp>
        <p:nvSpPr>
          <p:cNvPr id="81" name=""/>
          <p:cNvSpPr txBox="1"/>
          <p:nvPr/>
        </p:nvSpPr>
        <p:spPr>
          <a:xfrm>
            <a:off x="4017240" y="234720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h</a:t>
            </a:r>
            <a:endParaRPr lang="en-US" sz="2220" b="0" u="none" strike="noStrike">
              <a:solidFill>
                <a:srgbClr val="000000"/>
              </a:solidFill>
              <a:effectLst/>
              <a:uFillTx/>
              <a:latin typeface="Noto Serif JP"/>
            </a:endParaRPr>
          </a:p>
        </p:txBody>
      </p:sp>
      <p:sp>
        <p:nvSpPr>
          <p:cNvPr id="82" name=""/>
          <p:cNvSpPr txBox="1"/>
          <p:nvPr/>
        </p:nvSpPr>
        <p:spPr>
          <a:xfrm>
            <a:off x="4188240" y="2469960"/>
            <a:ext cx="29520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t−1</a:t>
            </a:r>
            <a:endParaRPr lang="en-US" sz="1560" b="0" u="none" strike="noStrike">
              <a:solidFill>
                <a:srgbClr val="000000"/>
              </a:solidFill>
              <a:effectLst/>
              <a:uFillTx/>
              <a:latin typeface="Noto Serif JP"/>
            </a:endParaRPr>
          </a:p>
        </p:txBody>
      </p:sp>
      <p:sp>
        <p:nvSpPr>
          <p:cNvPr id="83" name=""/>
          <p:cNvSpPr txBox="1"/>
          <p:nvPr/>
        </p:nvSpPr>
        <p:spPr>
          <a:xfrm>
            <a:off x="11946600" y="6458040"/>
            <a:ext cx="304560" cy="366120"/>
          </a:xfrm>
          <a:prstGeom prst="rect">
            <a:avLst/>
          </a:prstGeom>
          <a:noFill/>
          <a:ln w="0">
            <a:noFill/>
          </a:ln>
        </p:spPr>
        <p:txBody>
          <a:bodyPr wrap="none" lIns="0" tIns="0" rIns="0" bIns="0" anchor="t">
            <a:spAutoFit/>
          </a:bodyPr>
          <a:p>
            <a:pPr/>
            <a:r>
              <a:rPr lang="en-US" sz="2400" b="0" u="none" strike="noStrike">
                <a:solidFill>
                  <a:srgbClr val="111111"/>
                </a:solidFill>
                <a:effectLst/>
                <a:uFillTx/>
                <a:latin typeface="NotoSansJP"/>
                <a:ea typeface="NotoSansJP"/>
              </a:rPr>
              <a:t>4</a:t>
            </a:r>
            <a:endParaRPr lang="en-US" sz="2400" b="0" u="none" strike="noStrike">
              <a:solidFill>
                <a:srgbClr val="000000"/>
              </a:solidFill>
              <a:effectLst/>
              <a:uFillTx/>
              <a:latin typeface="Noto Serif JP"/>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8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8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87"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0"/>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88" name=""/>
          <p:cNvSpPr txBox="1"/>
          <p:nvPr/>
        </p:nvSpPr>
        <p:spPr>
          <a:xfrm>
            <a:off x="533520" y="942840"/>
            <a:ext cx="1086732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本研究では、再帰や畳み込みを完全に排除し、</a:t>
            </a:r>
            <a:r>
              <a:rPr lang="en-US" sz="2170" b="0" u="none" strike="noStrike">
                <a:solidFill>
                  <a:srgbClr val="111111"/>
                </a:solidFill>
                <a:effectLst/>
                <a:uFillTx/>
                <a:latin typeface="NotoSansJP"/>
                <a:ea typeface="NotoSansJP"/>
              </a:rPr>
              <a:t>Attention</a:t>
            </a:r>
            <a:r>
              <a:rPr lang="ja-JP" sz="2170" b="0" u="none" strike="noStrike">
                <a:solidFill>
                  <a:srgbClr val="111111"/>
                </a:solidFill>
                <a:effectLst/>
                <a:uFillTx/>
                <a:latin typeface="NotoSansJP"/>
                <a:ea typeface="NotoSansJP"/>
              </a:rPr>
              <a:t>機構のみに基づく新しいモデル</a:t>
            </a:r>
            <a:endParaRPr lang="en-US" sz="2170" b="0" u="none" strike="noStrike">
              <a:solidFill>
                <a:srgbClr val="000000"/>
              </a:solidFill>
              <a:effectLst/>
              <a:uFillTx/>
              <a:latin typeface="Noto Serif JP"/>
            </a:endParaRPr>
          </a:p>
        </p:txBody>
      </p:sp>
      <p:sp>
        <p:nvSpPr>
          <p:cNvPr id="89" name=""/>
          <p:cNvSpPr/>
          <p:nvPr/>
        </p:nvSpPr>
        <p:spPr>
          <a:xfrm>
            <a:off x="809280" y="199044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7"/>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90" name=""/>
          <p:cNvSpPr txBox="1"/>
          <p:nvPr/>
        </p:nvSpPr>
        <p:spPr>
          <a:xfrm>
            <a:off x="533520" y="1362240"/>
            <a:ext cx="193176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を提案します。</a:t>
            </a:r>
            <a:endParaRPr lang="en-US" sz="2170" b="0" u="none" strike="noStrike">
              <a:solidFill>
                <a:srgbClr val="000000"/>
              </a:solidFill>
              <a:effectLst/>
              <a:uFillTx/>
              <a:latin typeface="Noto Serif JP"/>
            </a:endParaRPr>
          </a:p>
        </p:txBody>
      </p:sp>
      <p:sp>
        <p:nvSpPr>
          <p:cNvPr id="91" name=""/>
          <p:cNvSpPr/>
          <p:nvPr/>
        </p:nvSpPr>
        <p:spPr>
          <a:xfrm>
            <a:off x="1361880" y="2409480"/>
            <a:ext cx="105120" cy="105120"/>
          </a:xfrm>
          <a:custGeom>
            <a:avLst/>
            <a:gdLst/>
            <a:ahLst/>
            <a:rect l="0" t="0" r="r" b="b"/>
            <a:pathLst>
              <a:path w="292" h="292">
                <a:moveTo>
                  <a:pt x="292" y="147"/>
                </a:moveTo>
                <a:cubicBezTo>
                  <a:pt x="292" y="157"/>
                  <a:pt x="291" y="166"/>
                  <a:pt x="289" y="175"/>
                </a:cubicBezTo>
                <a:cubicBezTo>
                  <a:pt x="287" y="185"/>
                  <a:pt x="285" y="194"/>
                  <a:pt x="281" y="203"/>
                </a:cubicBezTo>
                <a:cubicBezTo>
                  <a:pt x="277" y="211"/>
                  <a:pt x="273" y="220"/>
                  <a:pt x="268" y="228"/>
                </a:cubicBezTo>
                <a:cubicBezTo>
                  <a:pt x="262" y="236"/>
                  <a:pt x="256" y="243"/>
                  <a:pt x="249" y="250"/>
                </a:cubicBezTo>
                <a:cubicBezTo>
                  <a:pt x="243" y="257"/>
                  <a:pt x="235" y="263"/>
                  <a:pt x="227" y="268"/>
                </a:cubicBezTo>
                <a:cubicBezTo>
                  <a:pt x="219" y="273"/>
                  <a:pt x="211" y="278"/>
                  <a:pt x="202" y="281"/>
                </a:cubicBezTo>
                <a:cubicBezTo>
                  <a:pt x="193" y="285"/>
                  <a:pt x="184" y="288"/>
                  <a:pt x="175" y="290"/>
                </a:cubicBezTo>
                <a:cubicBezTo>
                  <a:pt x="166" y="292"/>
                  <a:pt x="156" y="292"/>
                  <a:pt x="147" y="292"/>
                </a:cubicBezTo>
                <a:cubicBezTo>
                  <a:pt x="136" y="292"/>
                  <a:pt x="127" y="292"/>
                  <a:pt x="117" y="290"/>
                </a:cubicBezTo>
                <a:cubicBezTo>
                  <a:pt x="108" y="288"/>
                  <a:pt x="99" y="285"/>
                  <a:pt x="90" y="281"/>
                </a:cubicBezTo>
                <a:cubicBezTo>
                  <a:pt x="81" y="278"/>
                  <a:pt x="73" y="273"/>
                  <a:pt x="65" y="268"/>
                </a:cubicBezTo>
                <a:cubicBezTo>
                  <a:pt x="57" y="263"/>
                  <a:pt x="49" y="257"/>
                  <a:pt x="43" y="250"/>
                </a:cubicBezTo>
                <a:cubicBezTo>
                  <a:pt x="36" y="243"/>
                  <a:pt x="30" y="236"/>
                  <a:pt x="25" y="228"/>
                </a:cubicBezTo>
                <a:cubicBezTo>
                  <a:pt x="19" y="220"/>
                  <a:pt x="15" y="211"/>
                  <a:pt x="11" y="203"/>
                </a:cubicBezTo>
                <a:cubicBezTo>
                  <a:pt x="7" y="194"/>
                  <a:pt x="5" y="185"/>
                  <a:pt x="3" y="175"/>
                </a:cubicBezTo>
                <a:cubicBezTo>
                  <a:pt x="1" y="166"/>
                  <a:pt x="0" y="157"/>
                  <a:pt x="0" y="147"/>
                </a:cubicBezTo>
                <a:cubicBezTo>
                  <a:pt x="0" y="136"/>
                  <a:pt x="1" y="127"/>
                  <a:pt x="3" y="118"/>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2"/>
                </a:cubicBezTo>
                <a:cubicBezTo>
                  <a:pt x="99" y="8"/>
                  <a:pt x="108" y="5"/>
                  <a:pt x="117" y="3"/>
                </a:cubicBezTo>
                <a:cubicBezTo>
                  <a:pt x="127" y="1"/>
                  <a:pt x="136" y="0"/>
                  <a:pt x="147" y="0"/>
                </a:cubicBezTo>
                <a:cubicBezTo>
                  <a:pt x="156" y="0"/>
                  <a:pt x="166" y="1"/>
                  <a:pt x="175" y="3"/>
                </a:cubicBezTo>
                <a:cubicBezTo>
                  <a:pt x="184" y="5"/>
                  <a:pt x="193" y="8"/>
                  <a:pt x="202" y="12"/>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8"/>
                </a:cubicBezTo>
                <a:cubicBezTo>
                  <a:pt x="291" y="127"/>
                  <a:pt x="292" y="136"/>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92" name=""/>
          <p:cNvSpPr txBox="1"/>
          <p:nvPr/>
        </p:nvSpPr>
        <p:spPr>
          <a:xfrm>
            <a:off x="1085760" y="1866960"/>
            <a:ext cx="2877120" cy="331200"/>
          </a:xfrm>
          <a:prstGeom prst="rect">
            <a:avLst/>
          </a:prstGeom>
          <a:noFill/>
          <a:ln w="0">
            <a:noFill/>
          </a:ln>
        </p:spPr>
        <p:txBody>
          <a:bodyPr wrap="none" lIns="0" tIns="0" rIns="0" bIns="0" anchor="t">
            <a:spAutoFit/>
          </a:bodyPr>
          <a:p>
            <a:pPr/>
            <a:r>
              <a:rPr lang="en-US" sz="2170" b="1" u="none" strike="noStrike">
                <a:solidFill>
                  <a:srgbClr val="111111"/>
                </a:solidFill>
                <a:effectLst/>
                <a:uFillTx/>
                <a:latin typeface="NotoSansJPThin"/>
                <a:ea typeface="NotoSansJPThin"/>
              </a:rPr>
              <a:t>Transformer</a:t>
            </a:r>
            <a:r>
              <a:rPr lang="ja-JP" sz="2170" b="1" u="none" strike="noStrike">
                <a:solidFill>
                  <a:srgbClr val="111111"/>
                </a:solidFill>
                <a:effectLst/>
                <a:uFillTx/>
                <a:latin typeface="NotoSansJPThin"/>
                <a:ea typeface="NotoSansJPThin"/>
              </a:rPr>
              <a:t>の主な特徴</a:t>
            </a:r>
            <a:endParaRPr lang="en-US" sz="2170" b="0" u="none" strike="noStrike">
              <a:solidFill>
                <a:srgbClr val="000000"/>
              </a:solidFill>
              <a:effectLst/>
              <a:uFillTx/>
              <a:latin typeface="Noto Serif JP"/>
            </a:endParaRPr>
          </a:p>
        </p:txBody>
      </p:sp>
      <p:sp>
        <p:nvSpPr>
          <p:cNvPr id="93" name=""/>
          <p:cNvSpPr/>
          <p:nvPr/>
        </p:nvSpPr>
        <p:spPr>
          <a:xfrm>
            <a:off x="1361880" y="289548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8"/>
                  <a:pt x="7" y="98"/>
                  <a:pt x="11" y="90"/>
                </a:cubicBezTo>
                <a:cubicBezTo>
                  <a:pt x="15" y="81"/>
                  <a:pt x="19" y="72"/>
                  <a:pt x="25" y="65"/>
                </a:cubicBezTo>
                <a:cubicBezTo>
                  <a:pt x="30" y="57"/>
                  <a:pt x="36" y="49"/>
                  <a:pt x="43" y="42"/>
                </a:cubicBezTo>
                <a:cubicBezTo>
                  <a:pt x="49" y="36"/>
                  <a:pt x="57" y="30"/>
                  <a:pt x="65" y="24"/>
                </a:cubicBezTo>
                <a:cubicBezTo>
                  <a:pt x="73" y="19"/>
                  <a:pt x="81" y="15"/>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5"/>
                  <a:pt x="219" y="19"/>
                  <a:pt x="227" y="24"/>
                </a:cubicBezTo>
                <a:cubicBezTo>
                  <a:pt x="235" y="30"/>
                  <a:pt x="243" y="36"/>
                  <a:pt x="249" y="42"/>
                </a:cubicBezTo>
                <a:cubicBezTo>
                  <a:pt x="256" y="49"/>
                  <a:pt x="262" y="57"/>
                  <a:pt x="268" y="65"/>
                </a:cubicBezTo>
                <a:cubicBezTo>
                  <a:pt x="273" y="72"/>
                  <a:pt x="277" y="81"/>
                  <a:pt x="281" y="90"/>
                </a:cubicBezTo>
                <a:cubicBezTo>
                  <a:pt x="285" y="98"/>
                  <a:pt x="287" y="108"/>
                  <a:pt x="289" y="117"/>
                </a:cubicBezTo>
                <a:cubicBezTo>
                  <a:pt x="291" y="126"/>
                  <a:pt x="292" y="136"/>
                  <a:pt x="292" y="145"/>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94" name=""/>
          <p:cNvSpPr txBox="1"/>
          <p:nvPr/>
        </p:nvSpPr>
        <p:spPr>
          <a:xfrm>
            <a:off x="1638360" y="2286000"/>
            <a:ext cx="645372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Attention</a:t>
            </a:r>
            <a:r>
              <a:rPr lang="ja-JP" sz="2170" b="0" u="none" strike="noStrike">
                <a:solidFill>
                  <a:srgbClr val="111111"/>
                </a:solidFill>
                <a:effectLst/>
                <a:uFillTx/>
                <a:latin typeface="NotoSansJP"/>
                <a:ea typeface="NotoSansJP"/>
              </a:rPr>
              <a:t>機構のみでグローバルな依存関係を捕捉。</a:t>
            </a:r>
            <a:endParaRPr lang="en-US" sz="2170" b="0" u="none" strike="noStrike">
              <a:solidFill>
                <a:srgbClr val="000000"/>
              </a:solidFill>
              <a:effectLst/>
              <a:uFillTx/>
              <a:latin typeface="Noto Serif JP"/>
            </a:endParaRPr>
          </a:p>
        </p:txBody>
      </p:sp>
      <p:sp>
        <p:nvSpPr>
          <p:cNvPr id="95" name=""/>
          <p:cNvSpPr/>
          <p:nvPr/>
        </p:nvSpPr>
        <p:spPr>
          <a:xfrm>
            <a:off x="1361880" y="337176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2"/>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9"/>
                  <a:pt x="7" y="99"/>
                  <a:pt x="11" y="90"/>
                </a:cubicBezTo>
                <a:cubicBezTo>
                  <a:pt x="15" y="81"/>
                  <a:pt x="19" y="72"/>
                  <a:pt x="25" y="64"/>
                </a:cubicBezTo>
                <a:cubicBezTo>
                  <a:pt x="30" y="56"/>
                  <a:pt x="36" y="49"/>
                  <a:pt x="43" y="42"/>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2"/>
                </a:cubicBezTo>
                <a:cubicBezTo>
                  <a:pt x="256" y="49"/>
                  <a:pt x="262" y="56"/>
                  <a:pt x="268" y="64"/>
                </a:cubicBezTo>
                <a:cubicBezTo>
                  <a:pt x="273" y="72"/>
                  <a:pt x="277" y="81"/>
                  <a:pt x="281" y="90"/>
                </a:cubicBezTo>
                <a:cubicBezTo>
                  <a:pt x="285" y="99"/>
                  <a:pt x="287" y="109"/>
                  <a:pt x="289" y="118"/>
                </a:cubicBezTo>
                <a:cubicBezTo>
                  <a:pt x="291" y="127"/>
                  <a:pt x="292" y="137"/>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96" name=""/>
          <p:cNvSpPr txBox="1"/>
          <p:nvPr/>
        </p:nvSpPr>
        <p:spPr>
          <a:xfrm>
            <a:off x="1638360" y="2771640"/>
            <a:ext cx="579348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大幅な並列化が可能になり、訓練時間を短縮。</a:t>
            </a:r>
            <a:endParaRPr lang="en-US" sz="2170" b="0" u="none" strike="noStrike">
              <a:solidFill>
                <a:srgbClr val="000000"/>
              </a:solidFill>
              <a:effectLst/>
              <a:uFillTx/>
              <a:latin typeface="Noto Serif JP"/>
            </a:endParaRPr>
          </a:p>
        </p:txBody>
      </p:sp>
      <p:sp>
        <p:nvSpPr>
          <p:cNvPr id="97" name=""/>
          <p:cNvSpPr/>
          <p:nvPr/>
        </p:nvSpPr>
        <p:spPr>
          <a:xfrm>
            <a:off x="809280" y="3857400"/>
            <a:ext cx="105120" cy="105120"/>
          </a:xfrm>
          <a:custGeom>
            <a:avLst/>
            <a:gdLst/>
            <a:ahLst/>
            <a:rect l="0" t="0" r="r" b="b"/>
            <a:pathLst>
              <a:path w="292" h="292">
                <a:moveTo>
                  <a:pt x="292" y="146"/>
                </a:moveTo>
                <a:cubicBezTo>
                  <a:pt x="292" y="155"/>
                  <a:pt x="292" y="165"/>
                  <a:pt x="290" y="174"/>
                </a:cubicBezTo>
                <a:cubicBezTo>
                  <a:pt x="288" y="183"/>
                  <a:pt x="285" y="193"/>
                  <a:pt x="281" y="202"/>
                </a:cubicBezTo>
                <a:cubicBezTo>
                  <a:pt x="278" y="211"/>
                  <a:pt x="273" y="220"/>
                  <a:pt x="268" y="227"/>
                </a:cubicBezTo>
                <a:cubicBezTo>
                  <a:pt x="263" y="235"/>
                  <a:pt x="257" y="243"/>
                  <a:pt x="250" y="250"/>
                </a:cubicBezTo>
                <a:cubicBezTo>
                  <a:pt x="243" y="256"/>
                  <a:pt x="236" y="262"/>
                  <a:pt x="228" y="268"/>
                </a:cubicBezTo>
                <a:cubicBezTo>
                  <a:pt x="219" y="273"/>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3"/>
                  <a:pt x="65" y="268"/>
                </a:cubicBezTo>
                <a:cubicBezTo>
                  <a:pt x="57" y="262"/>
                  <a:pt x="50" y="256"/>
                  <a:pt x="43" y="250"/>
                </a:cubicBezTo>
                <a:cubicBezTo>
                  <a:pt x="36" y="243"/>
                  <a:pt x="30" y="235"/>
                  <a:pt x="25" y="227"/>
                </a:cubicBezTo>
                <a:cubicBezTo>
                  <a:pt x="20" y="220"/>
                  <a:pt x="15" y="211"/>
                  <a:pt x="12" y="202"/>
                </a:cubicBezTo>
                <a:cubicBezTo>
                  <a:pt x="8" y="193"/>
                  <a:pt x="5" y="183"/>
                  <a:pt x="3" y="174"/>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98" name=""/>
          <p:cNvSpPr txBox="1"/>
          <p:nvPr/>
        </p:nvSpPr>
        <p:spPr>
          <a:xfrm>
            <a:off x="1638360" y="3247920"/>
            <a:ext cx="524160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既存のモデルよりも高い翻訳品質を実現。</a:t>
            </a:r>
            <a:endParaRPr lang="en-US" sz="2170" b="0" u="none" strike="noStrike">
              <a:solidFill>
                <a:srgbClr val="000000"/>
              </a:solidFill>
              <a:effectLst/>
              <a:uFillTx/>
              <a:latin typeface="Noto Serif JP"/>
            </a:endParaRPr>
          </a:p>
        </p:txBody>
      </p:sp>
      <p:sp>
        <p:nvSpPr>
          <p:cNvPr id="99" name=""/>
          <p:cNvSpPr/>
          <p:nvPr/>
        </p:nvSpPr>
        <p:spPr>
          <a:xfrm>
            <a:off x="1361880" y="4276440"/>
            <a:ext cx="105120" cy="105120"/>
          </a:xfrm>
          <a:custGeom>
            <a:avLst/>
            <a:gdLst/>
            <a:ahLst/>
            <a:rect l="0" t="0" r="r" b="b"/>
            <a:pathLst>
              <a:path w="292" h="292">
                <a:moveTo>
                  <a:pt x="292" y="146"/>
                </a:moveTo>
                <a:cubicBezTo>
                  <a:pt x="292" y="155"/>
                  <a:pt x="291" y="165"/>
                  <a:pt x="289" y="174"/>
                </a:cubicBezTo>
                <a:cubicBezTo>
                  <a:pt x="287" y="184"/>
                  <a:pt x="285" y="193"/>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3"/>
                  <a:pt x="5" y="184"/>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100" name=""/>
          <p:cNvSpPr txBox="1"/>
          <p:nvPr/>
        </p:nvSpPr>
        <p:spPr>
          <a:xfrm>
            <a:off x="1085760" y="3733920"/>
            <a:ext cx="1104120" cy="331200"/>
          </a:xfrm>
          <a:prstGeom prst="rect">
            <a:avLst/>
          </a:prstGeom>
          <a:noFill/>
          <a:ln w="0">
            <a:noFill/>
          </a:ln>
        </p:spPr>
        <p:txBody>
          <a:bodyPr wrap="none" lIns="0" tIns="0" rIns="0" bIns="0" anchor="t">
            <a:spAutoFit/>
          </a:bodyPr>
          <a:p>
            <a:pPr/>
            <a:r>
              <a:rPr lang="ja-JP" sz="2170" b="1" u="none" strike="noStrike">
                <a:solidFill>
                  <a:srgbClr val="111111"/>
                </a:solidFill>
                <a:effectLst/>
                <a:uFillTx/>
                <a:latin typeface="NotoSansJPThin"/>
                <a:ea typeface="NotoSansJPThin"/>
              </a:rPr>
              <a:t>基本構造</a:t>
            </a:r>
            <a:endParaRPr lang="en-US" sz="2170" b="0" u="none" strike="noStrike">
              <a:solidFill>
                <a:srgbClr val="000000"/>
              </a:solidFill>
              <a:effectLst/>
              <a:uFillTx/>
              <a:latin typeface="Noto Serif JP"/>
            </a:endParaRPr>
          </a:p>
        </p:txBody>
      </p:sp>
      <p:sp>
        <p:nvSpPr>
          <p:cNvPr id="101" name=""/>
          <p:cNvSpPr/>
          <p:nvPr/>
        </p:nvSpPr>
        <p:spPr>
          <a:xfrm>
            <a:off x="1361880" y="4752720"/>
            <a:ext cx="105120" cy="105120"/>
          </a:xfrm>
          <a:custGeom>
            <a:avLst/>
            <a:gdLst/>
            <a:ahLst/>
            <a:rect l="0" t="0" r="r" b="b"/>
            <a:pathLst>
              <a:path w="292" h="292">
                <a:moveTo>
                  <a:pt x="292" y="147"/>
                </a:moveTo>
                <a:cubicBezTo>
                  <a:pt x="292" y="156"/>
                  <a:pt x="291" y="166"/>
                  <a:pt x="289" y="175"/>
                </a:cubicBezTo>
                <a:cubicBezTo>
                  <a:pt x="287" y="184"/>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89"/>
                </a:cubicBezTo>
                <a:cubicBezTo>
                  <a:pt x="166" y="291"/>
                  <a:pt x="156" y="292"/>
                  <a:pt x="147" y="292"/>
                </a:cubicBezTo>
                <a:cubicBezTo>
                  <a:pt x="136" y="292"/>
                  <a:pt x="127" y="291"/>
                  <a:pt x="117" y="289"/>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4"/>
                  <a:pt x="3" y="175"/>
                </a:cubicBezTo>
                <a:cubicBezTo>
                  <a:pt x="1" y="166"/>
                  <a:pt x="0" y="156"/>
                  <a:pt x="0" y="147"/>
                </a:cubicBezTo>
                <a:cubicBezTo>
                  <a:pt x="0" y="137"/>
                  <a:pt x="1" y="128"/>
                  <a:pt x="3" y="118"/>
                </a:cubicBezTo>
                <a:cubicBezTo>
                  <a:pt x="5" y="109"/>
                  <a:pt x="7" y="100"/>
                  <a:pt x="11" y="91"/>
                </a:cubicBezTo>
                <a:cubicBezTo>
                  <a:pt x="15" y="82"/>
                  <a:pt x="19" y="74"/>
                  <a:pt x="25" y="66"/>
                </a:cubicBezTo>
                <a:cubicBezTo>
                  <a:pt x="30" y="58"/>
                  <a:pt x="36" y="51"/>
                  <a:pt x="43" y="44"/>
                </a:cubicBezTo>
                <a:cubicBezTo>
                  <a:pt x="49" y="36"/>
                  <a:pt x="57" y="30"/>
                  <a:pt x="65" y="25"/>
                </a:cubicBezTo>
                <a:cubicBezTo>
                  <a:pt x="73" y="19"/>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19"/>
                  <a:pt x="227" y="25"/>
                </a:cubicBezTo>
                <a:cubicBezTo>
                  <a:pt x="235" y="30"/>
                  <a:pt x="243" y="36"/>
                  <a:pt x="249" y="44"/>
                </a:cubicBezTo>
                <a:cubicBezTo>
                  <a:pt x="256" y="51"/>
                  <a:pt x="262" y="58"/>
                  <a:pt x="268" y="66"/>
                </a:cubicBezTo>
                <a:cubicBezTo>
                  <a:pt x="273" y="74"/>
                  <a:pt x="277" y="82"/>
                  <a:pt x="281" y="91"/>
                </a:cubicBezTo>
                <a:cubicBezTo>
                  <a:pt x="285" y="100"/>
                  <a:pt x="287" y="109"/>
                  <a:pt x="289" y="118"/>
                </a:cubicBezTo>
                <a:cubicBezTo>
                  <a:pt x="291" y="128"/>
                  <a:pt x="292" y="137"/>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102" name=""/>
          <p:cNvSpPr txBox="1"/>
          <p:nvPr/>
        </p:nvSpPr>
        <p:spPr>
          <a:xfrm>
            <a:off x="1638360" y="4152960"/>
            <a:ext cx="528156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Encoder-Decoder</a:t>
            </a:r>
            <a:r>
              <a:rPr lang="ja-JP" sz="2170" b="0" u="none" strike="noStrike">
                <a:solidFill>
                  <a:srgbClr val="111111"/>
                </a:solidFill>
                <a:effectLst/>
                <a:uFillTx/>
                <a:latin typeface="NotoSansJP"/>
                <a:ea typeface="NotoSansJP"/>
              </a:rPr>
              <a:t>アーキテクチャを採用。</a:t>
            </a:r>
            <a:endParaRPr lang="en-US" sz="2170" b="0" u="none" strike="noStrike">
              <a:solidFill>
                <a:srgbClr val="000000"/>
              </a:solidFill>
              <a:effectLst/>
              <a:uFillTx/>
              <a:latin typeface="Noto Serif JP"/>
            </a:endParaRPr>
          </a:p>
        </p:txBody>
      </p:sp>
      <p:pic>
        <p:nvPicPr>
          <p:cNvPr id="103" name=""/>
          <p:cNvPicPr/>
          <p:nvPr/>
        </p:nvPicPr>
        <p:blipFill>
          <a:blip r:embed="rId1"/>
          <a:stretch/>
        </p:blipFill>
        <p:spPr>
          <a:xfrm>
            <a:off x="1638360" y="5000760"/>
            <a:ext cx="7810200" cy="11505960"/>
          </a:xfrm>
          <a:prstGeom prst="rect">
            <a:avLst/>
          </a:prstGeom>
          <a:noFill/>
          <a:ln w="0">
            <a:noFill/>
          </a:ln>
        </p:spPr>
      </p:pic>
      <p:sp>
        <p:nvSpPr>
          <p:cNvPr id="104" name=""/>
          <p:cNvSpPr txBox="1"/>
          <p:nvPr/>
        </p:nvSpPr>
        <p:spPr>
          <a:xfrm>
            <a:off x="1638360" y="4629240"/>
            <a:ext cx="806004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Stacked Self-Attention</a:t>
            </a:r>
            <a:r>
              <a:rPr lang="ja-JP" sz="2170" b="0" u="none" strike="noStrike">
                <a:solidFill>
                  <a:srgbClr val="111111"/>
                </a:solidFill>
                <a:effectLst/>
                <a:uFillTx/>
                <a:latin typeface="NotoSansJP"/>
                <a:ea typeface="NotoSansJP"/>
              </a:rPr>
              <a:t>と</a:t>
            </a:r>
            <a:r>
              <a:rPr lang="en-US" sz="2170" b="0" u="none" strike="noStrike">
                <a:solidFill>
                  <a:srgbClr val="111111"/>
                </a:solidFill>
                <a:effectLst/>
                <a:uFillTx/>
                <a:latin typeface="NotoSansJP"/>
                <a:ea typeface="NotoSansJP"/>
              </a:rPr>
              <a:t>Point-wise Fully Connected</a:t>
            </a:r>
            <a:r>
              <a:rPr lang="ja-JP" sz="2170" b="0" u="none" strike="noStrike">
                <a:solidFill>
                  <a:srgbClr val="111111"/>
                </a:solidFill>
                <a:effectLst/>
                <a:uFillTx/>
                <a:latin typeface="NotoSansJP"/>
                <a:ea typeface="NotoSansJP"/>
              </a:rPr>
              <a:t>層で構成。</a:t>
            </a:r>
            <a:endParaRPr lang="en-US" sz="2170" b="0" u="none" strike="noStrike">
              <a:solidFill>
                <a:srgbClr val="000000"/>
              </a:solidFill>
              <a:effectLst/>
              <a:uFillTx/>
              <a:latin typeface="Noto Serif JP"/>
            </a:endParaRPr>
          </a:p>
        </p:txBody>
      </p:sp>
      <p:sp>
        <p:nvSpPr>
          <p:cNvPr id="105"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106" name=""/>
          <p:cNvSpPr txBox="1"/>
          <p:nvPr/>
        </p:nvSpPr>
        <p:spPr>
          <a:xfrm>
            <a:off x="914400" y="409680"/>
            <a:ext cx="3584880" cy="299160"/>
          </a:xfrm>
          <a:prstGeom prst="rect">
            <a:avLst/>
          </a:prstGeom>
          <a:noFill/>
          <a:ln w="0">
            <a:noFill/>
          </a:ln>
        </p:spPr>
        <p:txBody>
          <a:bodyPr wrap="none" lIns="0" tIns="0" rIns="0" bIns="0" anchor="t">
            <a:spAutoFit/>
          </a:bodyPr>
          <a:p>
            <a:pPr/>
            <a:r>
              <a:rPr lang="ja-JP" sz="1950" b="1" u="none" strike="noStrike">
                <a:solidFill>
                  <a:srgbClr val="111111"/>
                </a:solidFill>
                <a:effectLst/>
                <a:uFillTx/>
                <a:latin typeface="NotoSansJPThin"/>
                <a:ea typeface="NotoSansJPThin"/>
              </a:rPr>
              <a:t>提案手法：</a:t>
            </a:r>
            <a:r>
              <a:rPr lang="en-US" sz="1950" b="1" u="none" strike="noStrike">
                <a:solidFill>
                  <a:srgbClr val="111111"/>
                </a:solidFill>
                <a:effectLst/>
                <a:uFillTx/>
                <a:latin typeface="NotoSansJPThin"/>
                <a:ea typeface="NotoSansJPThin"/>
              </a:rPr>
              <a:t>Transformer</a:t>
            </a:r>
            <a:r>
              <a:rPr lang="ja-JP" sz="1950" b="1" u="none" strike="noStrike">
                <a:solidFill>
                  <a:srgbClr val="111111"/>
                </a:solidFill>
                <a:effectLst/>
                <a:uFillTx/>
                <a:latin typeface="NotoSansJPThin"/>
                <a:ea typeface="NotoSansJPThin"/>
              </a:rPr>
              <a:t>の全体像</a:t>
            </a:r>
            <a:endParaRPr lang="en-US" sz="1950" b="0" u="none" strike="noStrike">
              <a:solidFill>
                <a:srgbClr val="000000"/>
              </a:solidFill>
              <a:effectLst/>
              <a:uFillTx/>
              <a:latin typeface="Noto Serif JP"/>
            </a:endParaRPr>
          </a:p>
        </p:txBody>
      </p:sp>
      <p:sp>
        <p:nvSpPr>
          <p:cNvPr id="107" name=""/>
          <p:cNvSpPr txBox="1"/>
          <p:nvPr/>
        </p:nvSpPr>
        <p:spPr>
          <a:xfrm>
            <a:off x="11946600" y="6458040"/>
            <a:ext cx="304560" cy="366120"/>
          </a:xfrm>
          <a:prstGeom prst="rect">
            <a:avLst/>
          </a:prstGeom>
          <a:noFill/>
          <a:ln w="0">
            <a:noFill/>
          </a:ln>
        </p:spPr>
        <p:txBody>
          <a:bodyPr wrap="none" lIns="0" tIns="0" rIns="0" bIns="0" anchor="t">
            <a:spAutoFit/>
          </a:bodyPr>
          <a:p>
            <a:pPr/>
            <a:r>
              <a:rPr lang="en-US" sz="2400" b="0" u="none" strike="noStrike">
                <a:solidFill>
                  <a:srgbClr val="111111"/>
                </a:solidFill>
                <a:effectLst/>
                <a:uFillTx/>
                <a:latin typeface="NotoSansJP"/>
                <a:ea typeface="NotoSansJP"/>
              </a:rPr>
              <a:t>5</a:t>
            </a:r>
            <a:endParaRPr lang="en-US" sz="2400" b="0" u="none" strike="noStrike">
              <a:solidFill>
                <a:srgbClr val="000000"/>
              </a:solidFill>
              <a:effectLst/>
              <a:uFillTx/>
              <a:latin typeface="Noto Serif JP"/>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10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11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111"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0"/>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112" name=""/>
          <p:cNvSpPr txBox="1"/>
          <p:nvPr/>
        </p:nvSpPr>
        <p:spPr>
          <a:xfrm>
            <a:off x="533520" y="942840"/>
            <a:ext cx="386856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Encoder</a:t>
            </a:r>
            <a:r>
              <a:rPr lang="ja-JP" sz="2170" b="0" u="none" strike="noStrike">
                <a:solidFill>
                  <a:srgbClr val="111111"/>
                </a:solidFill>
                <a:effectLst/>
                <a:uFillTx/>
                <a:latin typeface="NotoSansJP"/>
                <a:ea typeface="NotoSansJP"/>
              </a:rPr>
              <a:t>と</a:t>
            </a:r>
            <a:r>
              <a:rPr lang="en-US" sz="2170" b="0" u="none" strike="noStrike">
                <a:solidFill>
                  <a:srgbClr val="111111"/>
                </a:solidFill>
                <a:effectLst/>
                <a:uFillTx/>
                <a:latin typeface="NotoSansJP"/>
                <a:ea typeface="NotoSansJP"/>
              </a:rPr>
              <a:t>Decoder</a:t>
            </a:r>
            <a:r>
              <a:rPr lang="ja-JP" sz="2170" b="0" u="none" strike="noStrike">
                <a:solidFill>
                  <a:srgbClr val="111111"/>
                </a:solidFill>
                <a:effectLst/>
                <a:uFillTx/>
                <a:latin typeface="NotoSansJP"/>
                <a:ea typeface="NotoSansJP"/>
              </a:rPr>
              <a:t>はそれぞれ </a:t>
            </a:r>
            <a:endParaRPr lang="en-US" sz="2170" b="0" u="none" strike="noStrike">
              <a:solidFill>
                <a:srgbClr val="000000"/>
              </a:solidFill>
              <a:effectLst/>
              <a:uFillTx/>
              <a:latin typeface="Noto Serif JP"/>
            </a:endParaRPr>
          </a:p>
        </p:txBody>
      </p:sp>
      <p:sp>
        <p:nvSpPr>
          <p:cNvPr id="113" name=""/>
          <p:cNvSpPr txBox="1"/>
          <p:nvPr/>
        </p:nvSpPr>
        <p:spPr>
          <a:xfrm>
            <a:off x="5095440" y="942840"/>
            <a:ext cx="447588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個の同一層を積み重ねた構造です。</a:t>
            </a:r>
            <a:endParaRPr lang="en-US" sz="2170" b="0" u="none" strike="noStrike">
              <a:solidFill>
                <a:srgbClr val="000000"/>
              </a:solidFill>
              <a:effectLst/>
              <a:uFillTx/>
              <a:latin typeface="Noto Serif JP"/>
            </a:endParaRPr>
          </a:p>
        </p:txBody>
      </p:sp>
      <p:sp>
        <p:nvSpPr>
          <p:cNvPr id="114" name=""/>
          <p:cNvSpPr txBox="1"/>
          <p:nvPr/>
        </p:nvSpPr>
        <p:spPr>
          <a:xfrm>
            <a:off x="533520" y="1457280"/>
            <a:ext cx="494532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Encoder - **</a:t>
            </a:r>
            <a:r>
              <a:rPr lang="ja-JP" sz="2170" b="0" u="none" strike="noStrike">
                <a:solidFill>
                  <a:srgbClr val="111111"/>
                </a:solidFill>
                <a:effectLst/>
                <a:uFillTx/>
                <a:latin typeface="NotoSansJP"/>
                <a:ea typeface="NotoSansJP"/>
              </a:rPr>
              <a:t>各層のサブ層</a:t>
            </a:r>
            <a:r>
              <a:rPr lang="en-US" sz="2170" b="0" u="none" strike="noStrike">
                <a:solidFill>
                  <a:srgbClr val="111111"/>
                </a:solidFill>
                <a:effectLst/>
                <a:uFillTx/>
                <a:latin typeface="NotoSansJP"/>
                <a:ea typeface="NotoSansJP"/>
              </a:rPr>
              <a:t>** - Multi-</a:t>
            </a:r>
            <a:endParaRPr lang="en-US" sz="2170" b="0" u="none" strike="noStrike">
              <a:solidFill>
                <a:srgbClr val="000000"/>
              </a:solidFill>
              <a:effectLst/>
              <a:uFillTx/>
              <a:latin typeface="Noto Serif JP"/>
            </a:endParaRPr>
          </a:p>
        </p:txBody>
      </p:sp>
      <p:sp>
        <p:nvSpPr>
          <p:cNvPr id="115" name=""/>
          <p:cNvSpPr txBox="1"/>
          <p:nvPr/>
        </p:nvSpPr>
        <p:spPr>
          <a:xfrm>
            <a:off x="533520" y="1866960"/>
            <a:ext cx="523728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Head Self-Attention</a:t>
            </a:r>
            <a:r>
              <a:rPr lang="ja-JP" sz="2170" b="0" u="none" strike="noStrike">
                <a:solidFill>
                  <a:srgbClr val="111111"/>
                </a:solidFill>
                <a:effectLst/>
                <a:uFillTx/>
                <a:latin typeface="NotoSansJP"/>
                <a:ea typeface="NotoSansJP"/>
              </a:rPr>
              <a:t>機構。 </a:t>
            </a:r>
            <a:r>
              <a:rPr lang="en-US" sz="2170" b="0" u="none" strike="noStrike">
                <a:solidFill>
                  <a:srgbClr val="111111"/>
                </a:solidFill>
                <a:effectLst/>
                <a:uFillTx/>
                <a:latin typeface="NotoSansJP"/>
                <a:ea typeface="NotoSansJP"/>
              </a:rPr>
              <a:t>- </a:t>
            </a:r>
            <a:r>
              <a:rPr lang="ja-JP" sz="2170" b="0" u="none" strike="noStrike">
                <a:solidFill>
                  <a:srgbClr val="111111"/>
                </a:solidFill>
                <a:effectLst/>
                <a:uFillTx/>
                <a:latin typeface="NotoSansJP"/>
                <a:ea typeface="NotoSansJP"/>
              </a:rPr>
              <a:t>位置ごとの完</a:t>
            </a:r>
            <a:endParaRPr lang="en-US" sz="2170" b="0" u="none" strike="noStrike">
              <a:solidFill>
                <a:srgbClr val="000000"/>
              </a:solidFill>
              <a:effectLst/>
              <a:uFillTx/>
              <a:latin typeface="Noto Serif JP"/>
            </a:endParaRPr>
          </a:p>
        </p:txBody>
      </p:sp>
      <p:sp>
        <p:nvSpPr>
          <p:cNvPr id="116" name=""/>
          <p:cNvSpPr txBox="1"/>
          <p:nvPr/>
        </p:nvSpPr>
        <p:spPr>
          <a:xfrm>
            <a:off x="533520" y="2286000"/>
            <a:ext cx="539928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全結合フィードフォワードネットワーク。 </a:t>
            </a:r>
            <a:r>
              <a:rPr lang="en-US" sz="2170" b="0" u="none" strike="noStrike">
                <a:solidFill>
                  <a:srgbClr val="111111"/>
                </a:solidFill>
                <a:effectLst/>
                <a:uFillTx/>
                <a:latin typeface="NotoSansJP"/>
                <a:ea typeface="NotoSansJP"/>
              </a:rPr>
              <a:t>-</a:t>
            </a:r>
            <a:endParaRPr lang="en-US" sz="2170" b="0" u="none" strike="noStrike">
              <a:solidFill>
                <a:srgbClr val="000000"/>
              </a:solidFill>
              <a:effectLst/>
              <a:uFillTx/>
              <a:latin typeface="Noto Serif JP"/>
            </a:endParaRPr>
          </a:p>
        </p:txBody>
      </p:sp>
      <p:sp>
        <p:nvSpPr>
          <p:cNvPr id="117" name=""/>
          <p:cNvSpPr txBox="1"/>
          <p:nvPr/>
        </p:nvSpPr>
        <p:spPr>
          <a:xfrm>
            <a:off x="533520" y="2695680"/>
            <a:ext cx="514908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a:t>
            </a:r>
            <a:r>
              <a:rPr lang="ja-JP" sz="2170" b="0" u="none" strike="noStrike">
                <a:solidFill>
                  <a:srgbClr val="111111"/>
                </a:solidFill>
                <a:effectLst/>
                <a:uFillTx/>
                <a:latin typeface="NotoSansJP"/>
                <a:ea typeface="NotoSansJP"/>
              </a:rPr>
              <a:t>その他</a:t>
            </a:r>
            <a:r>
              <a:rPr lang="en-US" sz="2170" b="0" u="none" strike="noStrike">
                <a:solidFill>
                  <a:srgbClr val="111111"/>
                </a:solidFill>
                <a:effectLst/>
                <a:uFillTx/>
                <a:latin typeface="NotoSansJP"/>
                <a:ea typeface="NotoSansJP"/>
              </a:rPr>
              <a:t>** - </a:t>
            </a:r>
            <a:r>
              <a:rPr lang="ja-JP" sz="2170" b="0" u="none" strike="noStrike">
                <a:solidFill>
                  <a:srgbClr val="111111"/>
                </a:solidFill>
                <a:effectLst/>
                <a:uFillTx/>
                <a:latin typeface="NotoSansJP"/>
                <a:ea typeface="NotoSansJP"/>
              </a:rPr>
              <a:t>各サブ層の周りに残差接続と</a:t>
            </a:r>
            <a:endParaRPr lang="en-US" sz="2170" b="0" u="none" strike="noStrike">
              <a:solidFill>
                <a:srgbClr val="000000"/>
              </a:solidFill>
              <a:effectLst/>
              <a:uFillTx/>
              <a:latin typeface="Noto Serif JP"/>
            </a:endParaRPr>
          </a:p>
        </p:txBody>
      </p:sp>
      <p:sp>
        <p:nvSpPr>
          <p:cNvPr id="118" name=""/>
          <p:cNvSpPr txBox="1"/>
          <p:nvPr/>
        </p:nvSpPr>
        <p:spPr>
          <a:xfrm>
            <a:off x="533520" y="3114720"/>
            <a:ext cx="551988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層正規化（</a:t>
            </a:r>
            <a:r>
              <a:rPr lang="en-US" sz="2170" b="0" u="none" strike="noStrike">
                <a:solidFill>
                  <a:srgbClr val="111111"/>
                </a:solidFill>
                <a:effectLst/>
                <a:uFillTx/>
                <a:latin typeface="NotoSansJP"/>
                <a:ea typeface="NotoSansJP"/>
              </a:rPr>
              <a:t>LayerNorm</a:t>
            </a:r>
            <a:r>
              <a:rPr lang="ja-JP" sz="2170" b="0" u="none" strike="noStrike">
                <a:solidFill>
                  <a:srgbClr val="111111"/>
                </a:solidFill>
                <a:effectLst/>
                <a:uFillTx/>
                <a:latin typeface="NotoSansJP"/>
                <a:ea typeface="NotoSansJP"/>
              </a:rPr>
              <a:t>）。 </a:t>
            </a:r>
            <a:r>
              <a:rPr lang="en-US" sz="2170" b="0" u="none" strike="noStrike">
                <a:solidFill>
                  <a:srgbClr val="111111"/>
                </a:solidFill>
                <a:effectLst/>
                <a:uFillTx/>
                <a:latin typeface="NotoSansJP"/>
                <a:ea typeface="NotoSansJP"/>
              </a:rPr>
              <a:t>- </a:t>
            </a:r>
            <a:r>
              <a:rPr lang="ja-JP" sz="2170" b="0" u="none" strike="noStrike">
                <a:solidFill>
                  <a:srgbClr val="111111"/>
                </a:solidFill>
                <a:effectLst/>
                <a:uFillTx/>
                <a:latin typeface="NotoSansJP"/>
                <a:ea typeface="NotoSansJP"/>
              </a:rPr>
              <a:t>全サブ層の出力</a:t>
            </a:r>
            <a:endParaRPr lang="en-US" sz="2170" b="0" u="none" strike="noStrike">
              <a:solidFill>
                <a:srgbClr val="000000"/>
              </a:solidFill>
              <a:effectLst/>
              <a:uFillTx/>
              <a:latin typeface="Noto Serif JP"/>
            </a:endParaRPr>
          </a:p>
        </p:txBody>
      </p:sp>
      <p:sp>
        <p:nvSpPr>
          <p:cNvPr id="119" name=""/>
          <p:cNvSpPr txBox="1"/>
          <p:nvPr/>
        </p:nvSpPr>
        <p:spPr>
          <a:xfrm>
            <a:off x="533520" y="3524400"/>
            <a:ext cx="348300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は </a:t>
            </a:r>
            <a:r>
              <a:rPr lang="en-US" sz="2170" b="0" u="none" strike="noStrike">
                <a:solidFill>
                  <a:srgbClr val="111111"/>
                </a:solidFill>
                <a:effectLst/>
                <a:uFillTx/>
                <a:latin typeface="NotoSansJP"/>
                <a:ea typeface="NotoSansJP"/>
              </a:rPr>
              <a:t>$d_{model}=512$ </a:t>
            </a:r>
            <a:r>
              <a:rPr lang="ja-JP" sz="2170" b="0" u="none" strike="noStrike">
                <a:solidFill>
                  <a:srgbClr val="111111"/>
                </a:solidFill>
                <a:effectLst/>
                <a:uFillTx/>
                <a:latin typeface="NotoSansJP"/>
                <a:ea typeface="NotoSansJP"/>
              </a:rPr>
              <a:t>次元。</a:t>
            </a:r>
            <a:endParaRPr lang="en-US" sz="2170" b="0" u="none" strike="noStrike">
              <a:solidFill>
                <a:srgbClr val="000000"/>
              </a:solidFill>
              <a:effectLst/>
              <a:uFillTx/>
              <a:latin typeface="Noto Serif JP"/>
            </a:endParaRPr>
          </a:p>
        </p:txBody>
      </p:sp>
      <p:sp>
        <p:nvSpPr>
          <p:cNvPr id="120" name=""/>
          <p:cNvSpPr txBox="1"/>
          <p:nvPr/>
        </p:nvSpPr>
        <p:spPr>
          <a:xfrm>
            <a:off x="6229440" y="1457280"/>
            <a:ext cx="531540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Decoder - **</a:t>
            </a:r>
            <a:r>
              <a:rPr lang="ja-JP" sz="2170" b="0" u="none" strike="noStrike">
                <a:solidFill>
                  <a:srgbClr val="111111"/>
                </a:solidFill>
                <a:effectLst/>
                <a:uFillTx/>
                <a:latin typeface="NotoSansJP"/>
                <a:ea typeface="NotoSansJP"/>
              </a:rPr>
              <a:t>各層のサブ層</a:t>
            </a:r>
            <a:r>
              <a:rPr lang="en-US" sz="2170" b="0" u="none" strike="noStrike">
                <a:solidFill>
                  <a:srgbClr val="111111"/>
                </a:solidFill>
                <a:effectLst/>
                <a:uFillTx/>
                <a:latin typeface="NotoSansJP"/>
                <a:ea typeface="NotoSansJP"/>
              </a:rPr>
              <a:t>** - </a:t>
            </a:r>
            <a:r>
              <a:rPr lang="ja-JP" sz="2170" b="0" u="none" strike="noStrike">
                <a:solidFill>
                  <a:srgbClr val="111111"/>
                </a:solidFill>
                <a:effectLst/>
                <a:uFillTx/>
                <a:latin typeface="NotoSansJP"/>
                <a:ea typeface="NotoSansJP"/>
              </a:rPr>
              <a:t>マスク付</a:t>
            </a:r>
            <a:endParaRPr lang="en-US" sz="2170" b="0" u="none" strike="noStrike">
              <a:solidFill>
                <a:srgbClr val="000000"/>
              </a:solidFill>
              <a:effectLst/>
              <a:uFillTx/>
              <a:latin typeface="Noto Serif JP"/>
            </a:endParaRPr>
          </a:p>
        </p:txBody>
      </p:sp>
      <p:sp>
        <p:nvSpPr>
          <p:cNvPr id="121" name=""/>
          <p:cNvSpPr txBox="1"/>
          <p:nvPr/>
        </p:nvSpPr>
        <p:spPr>
          <a:xfrm>
            <a:off x="6229440" y="1866960"/>
            <a:ext cx="521136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き</a:t>
            </a:r>
            <a:r>
              <a:rPr lang="en-US" sz="2170" b="0" u="none" strike="noStrike">
                <a:solidFill>
                  <a:srgbClr val="111111"/>
                </a:solidFill>
                <a:effectLst/>
                <a:uFillTx/>
                <a:latin typeface="NotoSansJP"/>
                <a:ea typeface="NotoSansJP"/>
              </a:rPr>
              <a:t>Multi-Head Self-Attention</a:t>
            </a:r>
            <a:r>
              <a:rPr lang="ja-JP" sz="2170" b="0" u="none" strike="noStrike">
                <a:solidFill>
                  <a:srgbClr val="111111"/>
                </a:solidFill>
                <a:effectLst/>
                <a:uFillTx/>
                <a:latin typeface="NotoSansJP"/>
                <a:ea typeface="NotoSansJP"/>
              </a:rPr>
              <a:t>機構（左方向</a:t>
            </a:r>
            <a:endParaRPr lang="en-US" sz="2170" b="0" u="none" strike="noStrike">
              <a:solidFill>
                <a:srgbClr val="000000"/>
              </a:solidFill>
              <a:effectLst/>
              <a:uFillTx/>
              <a:latin typeface="Noto Serif JP"/>
            </a:endParaRPr>
          </a:p>
        </p:txBody>
      </p:sp>
      <p:sp>
        <p:nvSpPr>
          <p:cNvPr id="122" name=""/>
          <p:cNvSpPr txBox="1"/>
          <p:nvPr/>
        </p:nvSpPr>
        <p:spPr>
          <a:xfrm>
            <a:off x="6229440" y="2286000"/>
            <a:ext cx="542700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への情報フローを防止）。 </a:t>
            </a:r>
            <a:r>
              <a:rPr lang="en-US" sz="2170" b="0" u="none" strike="noStrike">
                <a:solidFill>
                  <a:srgbClr val="111111"/>
                </a:solidFill>
                <a:effectLst/>
                <a:uFillTx/>
                <a:latin typeface="NotoSansJP"/>
                <a:ea typeface="NotoSansJP"/>
              </a:rPr>
              <a:t>- Encoder</a:t>
            </a:r>
            <a:r>
              <a:rPr lang="ja-JP" sz="2170" b="0" u="none" strike="noStrike">
                <a:solidFill>
                  <a:srgbClr val="111111"/>
                </a:solidFill>
                <a:effectLst/>
                <a:uFillTx/>
                <a:latin typeface="NotoSansJP"/>
                <a:ea typeface="NotoSansJP"/>
              </a:rPr>
              <a:t>出力に</a:t>
            </a:r>
            <a:endParaRPr lang="en-US" sz="2170" b="0" u="none" strike="noStrike">
              <a:solidFill>
                <a:srgbClr val="000000"/>
              </a:solidFill>
              <a:effectLst/>
              <a:uFillTx/>
              <a:latin typeface="Noto Serif JP"/>
            </a:endParaRPr>
          </a:p>
        </p:txBody>
      </p:sp>
      <p:sp>
        <p:nvSpPr>
          <p:cNvPr id="123" name=""/>
          <p:cNvSpPr txBox="1"/>
          <p:nvPr/>
        </p:nvSpPr>
        <p:spPr>
          <a:xfrm>
            <a:off x="6229440" y="2695680"/>
            <a:ext cx="540216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対する</a:t>
            </a:r>
            <a:r>
              <a:rPr lang="en-US" sz="2170" b="0" u="none" strike="noStrike">
                <a:solidFill>
                  <a:srgbClr val="111111"/>
                </a:solidFill>
                <a:effectLst/>
                <a:uFillTx/>
                <a:latin typeface="NotoSansJP"/>
                <a:ea typeface="NotoSansJP"/>
              </a:rPr>
              <a:t>Multi-Head Attention</a:t>
            </a:r>
            <a:r>
              <a:rPr lang="ja-JP" sz="2170" b="0" u="none" strike="noStrike">
                <a:solidFill>
                  <a:srgbClr val="111111"/>
                </a:solidFill>
                <a:effectLst/>
                <a:uFillTx/>
                <a:latin typeface="NotoSansJP"/>
                <a:ea typeface="NotoSansJP"/>
              </a:rPr>
              <a:t>機構。 </a:t>
            </a:r>
            <a:r>
              <a:rPr lang="en-US" sz="2170" b="0" u="none" strike="noStrike">
                <a:solidFill>
                  <a:srgbClr val="111111"/>
                </a:solidFill>
                <a:effectLst/>
                <a:uFillTx/>
                <a:latin typeface="NotoSansJP"/>
                <a:ea typeface="NotoSansJP"/>
              </a:rPr>
              <a:t>- </a:t>
            </a:r>
            <a:r>
              <a:rPr lang="ja-JP" sz="2170" b="0" u="none" strike="noStrike">
                <a:solidFill>
                  <a:srgbClr val="111111"/>
                </a:solidFill>
                <a:effectLst/>
                <a:uFillTx/>
                <a:latin typeface="NotoSansJP"/>
                <a:ea typeface="NotoSansJP"/>
              </a:rPr>
              <a:t>位置ご</a:t>
            </a:r>
            <a:endParaRPr lang="en-US" sz="2170" b="0" u="none" strike="noStrike">
              <a:solidFill>
                <a:srgbClr val="000000"/>
              </a:solidFill>
              <a:effectLst/>
              <a:uFillTx/>
              <a:latin typeface="Noto Serif JP"/>
            </a:endParaRPr>
          </a:p>
        </p:txBody>
      </p:sp>
      <p:sp>
        <p:nvSpPr>
          <p:cNvPr id="124" name=""/>
          <p:cNvSpPr txBox="1"/>
          <p:nvPr/>
        </p:nvSpPr>
        <p:spPr>
          <a:xfrm>
            <a:off x="6229440" y="3114720"/>
            <a:ext cx="524160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との完全結合フィードフォワードネットワ</a:t>
            </a:r>
            <a:endParaRPr lang="en-US" sz="2170" b="0" u="none" strike="noStrike">
              <a:solidFill>
                <a:srgbClr val="000000"/>
              </a:solidFill>
              <a:effectLst/>
              <a:uFillTx/>
              <a:latin typeface="Noto Serif JP"/>
            </a:endParaRPr>
          </a:p>
        </p:txBody>
      </p:sp>
      <p:sp>
        <p:nvSpPr>
          <p:cNvPr id="125" name=""/>
          <p:cNvSpPr txBox="1"/>
          <p:nvPr/>
        </p:nvSpPr>
        <p:spPr>
          <a:xfrm>
            <a:off x="6229440" y="3524400"/>
            <a:ext cx="533412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ーク。 </a:t>
            </a:r>
            <a:r>
              <a:rPr lang="en-US" sz="2170" b="0" u="none" strike="noStrike">
                <a:solidFill>
                  <a:srgbClr val="111111"/>
                </a:solidFill>
                <a:effectLst/>
                <a:uFillTx/>
                <a:latin typeface="NotoSansJP"/>
                <a:ea typeface="NotoSansJP"/>
              </a:rPr>
              <a:t>- **</a:t>
            </a:r>
            <a:r>
              <a:rPr lang="ja-JP" sz="2170" b="0" u="none" strike="noStrike">
                <a:solidFill>
                  <a:srgbClr val="111111"/>
                </a:solidFill>
                <a:effectLst/>
                <a:uFillTx/>
                <a:latin typeface="NotoSansJP"/>
                <a:ea typeface="NotoSansJP"/>
              </a:rPr>
              <a:t>その他</a:t>
            </a:r>
            <a:r>
              <a:rPr lang="en-US" sz="2170" b="0" u="none" strike="noStrike">
                <a:solidFill>
                  <a:srgbClr val="111111"/>
                </a:solidFill>
                <a:effectLst/>
                <a:uFillTx/>
                <a:latin typeface="NotoSansJP"/>
                <a:ea typeface="NotoSansJP"/>
              </a:rPr>
              <a:t>** - Encoder</a:t>
            </a:r>
            <a:r>
              <a:rPr lang="ja-JP" sz="2170" b="0" u="none" strike="noStrike">
                <a:solidFill>
                  <a:srgbClr val="111111"/>
                </a:solidFill>
                <a:effectLst/>
                <a:uFillTx/>
                <a:latin typeface="NotoSansJP"/>
                <a:ea typeface="NotoSansJP"/>
              </a:rPr>
              <a:t>と同様に残差</a:t>
            </a:r>
            <a:endParaRPr lang="en-US" sz="2170" b="0" u="none" strike="noStrike">
              <a:solidFill>
                <a:srgbClr val="000000"/>
              </a:solidFill>
              <a:effectLst/>
              <a:uFillTx/>
              <a:latin typeface="Noto Serif JP"/>
            </a:endParaRPr>
          </a:p>
        </p:txBody>
      </p:sp>
      <p:sp>
        <p:nvSpPr>
          <p:cNvPr id="126" name=""/>
          <p:cNvSpPr txBox="1"/>
          <p:nvPr/>
        </p:nvSpPr>
        <p:spPr>
          <a:xfrm>
            <a:off x="6229440" y="3943440"/>
            <a:ext cx="533880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接続と層正規化。 </a:t>
            </a:r>
            <a:r>
              <a:rPr lang="en-US" sz="2170" b="0" u="none" strike="noStrike">
                <a:solidFill>
                  <a:srgbClr val="111111"/>
                </a:solidFill>
                <a:effectLst/>
                <a:uFillTx/>
                <a:latin typeface="NotoSansJP"/>
                <a:ea typeface="NotoSansJP"/>
              </a:rPr>
              <a:t>- </a:t>
            </a:r>
            <a:r>
              <a:rPr lang="ja-JP" sz="2170" b="0" u="none" strike="noStrike">
                <a:solidFill>
                  <a:srgbClr val="111111"/>
                </a:solidFill>
                <a:effectLst/>
                <a:uFillTx/>
                <a:latin typeface="NotoSansJP"/>
                <a:ea typeface="NotoSansJP"/>
              </a:rPr>
              <a:t>出力埋め込みは</a:t>
            </a:r>
            <a:r>
              <a:rPr lang="en-US" sz="2170" b="0" u="none" strike="noStrike">
                <a:solidFill>
                  <a:srgbClr val="111111"/>
                </a:solidFill>
                <a:effectLst/>
                <a:uFillTx/>
                <a:latin typeface="NotoSansJP"/>
                <a:ea typeface="NotoSansJP"/>
              </a:rPr>
              <a:t>1</a:t>
            </a:r>
            <a:r>
              <a:rPr lang="ja-JP" sz="2170" b="0" u="none" strike="noStrike">
                <a:solidFill>
                  <a:srgbClr val="111111"/>
                </a:solidFill>
                <a:effectLst/>
                <a:uFillTx/>
                <a:latin typeface="NotoSansJP"/>
                <a:ea typeface="NotoSansJP"/>
              </a:rPr>
              <a:t>ポジシ</a:t>
            </a:r>
            <a:endParaRPr lang="en-US" sz="2170" b="0" u="none" strike="noStrike">
              <a:solidFill>
                <a:srgbClr val="000000"/>
              </a:solidFill>
              <a:effectLst/>
              <a:uFillTx/>
              <a:latin typeface="Noto Serif JP"/>
            </a:endParaRPr>
          </a:p>
        </p:txBody>
      </p:sp>
      <p:sp>
        <p:nvSpPr>
          <p:cNvPr id="127" name=""/>
          <p:cNvSpPr txBox="1"/>
          <p:nvPr/>
        </p:nvSpPr>
        <p:spPr>
          <a:xfrm>
            <a:off x="6229440" y="4352760"/>
            <a:ext cx="441432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ョンずらして、自己回帰性を維持。</a:t>
            </a:r>
            <a:endParaRPr lang="en-US" sz="2170" b="0" u="none" strike="noStrike">
              <a:solidFill>
                <a:srgbClr val="000000"/>
              </a:solidFill>
              <a:effectLst/>
              <a:uFillTx/>
              <a:latin typeface="Noto Serif JP"/>
            </a:endParaRPr>
          </a:p>
        </p:txBody>
      </p:sp>
      <p:sp>
        <p:nvSpPr>
          <p:cNvPr id="128"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129" name=""/>
          <p:cNvSpPr txBox="1"/>
          <p:nvPr/>
        </p:nvSpPr>
        <p:spPr>
          <a:xfrm>
            <a:off x="914400" y="409680"/>
            <a:ext cx="5425200" cy="299160"/>
          </a:xfrm>
          <a:prstGeom prst="rect">
            <a:avLst/>
          </a:prstGeom>
          <a:noFill/>
          <a:ln w="0">
            <a:noFill/>
          </a:ln>
        </p:spPr>
        <p:txBody>
          <a:bodyPr wrap="none" lIns="0" tIns="0" rIns="0" bIns="0" anchor="t">
            <a:spAutoFit/>
          </a:bodyPr>
          <a:p>
            <a:pPr/>
            <a:r>
              <a:rPr lang="en-US" sz="1950" b="1" u="none" strike="noStrike">
                <a:solidFill>
                  <a:srgbClr val="111111"/>
                </a:solidFill>
                <a:effectLst/>
                <a:uFillTx/>
                <a:latin typeface="NotoSansJPThin"/>
                <a:ea typeface="NotoSansJPThin"/>
              </a:rPr>
              <a:t>Transformer</a:t>
            </a:r>
            <a:r>
              <a:rPr lang="ja-JP" sz="1950" b="1" u="none" strike="noStrike">
                <a:solidFill>
                  <a:srgbClr val="111111"/>
                </a:solidFill>
                <a:effectLst/>
                <a:uFillTx/>
                <a:latin typeface="NotoSansJPThin"/>
                <a:ea typeface="NotoSansJPThin"/>
              </a:rPr>
              <a:t>の詳細：</a:t>
            </a:r>
            <a:r>
              <a:rPr lang="en-US" sz="1950" b="1" u="none" strike="noStrike">
                <a:solidFill>
                  <a:srgbClr val="111111"/>
                </a:solidFill>
                <a:effectLst/>
                <a:uFillTx/>
                <a:latin typeface="NotoSansJPThin"/>
                <a:ea typeface="NotoSansJPThin"/>
              </a:rPr>
              <a:t>Encoder</a:t>
            </a:r>
            <a:r>
              <a:rPr lang="ja-JP" sz="1950" b="1" u="none" strike="noStrike">
                <a:solidFill>
                  <a:srgbClr val="111111"/>
                </a:solidFill>
                <a:effectLst/>
                <a:uFillTx/>
                <a:latin typeface="NotoSansJPThin"/>
                <a:ea typeface="NotoSansJPThin"/>
              </a:rPr>
              <a:t>と</a:t>
            </a:r>
            <a:r>
              <a:rPr lang="en-US" sz="1950" b="1" u="none" strike="noStrike">
                <a:solidFill>
                  <a:srgbClr val="111111"/>
                </a:solidFill>
                <a:effectLst/>
                <a:uFillTx/>
                <a:latin typeface="NotoSansJPThin"/>
                <a:ea typeface="NotoSansJPThin"/>
              </a:rPr>
              <a:t>Decoder</a:t>
            </a:r>
            <a:r>
              <a:rPr lang="ja-JP" sz="1950" b="1" u="none" strike="noStrike">
                <a:solidFill>
                  <a:srgbClr val="111111"/>
                </a:solidFill>
                <a:effectLst/>
                <a:uFillTx/>
                <a:latin typeface="NotoSansJPThin"/>
                <a:ea typeface="NotoSansJPThin"/>
              </a:rPr>
              <a:t>スタック</a:t>
            </a:r>
            <a:endParaRPr lang="en-US" sz="1950" b="0" u="none" strike="noStrike">
              <a:solidFill>
                <a:srgbClr val="000000"/>
              </a:solidFill>
              <a:effectLst/>
              <a:uFillTx/>
              <a:latin typeface="Noto Serif JP"/>
            </a:endParaRPr>
          </a:p>
        </p:txBody>
      </p:sp>
      <p:sp>
        <p:nvSpPr>
          <p:cNvPr id="130" name=""/>
          <p:cNvSpPr txBox="1"/>
          <p:nvPr/>
        </p:nvSpPr>
        <p:spPr>
          <a:xfrm>
            <a:off x="4391640" y="937440"/>
            <a:ext cx="64368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N = 6</a:t>
            </a:r>
            <a:endParaRPr lang="en-US" sz="2220" b="0" u="none" strike="noStrike">
              <a:solidFill>
                <a:srgbClr val="000000"/>
              </a:solidFill>
              <a:effectLst/>
              <a:uFillTx/>
              <a:latin typeface="Noto Serif JP"/>
            </a:endParaRPr>
          </a:p>
        </p:txBody>
      </p:sp>
      <p:sp>
        <p:nvSpPr>
          <p:cNvPr id="131" name=""/>
          <p:cNvSpPr txBox="1"/>
          <p:nvPr/>
        </p:nvSpPr>
        <p:spPr>
          <a:xfrm>
            <a:off x="11946600" y="6458040"/>
            <a:ext cx="304560" cy="366120"/>
          </a:xfrm>
          <a:prstGeom prst="rect">
            <a:avLst/>
          </a:prstGeom>
          <a:noFill/>
          <a:ln w="0">
            <a:noFill/>
          </a:ln>
        </p:spPr>
        <p:txBody>
          <a:bodyPr wrap="none" lIns="0" tIns="0" rIns="0" bIns="0" anchor="t">
            <a:spAutoFit/>
          </a:bodyPr>
          <a:p>
            <a:pPr/>
            <a:r>
              <a:rPr lang="en-US" sz="2400" b="0" u="none" strike="noStrike">
                <a:solidFill>
                  <a:srgbClr val="111111"/>
                </a:solidFill>
                <a:effectLst/>
                <a:uFillTx/>
                <a:latin typeface="NotoSansJP"/>
                <a:ea typeface="NotoSansJP"/>
              </a:rPr>
              <a:t>6</a:t>
            </a:r>
            <a:endParaRPr lang="en-US" sz="2400" b="0" u="none" strike="noStrike">
              <a:solidFill>
                <a:srgbClr val="000000"/>
              </a:solidFill>
              <a:effectLst/>
              <a:uFillTx/>
              <a:latin typeface="Noto Serif JP"/>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13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13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135"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0"/>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136" name=""/>
          <p:cNvSpPr txBox="1"/>
          <p:nvPr/>
        </p:nvSpPr>
        <p:spPr>
          <a:xfrm>
            <a:off x="533520" y="942840"/>
            <a:ext cx="1031580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Attention</a:t>
            </a:r>
            <a:r>
              <a:rPr lang="ja-JP" sz="2170" b="0" u="none" strike="noStrike">
                <a:solidFill>
                  <a:srgbClr val="111111"/>
                </a:solidFill>
                <a:effectLst/>
                <a:uFillTx/>
                <a:latin typeface="NotoSansJP"/>
                <a:ea typeface="NotoSansJP"/>
              </a:rPr>
              <a:t>機構は、クエリとキー‧バリューのペアを入力とし、出力を計算します。</a:t>
            </a:r>
            <a:endParaRPr lang="en-US" sz="2170" b="0" u="none" strike="noStrike">
              <a:solidFill>
                <a:srgbClr val="000000"/>
              </a:solidFill>
              <a:effectLst/>
              <a:uFillTx/>
              <a:latin typeface="Noto Serif JP"/>
            </a:endParaRPr>
          </a:p>
        </p:txBody>
      </p:sp>
      <p:sp>
        <p:nvSpPr>
          <p:cNvPr id="137" name=""/>
          <p:cNvSpPr/>
          <p:nvPr/>
        </p:nvSpPr>
        <p:spPr>
          <a:xfrm>
            <a:off x="809280" y="234288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7"/>
                  <a:pt x="1" y="128"/>
                  <a:pt x="3" y="118"/>
                </a:cubicBezTo>
                <a:cubicBezTo>
                  <a:pt x="5" y="109"/>
                  <a:pt x="8" y="100"/>
                  <a:pt x="12" y="91"/>
                </a:cubicBezTo>
                <a:cubicBezTo>
                  <a:pt x="15" y="82"/>
                  <a:pt x="20" y="74"/>
                  <a:pt x="25" y="66"/>
                </a:cubicBezTo>
                <a:cubicBezTo>
                  <a:pt x="30" y="58"/>
                  <a:pt x="36" y="51"/>
                  <a:pt x="43" y="44"/>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4"/>
                </a:cubicBezTo>
                <a:cubicBezTo>
                  <a:pt x="257" y="51"/>
                  <a:pt x="263" y="58"/>
                  <a:pt x="268" y="66"/>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138" name=""/>
          <p:cNvSpPr txBox="1"/>
          <p:nvPr/>
        </p:nvSpPr>
        <p:spPr>
          <a:xfrm>
            <a:off x="533520" y="1648800"/>
            <a:ext cx="3922920" cy="364680"/>
          </a:xfrm>
          <a:prstGeom prst="rect">
            <a:avLst/>
          </a:prstGeom>
          <a:noFill/>
          <a:ln w="0">
            <a:noFill/>
          </a:ln>
        </p:spPr>
        <p:txBody>
          <a:bodyPr wrap="none" lIns="0" tIns="0" rIns="0" bIns="0" anchor="t">
            <a:spAutoFit/>
          </a:bodyPr>
          <a:p>
            <a:pPr/>
            <a:r>
              <a:rPr lang="en-US" sz="2390" b="1" u="none" strike="noStrike">
                <a:solidFill>
                  <a:srgbClr val="111111"/>
                </a:solidFill>
                <a:effectLst/>
                <a:uFillTx/>
                <a:latin typeface="NotoSansJPThin"/>
                <a:ea typeface="NotoSansJPThin"/>
              </a:rPr>
              <a:t>Scaled Dot-Product Attention</a:t>
            </a:r>
            <a:endParaRPr lang="en-US" sz="2390" b="0" u="none" strike="noStrike">
              <a:solidFill>
                <a:srgbClr val="000000"/>
              </a:solidFill>
              <a:effectLst/>
              <a:uFillTx/>
              <a:latin typeface="Noto Serif JP"/>
            </a:endParaRPr>
          </a:p>
        </p:txBody>
      </p:sp>
      <p:sp>
        <p:nvSpPr>
          <p:cNvPr id="139" name=""/>
          <p:cNvSpPr txBox="1"/>
          <p:nvPr/>
        </p:nvSpPr>
        <p:spPr>
          <a:xfrm>
            <a:off x="1085760" y="2219400"/>
            <a:ext cx="88992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クエリ </a:t>
            </a:r>
            <a:endParaRPr lang="en-US" sz="2170" b="0" u="none" strike="noStrike">
              <a:solidFill>
                <a:srgbClr val="000000"/>
              </a:solidFill>
              <a:effectLst/>
              <a:uFillTx/>
              <a:latin typeface="Noto Serif JP"/>
            </a:endParaRPr>
          </a:p>
        </p:txBody>
      </p:sp>
      <p:sp>
        <p:nvSpPr>
          <p:cNvPr id="140" name=""/>
          <p:cNvSpPr txBox="1"/>
          <p:nvPr/>
        </p:nvSpPr>
        <p:spPr>
          <a:xfrm>
            <a:off x="2185560" y="2219400"/>
            <a:ext cx="95184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、キー </a:t>
            </a:r>
            <a:endParaRPr lang="en-US" sz="2170" b="0" u="none" strike="noStrike">
              <a:solidFill>
                <a:srgbClr val="000000"/>
              </a:solidFill>
              <a:effectLst/>
              <a:uFillTx/>
              <a:latin typeface="Noto Serif JP"/>
            </a:endParaRPr>
          </a:p>
        </p:txBody>
      </p:sp>
      <p:sp>
        <p:nvSpPr>
          <p:cNvPr id="141" name=""/>
          <p:cNvSpPr txBox="1"/>
          <p:nvPr/>
        </p:nvSpPr>
        <p:spPr>
          <a:xfrm>
            <a:off x="3340080" y="2219400"/>
            <a:ext cx="150336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、バリュー </a:t>
            </a:r>
            <a:endParaRPr lang="en-US" sz="2170" b="0" u="none" strike="noStrike">
              <a:solidFill>
                <a:srgbClr val="000000"/>
              </a:solidFill>
              <a:effectLst/>
              <a:uFillTx/>
              <a:latin typeface="Noto Serif JP"/>
            </a:endParaRPr>
          </a:p>
        </p:txBody>
      </p:sp>
      <p:sp>
        <p:nvSpPr>
          <p:cNvPr id="142" name=""/>
          <p:cNvSpPr/>
          <p:nvPr/>
        </p:nvSpPr>
        <p:spPr>
          <a:xfrm>
            <a:off x="809280" y="2819160"/>
            <a:ext cx="105120" cy="105120"/>
          </a:xfrm>
          <a:custGeom>
            <a:avLst/>
            <a:gdLst/>
            <a:ahLst/>
            <a:rect l="0" t="0" r="r" b="b"/>
            <a:pathLst>
              <a:path w="292" h="292">
                <a:moveTo>
                  <a:pt x="292" y="146"/>
                </a:moveTo>
                <a:cubicBezTo>
                  <a:pt x="292" y="155"/>
                  <a:pt x="292" y="165"/>
                  <a:pt x="290" y="175"/>
                </a:cubicBezTo>
                <a:cubicBezTo>
                  <a:pt x="288" y="184"/>
                  <a:pt x="285" y="194"/>
                  <a:pt x="281" y="202"/>
                </a:cubicBezTo>
                <a:cubicBezTo>
                  <a:pt x="278" y="211"/>
                  <a:pt x="273" y="220"/>
                  <a:pt x="268" y="228"/>
                </a:cubicBezTo>
                <a:cubicBezTo>
                  <a:pt x="263" y="235"/>
                  <a:pt x="257" y="243"/>
                  <a:pt x="250" y="250"/>
                </a:cubicBezTo>
                <a:cubicBezTo>
                  <a:pt x="243" y="256"/>
                  <a:pt x="236" y="262"/>
                  <a:pt x="228" y="268"/>
                </a:cubicBezTo>
                <a:cubicBezTo>
                  <a:pt x="219" y="273"/>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3"/>
                  <a:pt x="65" y="268"/>
                </a:cubicBezTo>
                <a:cubicBezTo>
                  <a:pt x="57" y="262"/>
                  <a:pt x="50" y="256"/>
                  <a:pt x="43" y="250"/>
                </a:cubicBezTo>
                <a:cubicBezTo>
                  <a:pt x="36" y="243"/>
                  <a:pt x="30" y="235"/>
                  <a:pt x="25" y="228"/>
                </a:cubicBezTo>
                <a:cubicBezTo>
                  <a:pt x="20" y="220"/>
                  <a:pt x="15" y="211"/>
                  <a:pt x="12" y="202"/>
                </a:cubicBezTo>
                <a:cubicBezTo>
                  <a:pt x="8" y="194"/>
                  <a:pt x="5" y="184"/>
                  <a:pt x="3" y="175"/>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143" name=""/>
          <p:cNvSpPr txBox="1"/>
          <p:nvPr/>
        </p:nvSpPr>
        <p:spPr>
          <a:xfrm>
            <a:off x="5069520" y="2219400"/>
            <a:ext cx="116604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を入力。</a:t>
            </a:r>
            <a:endParaRPr lang="en-US" sz="2170" b="0" u="none" strike="noStrike">
              <a:solidFill>
                <a:srgbClr val="000000"/>
              </a:solidFill>
              <a:effectLst/>
              <a:uFillTx/>
              <a:latin typeface="Noto Serif JP"/>
            </a:endParaRPr>
          </a:p>
        </p:txBody>
      </p:sp>
      <p:sp>
        <p:nvSpPr>
          <p:cNvPr id="144" name=""/>
          <p:cNvSpPr txBox="1"/>
          <p:nvPr/>
        </p:nvSpPr>
        <p:spPr>
          <a:xfrm>
            <a:off x="1085760" y="2695680"/>
            <a:ext cx="386244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クエリとキーの内積を計算し、</a:t>
            </a:r>
            <a:endParaRPr lang="en-US" sz="2170" b="0" u="none" strike="noStrike">
              <a:solidFill>
                <a:srgbClr val="000000"/>
              </a:solidFill>
              <a:effectLst/>
              <a:uFillTx/>
              <a:latin typeface="Noto Serif JP"/>
            </a:endParaRPr>
          </a:p>
        </p:txBody>
      </p:sp>
      <p:sp>
        <p:nvSpPr>
          <p:cNvPr id="145" name=""/>
          <p:cNvSpPr/>
          <p:nvPr/>
        </p:nvSpPr>
        <p:spPr>
          <a:xfrm>
            <a:off x="809280" y="3305160"/>
            <a:ext cx="105120" cy="105120"/>
          </a:xfrm>
          <a:custGeom>
            <a:avLst/>
            <a:gdLst/>
            <a:ahLst/>
            <a:rect l="0" t="0" r="r" b="b"/>
            <a:pathLst>
              <a:path w="292" h="292">
                <a:moveTo>
                  <a:pt x="292" y="145"/>
                </a:moveTo>
                <a:cubicBezTo>
                  <a:pt x="292" y="155"/>
                  <a:pt x="292" y="164"/>
                  <a:pt x="290" y="173"/>
                </a:cubicBezTo>
                <a:cubicBezTo>
                  <a:pt x="288" y="183"/>
                  <a:pt x="285" y="192"/>
                  <a:pt x="281" y="201"/>
                </a:cubicBezTo>
                <a:cubicBezTo>
                  <a:pt x="278" y="210"/>
                  <a:pt x="273" y="218"/>
                  <a:pt x="268" y="226"/>
                </a:cubicBezTo>
                <a:cubicBezTo>
                  <a:pt x="263" y="234"/>
                  <a:pt x="257" y="241"/>
                  <a:pt x="250" y="248"/>
                </a:cubicBezTo>
                <a:cubicBezTo>
                  <a:pt x="243" y="255"/>
                  <a:pt x="236" y="261"/>
                  <a:pt x="228" y="266"/>
                </a:cubicBezTo>
                <a:cubicBezTo>
                  <a:pt x="219" y="271"/>
                  <a:pt x="210" y="276"/>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6"/>
                  <a:pt x="73" y="271"/>
                  <a:pt x="65" y="266"/>
                </a:cubicBezTo>
                <a:cubicBezTo>
                  <a:pt x="57" y="261"/>
                  <a:pt x="50" y="255"/>
                  <a:pt x="43" y="248"/>
                </a:cubicBezTo>
                <a:cubicBezTo>
                  <a:pt x="36" y="241"/>
                  <a:pt x="30" y="234"/>
                  <a:pt x="25" y="226"/>
                </a:cubicBezTo>
                <a:cubicBezTo>
                  <a:pt x="20" y="218"/>
                  <a:pt x="15" y="210"/>
                  <a:pt x="12" y="201"/>
                </a:cubicBezTo>
                <a:cubicBezTo>
                  <a:pt x="8" y="192"/>
                  <a:pt x="5" y="183"/>
                  <a:pt x="3" y="173"/>
                </a:cubicBezTo>
                <a:cubicBezTo>
                  <a:pt x="1" y="164"/>
                  <a:pt x="0" y="155"/>
                  <a:pt x="0" y="145"/>
                </a:cubicBezTo>
                <a:cubicBezTo>
                  <a:pt x="0" y="136"/>
                  <a:pt x="1" y="126"/>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0"/>
                  <a:pt x="136" y="0"/>
                  <a:pt x="146" y="0"/>
                </a:cubicBezTo>
                <a:cubicBezTo>
                  <a:pt x="156" y="0"/>
                  <a:pt x="165" y="0"/>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6"/>
                  <a:pt x="292" y="136"/>
                  <a:pt x="292" y="145"/>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146" name=""/>
          <p:cNvSpPr txBox="1"/>
          <p:nvPr/>
        </p:nvSpPr>
        <p:spPr>
          <a:xfrm>
            <a:off x="5491440" y="2695680"/>
            <a:ext cx="226944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でスケーリング。</a:t>
            </a:r>
            <a:endParaRPr lang="en-US" sz="2170" b="0" u="none" strike="noStrike">
              <a:solidFill>
                <a:srgbClr val="000000"/>
              </a:solidFill>
              <a:effectLst/>
              <a:uFillTx/>
              <a:latin typeface="Noto Serif JP"/>
            </a:endParaRPr>
          </a:p>
        </p:txBody>
      </p:sp>
      <p:sp>
        <p:nvSpPr>
          <p:cNvPr id="147" name=""/>
          <p:cNvSpPr txBox="1"/>
          <p:nvPr/>
        </p:nvSpPr>
        <p:spPr>
          <a:xfrm>
            <a:off x="1085760" y="3181320"/>
            <a:ext cx="689688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ソフトマックス関数で重みを生成し、バリューに適用。</a:t>
            </a:r>
            <a:endParaRPr lang="en-US" sz="2170" b="0" u="none" strike="noStrike">
              <a:solidFill>
                <a:srgbClr val="000000"/>
              </a:solidFill>
              <a:effectLst/>
              <a:uFillTx/>
              <a:latin typeface="Noto Serif JP"/>
            </a:endParaRPr>
          </a:p>
        </p:txBody>
      </p:sp>
      <p:sp>
        <p:nvSpPr>
          <p:cNvPr id="148" name=""/>
          <p:cNvSpPr txBox="1"/>
          <p:nvPr/>
        </p:nvSpPr>
        <p:spPr>
          <a:xfrm>
            <a:off x="3687840" y="3975840"/>
            <a:ext cx="2549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Attention(Q, K, V ) =</a:t>
            </a:r>
            <a:endParaRPr lang="en-US" sz="2220" b="0" u="none" strike="noStrike">
              <a:solidFill>
                <a:srgbClr val="000000"/>
              </a:solidFill>
              <a:effectLst/>
              <a:uFillTx/>
              <a:latin typeface="Noto Serif JP"/>
            </a:endParaRPr>
          </a:p>
        </p:txBody>
      </p:sp>
      <p:sp>
        <p:nvSpPr>
          <p:cNvPr id="149" name=""/>
          <p:cNvSpPr txBox="1"/>
          <p:nvPr/>
        </p:nvSpPr>
        <p:spPr>
          <a:xfrm>
            <a:off x="6298200" y="3975120"/>
            <a:ext cx="106164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softmax</a:t>
            </a:r>
            <a:endParaRPr lang="en-US" sz="2220" b="0" u="none" strike="noStrike">
              <a:solidFill>
                <a:srgbClr val="000000"/>
              </a:solidFill>
              <a:effectLst/>
              <a:uFillTx/>
              <a:latin typeface="Noto Serif JP"/>
            </a:endParaRPr>
          </a:p>
        </p:txBody>
      </p:sp>
      <p:sp>
        <p:nvSpPr>
          <p:cNvPr id="150" name=""/>
          <p:cNvSpPr txBox="1"/>
          <p:nvPr/>
        </p:nvSpPr>
        <p:spPr>
          <a:xfrm>
            <a:off x="8279640" y="397584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V</a:t>
            </a:r>
            <a:endParaRPr lang="en-US" sz="2220" b="0" u="none" strike="noStrike">
              <a:solidFill>
                <a:srgbClr val="000000"/>
              </a:solidFill>
              <a:effectLst/>
              <a:uFillTx/>
              <a:latin typeface="Noto Serif JP"/>
            </a:endParaRPr>
          </a:p>
        </p:txBody>
      </p:sp>
      <p:sp>
        <p:nvSpPr>
          <p:cNvPr id="151" name=""/>
          <p:cNvSpPr txBox="1"/>
          <p:nvPr/>
        </p:nvSpPr>
        <p:spPr>
          <a:xfrm>
            <a:off x="7403760" y="397584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a:t>
            </a:r>
            <a:endParaRPr lang="en-US" sz="2220" b="0" u="none" strike="noStrike">
              <a:solidFill>
                <a:srgbClr val="000000"/>
              </a:solidFill>
              <a:effectLst/>
              <a:uFillTx/>
              <a:latin typeface="Noto Serif JP"/>
            </a:endParaRPr>
          </a:p>
        </p:txBody>
      </p:sp>
      <p:sp>
        <p:nvSpPr>
          <p:cNvPr id="152" name=""/>
          <p:cNvSpPr txBox="1"/>
          <p:nvPr/>
        </p:nvSpPr>
        <p:spPr>
          <a:xfrm>
            <a:off x="7783560" y="418536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d</a:t>
            </a:r>
            <a:endParaRPr lang="en-US" sz="2220" b="0" u="none" strike="noStrike">
              <a:solidFill>
                <a:srgbClr val="000000"/>
              </a:solidFill>
              <a:effectLst/>
              <a:uFillTx/>
              <a:latin typeface="Noto Serif JP"/>
            </a:endParaRPr>
          </a:p>
        </p:txBody>
      </p:sp>
      <p:sp>
        <p:nvSpPr>
          <p:cNvPr id="153" name=""/>
          <p:cNvSpPr/>
          <p:nvPr/>
        </p:nvSpPr>
        <p:spPr>
          <a:xfrm>
            <a:off x="7573320" y="4232520"/>
            <a:ext cx="513720" cy="281880"/>
          </a:xfrm>
          <a:custGeom>
            <a:avLst/>
            <a:gdLst/>
            <a:ahLst/>
            <a:rect l="0" t="0" r="r" b="b"/>
            <a:pathLst>
              <a:path w="1427" h="783">
                <a:moveTo>
                  <a:pt x="18" y="487"/>
                </a:moveTo>
                <a:cubicBezTo>
                  <a:pt x="16" y="487"/>
                  <a:pt x="13" y="485"/>
                  <a:pt x="8" y="481"/>
                </a:cubicBezTo>
                <a:cubicBezTo>
                  <a:pt x="3" y="477"/>
                  <a:pt x="0" y="473"/>
                  <a:pt x="0" y="470"/>
                </a:cubicBezTo>
                <a:cubicBezTo>
                  <a:pt x="0" y="469"/>
                  <a:pt x="1" y="468"/>
                  <a:pt x="1" y="467"/>
                </a:cubicBezTo>
                <a:cubicBezTo>
                  <a:pt x="2" y="465"/>
                  <a:pt x="20" y="451"/>
                  <a:pt x="54" y="425"/>
                </a:cubicBezTo>
                <a:cubicBezTo>
                  <a:pt x="88" y="399"/>
                  <a:pt x="105" y="385"/>
                  <a:pt x="106" y="385"/>
                </a:cubicBezTo>
                <a:cubicBezTo>
                  <a:pt x="107" y="384"/>
                  <a:pt x="108" y="383"/>
                  <a:pt x="110" y="383"/>
                </a:cubicBezTo>
                <a:cubicBezTo>
                  <a:pt x="114" y="383"/>
                  <a:pt x="117" y="386"/>
                  <a:pt x="119" y="391"/>
                </a:cubicBezTo>
                <a:cubicBezTo>
                  <a:pt x="122" y="396"/>
                  <a:pt x="255" y="687"/>
                  <a:pt x="255" y="687"/>
                </a:cubicBezTo>
                <a:cubicBezTo>
                  <a:pt x="255" y="687"/>
                  <a:pt x="282" y="631"/>
                  <a:pt x="336" y="520"/>
                </a:cubicBezTo>
                <a:cubicBezTo>
                  <a:pt x="390" y="409"/>
                  <a:pt x="444" y="296"/>
                  <a:pt x="498" y="184"/>
                </a:cubicBezTo>
                <a:cubicBezTo>
                  <a:pt x="552" y="71"/>
                  <a:pt x="579" y="13"/>
                  <a:pt x="581" y="11"/>
                </a:cubicBezTo>
                <a:cubicBezTo>
                  <a:pt x="585" y="3"/>
                  <a:pt x="590" y="0"/>
                  <a:pt x="596" y="0"/>
                </a:cubicBezTo>
                <a:lnTo>
                  <a:pt x="1427" y="0"/>
                </a:lnTo>
                <a:lnTo>
                  <a:pt x="1427" y="31"/>
                </a:lnTo>
                <a:lnTo>
                  <a:pt x="605" y="31"/>
                </a:lnTo>
                <a:lnTo>
                  <a:pt x="429" y="397"/>
                </a:lnTo>
                <a:lnTo>
                  <a:pt x="245" y="778"/>
                </a:lnTo>
                <a:cubicBezTo>
                  <a:pt x="243" y="781"/>
                  <a:pt x="238" y="783"/>
                  <a:pt x="230" y="783"/>
                </a:cubicBezTo>
                <a:cubicBezTo>
                  <a:pt x="226" y="783"/>
                  <a:pt x="222" y="782"/>
                  <a:pt x="221" y="781"/>
                </a:cubicBezTo>
                <a:cubicBezTo>
                  <a:pt x="219" y="779"/>
                  <a:pt x="69" y="451"/>
                  <a:pt x="69" y="451"/>
                </a:cubicBezTo>
                <a:lnTo>
                  <a:pt x="18" y="487"/>
                </a:ln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154" name=""/>
          <p:cNvSpPr/>
          <p:nvPr/>
        </p:nvSpPr>
        <p:spPr>
          <a:xfrm>
            <a:off x="7534080" y="4181400"/>
            <a:ext cx="572040" cy="9720"/>
          </a:xfrm>
          <a:custGeom>
            <a:avLst/>
            <a:gdLst/>
            <a:ahLst/>
            <a:rect l="0" t="0" r="r" b="b"/>
            <a:pathLst>
              <a:path w="1589" h="27">
                <a:moveTo>
                  <a:pt x="0" y="0"/>
                </a:moveTo>
                <a:lnTo>
                  <a:pt x="1589" y="0"/>
                </a:lnTo>
                <a:lnTo>
                  <a:pt x="1589" y="27"/>
                </a:lnTo>
                <a:lnTo>
                  <a:pt x="0" y="27"/>
                </a:lnTo>
                <a:lnTo>
                  <a:pt x="0" y="0"/>
                </a:ln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155" name=""/>
          <p:cNvSpPr txBox="1"/>
          <p:nvPr/>
        </p:nvSpPr>
        <p:spPr>
          <a:xfrm>
            <a:off x="7958520" y="430812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k</a:t>
            </a:r>
            <a:endParaRPr lang="en-US" sz="1560" b="0" u="none" strike="noStrike">
              <a:solidFill>
                <a:srgbClr val="000000"/>
              </a:solidFill>
              <a:effectLst/>
              <a:uFillTx/>
              <a:latin typeface="Noto Serif JP"/>
            </a:endParaRPr>
          </a:p>
        </p:txBody>
      </p:sp>
      <p:sp>
        <p:nvSpPr>
          <p:cNvPr id="156" name=""/>
          <p:cNvSpPr txBox="1"/>
          <p:nvPr/>
        </p:nvSpPr>
        <p:spPr>
          <a:xfrm>
            <a:off x="7533000" y="3785400"/>
            <a:ext cx="39204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QK</a:t>
            </a:r>
            <a:endParaRPr lang="en-US" sz="2220" b="0" u="none" strike="noStrike">
              <a:solidFill>
                <a:srgbClr val="000000"/>
              </a:solidFill>
              <a:effectLst/>
              <a:uFillTx/>
              <a:latin typeface="Noto Serif JP"/>
            </a:endParaRPr>
          </a:p>
        </p:txBody>
      </p:sp>
      <p:sp>
        <p:nvSpPr>
          <p:cNvPr id="157" name=""/>
          <p:cNvSpPr txBox="1"/>
          <p:nvPr/>
        </p:nvSpPr>
        <p:spPr>
          <a:xfrm>
            <a:off x="7944120" y="376524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T</a:t>
            </a:r>
            <a:endParaRPr lang="en-US" sz="1560" b="0" u="none" strike="noStrike">
              <a:solidFill>
                <a:srgbClr val="000000"/>
              </a:solidFill>
              <a:effectLst/>
              <a:uFillTx/>
              <a:latin typeface="Noto Serif JP"/>
            </a:endParaRPr>
          </a:p>
        </p:txBody>
      </p:sp>
      <p:sp>
        <p:nvSpPr>
          <p:cNvPr id="158" name=""/>
          <p:cNvSpPr/>
          <p:nvPr/>
        </p:nvSpPr>
        <p:spPr>
          <a:xfrm>
            <a:off x="809280" y="4981320"/>
            <a:ext cx="105120" cy="105120"/>
          </a:xfrm>
          <a:custGeom>
            <a:avLst/>
            <a:gdLst/>
            <a:ahLst/>
            <a:rect l="0" t="0" r="r" b="b"/>
            <a:pathLst>
              <a:path w="292" h="292">
                <a:moveTo>
                  <a:pt x="292" y="146"/>
                </a:moveTo>
                <a:cubicBezTo>
                  <a:pt x="292" y="155"/>
                  <a:pt x="292" y="165"/>
                  <a:pt x="290" y="174"/>
                </a:cubicBezTo>
                <a:cubicBezTo>
                  <a:pt x="288" y="183"/>
                  <a:pt x="285" y="193"/>
                  <a:pt x="281" y="201"/>
                </a:cubicBezTo>
                <a:cubicBezTo>
                  <a:pt x="278" y="210"/>
                  <a:pt x="273" y="219"/>
                  <a:pt x="268" y="227"/>
                </a:cubicBezTo>
                <a:cubicBezTo>
                  <a:pt x="263" y="235"/>
                  <a:pt x="257" y="242"/>
                  <a:pt x="250" y="249"/>
                </a:cubicBezTo>
                <a:cubicBezTo>
                  <a:pt x="243" y="255"/>
                  <a:pt x="236" y="261"/>
                  <a:pt x="228" y="267"/>
                </a:cubicBezTo>
                <a:cubicBezTo>
                  <a:pt x="219" y="272"/>
                  <a:pt x="210" y="278"/>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8"/>
                  <a:pt x="73" y="272"/>
                  <a:pt x="65" y="267"/>
                </a:cubicBezTo>
                <a:cubicBezTo>
                  <a:pt x="57" y="261"/>
                  <a:pt x="50" y="255"/>
                  <a:pt x="43" y="249"/>
                </a:cubicBezTo>
                <a:cubicBezTo>
                  <a:pt x="36" y="242"/>
                  <a:pt x="30" y="235"/>
                  <a:pt x="25" y="227"/>
                </a:cubicBezTo>
                <a:cubicBezTo>
                  <a:pt x="20" y="219"/>
                  <a:pt x="15" y="210"/>
                  <a:pt x="12" y="201"/>
                </a:cubicBezTo>
                <a:cubicBezTo>
                  <a:pt x="8" y="193"/>
                  <a:pt x="5" y="183"/>
                  <a:pt x="3" y="174"/>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159" name=""/>
          <p:cNvSpPr txBox="1"/>
          <p:nvPr/>
        </p:nvSpPr>
        <p:spPr>
          <a:xfrm>
            <a:off x="8137440" y="397584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a:t>
            </a:r>
            <a:endParaRPr lang="en-US" sz="2220" b="0" u="none" strike="noStrike">
              <a:solidFill>
                <a:srgbClr val="000000"/>
              </a:solidFill>
              <a:effectLst/>
              <a:uFillTx/>
              <a:latin typeface="Noto Serif JP"/>
            </a:endParaRPr>
          </a:p>
        </p:txBody>
      </p:sp>
      <p:sp>
        <p:nvSpPr>
          <p:cNvPr id="160" name=""/>
          <p:cNvSpPr txBox="1"/>
          <p:nvPr/>
        </p:nvSpPr>
        <p:spPr>
          <a:xfrm>
            <a:off x="1389600" y="4857840"/>
            <a:ext cx="999288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が大きいと内積が大きくなりソフトマックスの勾配が小さくなるため、スケーリ</a:t>
            </a:r>
            <a:endParaRPr lang="en-US" sz="2170" b="0" u="none" strike="noStrike">
              <a:solidFill>
                <a:srgbClr val="000000"/>
              </a:solidFill>
              <a:effectLst/>
              <a:uFillTx/>
              <a:latin typeface="Noto Serif JP"/>
            </a:endParaRPr>
          </a:p>
        </p:txBody>
      </p:sp>
      <p:pic>
        <p:nvPicPr>
          <p:cNvPr id="161" name=""/>
          <p:cNvPicPr/>
          <p:nvPr/>
        </p:nvPicPr>
        <p:blipFill>
          <a:blip r:embed="rId1"/>
          <a:stretch/>
        </p:blipFill>
        <p:spPr>
          <a:xfrm>
            <a:off x="1085760" y="5638680"/>
            <a:ext cx="6095520" cy="12106080"/>
          </a:xfrm>
          <a:prstGeom prst="rect">
            <a:avLst/>
          </a:prstGeom>
          <a:noFill/>
          <a:ln w="0">
            <a:noFill/>
          </a:ln>
        </p:spPr>
      </p:pic>
      <p:sp>
        <p:nvSpPr>
          <p:cNvPr id="162" name=""/>
          <p:cNvSpPr txBox="1"/>
          <p:nvPr/>
        </p:nvSpPr>
        <p:spPr>
          <a:xfrm>
            <a:off x="1085760" y="5276880"/>
            <a:ext cx="165564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ングが必要。</a:t>
            </a:r>
            <a:endParaRPr lang="en-US" sz="2170" b="0" u="none" strike="noStrike">
              <a:solidFill>
                <a:srgbClr val="000000"/>
              </a:solidFill>
              <a:effectLst/>
              <a:uFillTx/>
              <a:latin typeface="Noto Serif JP"/>
            </a:endParaRPr>
          </a:p>
        </p:txBody>
      </p:sp>
      <p:sp>
        <p:nvSpPr>
          <p:cNvPr id="163"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164" name=""/>
          <p:cNvSpPr txBox="1"/>
          <p:nvPr/>
        </p:nvSpPr>
        <p:spPr>
          <a:xfrm>
            <a:off x="914400" y="409680"/>
            <a:ext cx="3856680" cy="299160"/>
          </a:xfrm>
          <a:prstGeom prst="rect">
            <a:avLst/>
          </a:prstGeom>
          <a:noFill/>
          <a:ln w="0">
            <a:noFill/>
          </a:ln>
        </p:spPr>
        <p:txBody>
          <a:bodyPr wrap="none" lIns="0" tIns="0" rIns="0" bIns="0" anchor="t">
            <a:spAutoFit/>
          </a:bodyPr>
          <a:p>
            <a:pPr/>
            <a:r>
              <a:rPr lang="en-US" sz="1950" b="1" u="none" strike="noStrike">
                <a:solidFill>
                  <a:srgbClr val="111111"/>
                </a:solidFill>
                <a:effectLst/>
                <a:uFillTx/>
                <a:latin typeface="NotoSansJPThin"/>
                <a:ea typeface="NotoSansJPThin"/>
              </a:rPr>
              <a:t>Transformer</a:t>
            </a:r>
            <a:r>
              <a:rPr lang="ja-JP" sz="1950" b="1" u="none" strike="noStrike">
                <a:solidFill>
                  <a:srgbClr val="111111"/>
                </a:solidFill>
                <a:effectLst/>
                <a:uFillTx/>
                <a:latin typeface="NotoSansJPThin"/>
                <a:ea typeface="NotoSansJPThin"/>
              </a:rPr>
              <a:t>の詳細：</a:t>
            </a:r>
            <a:r>
              <a:rPr lang="en-US" sz="1950" b="1" u="none" strike="noStrike">
                <a:solidFill>
                  <a:srgbClr val="111111"/>
                </a:solidFill>
                <a:effectLst/>
                <a:uFillTx/>
                <a:latin typeface="NotoSansJPThin"/>
                <a:ea typeface="NotoSansJPThin"/>
              </a:rPr>
              <a:t>Attention</a:t>
            </a:r>
            <a:r>
              <a:rPr lang="ja-JP" sz="1950" b="1" u="none" strike="noStrike">
                <a:solidFill>
                  <a:srgbClr val="111111"/>
                </a:solidFill>
                <a:effectLst/>
                <a:uFillTx/>
                <a:latin typeface="NotoSansJPThin"/>
                <a:ea typeface="NotoSansJPThin"/>
              </a:rPr>
              <a:t>機構</a:t>
            </a:r>
            <a:endParaRPr lang="en-US" sz="1950" b="0" u="none" strike="noStrike">
              <a:solidFill>
                <a:srgbClr val="000000"/>
              </a:solidFill>
              <a:effectLst/>
              <a:uFillTx/>
              <a:latin typeface="Noto Serif JP"/>
            </a:endParaRPr>
          </a:p>
        </p:txBody>
      </p:sp>
      <p:sp>
        <p:nvSpPr>
          <p:cNvPr id="165" name=""/>
          <p:cNvSpPr txBox="1"/>
          <p:nvPr/>
        </p:nvSpPr>
        <p:spPr>
          <a:xfrm>
            <a:off x="1976400" y="221364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Q</a:t>
            </a:r>
            <a:endParaRPr lang="en-US" sz="2220" b="0" u="none" strike="noStrike">
              <a:solidFill>
                <a:srgbClr val="000000"/>
              </a:solidFill>
              <a:effectLst/>
              <a:uFillTx/>
              <a:latin typeface="Noto Serif JP"/>
            </a:endParaRPr>
          </a:p>
        </p:txBody>
      </p:sp>
      <p:sp>
        <p:nvSpPr>
          <p:cNvPr id="166" name=""/>
          <p:cNvSpPr txBox="1"/>
          <p:nvPr/>
        </p:nvSpPr>
        <p:spPr>
          <a:xfrm>
            <a:off x="3138120" y="221364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K</a:t>
            </a:r>
            <a:endParaRPr lang="en-US" sz="2220" b="0" u="none" strike="noStrike">
              <a:solidFill>
                <a:srgbClr val="000000"/>
              </a:solidFill>
              <a:effectLst/>
              <a:uFillTx/>
              <a:latin typeface="Noto Serif JP"/>
            </a:endParaRPr>
          </a:p>
        </p:txBody>
      </p:sp>
      <p:sp>
        <p:nvSpPr>
          <p:cNvPr id="167" name=""/>
          <p:cNvSpPr txBox="1"/>
          <p:nvPr/>
        </p:nvSpPr>
        <p:spPr>
          <a:xfrm>
            <a:off x="4845240" y="221364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V</a:t>
            </a:r>
            <a:endParaRPr lang="en-US" sz="2220" b="0" u="none" strike="noStrike">
              <a:solidFill>
                <a:srgbClr val="000000"/>
              </a:solidFill>
              <a:effectLst/>
              <a:uFillTx/>
              <a:latin typeface="Noto Serif JP"/>
            </a:endParaRPr>
          </a:p>
        </p:txBody>
      </p:sp>
      <p:sp>
        <p:nvSpPr>
          <p:cNvPr id="168" name=""/>
          <p:cNvSpPr txBox="1"/>
          <p:nvPr/>
        </p:nvSpPr>
        <p:spPr>
          <a:xfrm>
            <a:off x="5187600" y="268992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d</a:t>
            </a:r>
            <a:endParaRPr lang="en-US" sz="2220" b="0" u="none" strike="noStrike">
              <a:solidFill>
                <a:srgbClr val="000000"/>
              </a:solidFill>
              <a:effectLst/>
              <a:uFillTx/>
              <a:latin typeface="Noto Serif JP"/>
            </a:endParaRPr>
          </a:p>
        </p:txBody>
      </p:sp>
      <p:sp>
        <p:nvSpPr>
          <p:cNvPr id="169" name=""/>
          <p:cNvSpPr/>
          <p:nvPr/>
        </p:nvSpPr>
        <p:spPr>
          <a:xfrm>
            <a:off x="4973040" y="2746440"/>
            <a:ext cx="523080" cy="282240"/>
          </a:xfrm>
          <a:custGeom>
            <a:avLst/>
            <a:gdLst/>
            <a:ahLst/>
            <a:rect l="0" t="0" r="r" b="b"/>
            <a:pathLst>
              <a:path w="1453" h="784">
                <a:moveTo>
                  <a:pt x="18" y="487"/>
                </a:moveTo>
                <a:cubicBezTo>
                  <a:pt x="16" y="487"/>
                  <a:pt x="13" y="485"/>
                  <a:pt x="8" y="481"/>
                </a:cubicBezTo>
                <a:cubicBezTo>
                  <a:pt x="3" y="476"/>
                  <a:pt x="0" y="473"/>
                  <a:pt x="0" y="470"/>
                </a:cubicBezTo>
                <a:cubicBezTo>
                  <a:pt x="0" y="468"/>
                  <a:pt x="0" y="467"/>
                  <a:pt x="1" y="466"/>
                </a:cubicBezTo>
                <a:cubicBezTo>
                  <a:pt x="2" y="464"/>
                  <a:pt x="20" y="450"/>
                  <a:pt x="54" y="424"/>
                </a:cubicBezTo>
                <a:cubicBezTo>
                  <a:pt x="88" y="398"/>
                  <a:pt x="105" y="385"/>
                  <a:pt x="106" y="384"/>
                </a:cubicBezTo>
                <a:cubicBezTo>
                  <a:pt x="107" y="383"/>
                  <a:pt x="108" y="383"/>
                  <a:pt x="110" y="383"/>
                </a:cubicBezTo>
                <a:cubicBezTo>
                  <a:pt x="113" y="383"/>
                  <a:pt x="117" y="385"/>
                  <a:pt x="119" y="391"/>
                </a:cubicBezTo>
                <a:cubicBezTo>
                  <a:pt x="122" y="396"/>
                  <a:pt x="254" y="687"/>
                  <a:pt x="254" y="687"/>
                </a:cubicBezTo>
                <a:cubicBezTo>
                  <a:pt x="255" y="687"/>
                  <a:pt x="282" y="632"/>
                  <a:pt x="336" y="520"/>
                </a:cubicBezTo>
                <a:cubicBezTo>
                  <a:pt x="390" y="409"/>
                  <a:pt x="443" y="297"/>
                  <a:pt x="497" y="184"/>
                </a:cubicBezTo>
                <a:cubicBezTo>
                  <a:pt x="551" y="71"/>
                  <a:pt x="579" y="14"/>
                  <a:pt x="581" y="11"/>
                </a:cubicBezTo>
                <a:cubicBezTo>
                  <a:pt x="585" y="4"/>
                  <a:pt x="590" y="0"/>
                  <a:pt x="596" y="0"/>
                </a:cubicBezTo>
                <a:lnTo>
                  <a:pt x="1453" y="0"/>
                </a:lnTo>
                <a:lnTo>
                  <a:pt x="1453" y="31"/>
                </a:lnTo>
                <a:lnTo>
                  <a:pt x="605" y="31"/>
                </a:lnTo>
                <a:lnTo>
                  <a:pt x="429" y="397"/>
                </a:lnTo>
                <a:lnTo>
                  <a:pt x="245" y="778"/>
                </a:lnTo>
                <a:cubicBezTo>
                  <a:pt x="243" y="782"/>
                  <a:pt x="238" y="784"/>
                  <a:pt x="230" y="784"/>
                </a:cubicBezTo>
                <a:cubicBezTo>
                  <a:pt x="226" y="784"/>
                  <a:pt x="222" y="783"/>
                  <a:pt x="221" y="781"/>
                </a:cubicBezTo>
                <a:cubicBezTo>
                  <a:pt x="219" y="780"/>
                  <a:pt x="69" y="450"/>
                  <a:pt x="69" y="450"/>
                </a:cubicBezTo>
                <a:lnTo>
                  <a:pt x="18" y="487"/>
                </a:ln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170" name=""/>
          <p:cNvSpPr txBox="1"/>
          <p:nvPr/>
        </p:nvSpPr>
        <p:spPr>
          <a:xfrm>
            <a:off x="5362200" y="282240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k</a:t>
            </a:r>
            <a:endParaRPr lang="en-US" sz="1560" b="0" u="none" strike="noStrike">
              <a:solidFill>
                <a:srgbClr val="000000"/>
              </a:solidFill>
              <a:effectLst/>
              <a:uFillTx/>
              <a:latin typeface="Noto Serif JP"/>
            </a:endParaRPr>
          </a:p>
        </p:txBody>
      </p:sp>
      <p:sp>
        <p:nvSpPr>
          <p:cNvPr id="171" name=""/>
          <p:cNvSpPr txBox="1"/>
          <p:nvPr/>
        </p:nvSpPr>
        <p:spPr>
          <a:xfrm>
            <a:off x="1085760" y="485208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d</a:t>
            </a:r>
            <a:endParaRPr lang="en-US" sz="2220" b="0" u="none" strike="noStrike">
              <a:solidFill>
                <a:srgbClr val="000000"/>
              </a:solidFill>
              <a:effectLst/>
              <a:uFillTx/>
              <a:latin typeface="Noto Serif JP"/>
            </a:endParaRPr>
          </a:p>
        </p:txBody>
      </p:sp>
      <p:sp>
        <p:nvSpPr>
          <p:cNvPr id="172" name=""/>
          <p:cNvSpPr txBox="1"/>
          <p:nvPr/>
        </p:nvSpPr>
        <p:spPr>
          <a:xfrm>
            <a:off x="1260720" y="497484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k</a:t>
            </a:r>
            <a:endParaRPr lang="en-US" sz="1560" b="0" u="none" strike="noStrike">
              <a:solidFill>
                <a:srgbClr val="000000"/>
              </a:solidFill>
              <a:effectLst/>
              <a:uFillTx/>
              <a:latin typeface="Noto Serif JP"/>
            </a:endParaRPr>
          </a:p>
        </p:txBody>
      </p:sp>
      <p:sp>
        <p:nvSpPr>
          <p:cNvPr id="173" name=""/>
          <p:cNvSpPr txBox="1"/>
          <p:nvPr/>
        </p:nvSpPr>
        <p:spPr>
          <a:xfrm>
            <a:off x="11946600" y="6458040"/>
            <a:ext cx="304560" cy="366120"/>
          </a:xfrm>
          <a:prstGeom prst="rect">
            <a:avLst/>
          </a:prstGeom>
          <a:noFill/>
          <a:ln w="0">
            <a:noFill/>
          </a:ln>
        </p:spPr>
        <p:txBody>
          <a:bodyPr wrap="none" lIns="0" tIns="0" rIns="0" bIns="0" anchor="t">
            <a:spAutoFit/>
          </a:bodyPr>
          <a:p>
            <a:pPr/>
            <a:r>
              <a:rPr lang="en-US" sz="2400" b="0" u="none" strike="noStrike">
                <a:solidFill>
                  <a:srgbClr val="111111"/>
                </a:solidFill>
                <a:effectLst/>
                <a:uFillTx/>
                <a:latin typeface="NotoSansJP"/>
                <a:ea typeface="NotoSansJP"/>
              </a:rPr>
              <a:t>7</a:t>
            </a:r>
            <a:endParaRPr lang="en-US" sz="2400" b="0" u="none" strike="noStrike">
              <a:solidFill>
                <a:srgbClr val="000000"/>
              </a:solidFill>
              <a:effectLst/>
              <a:uFillTx/>
              <a:latin typeface="Noto Serif JP"/>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17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17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177"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0"/>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178"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179" name=""/>
          <p:cNvSpPr txBox="1"/>
          <p:nvPr/>
        </p:nvSpPr>
        <p:spPr>
          <a:xfrm>
            <a:off x="533520" y="942840"/>
            <a:ext cx="849384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単一の</a:t>
            </a:r>
            <a:r>
              <a:rPr lang="en-US" sz="2170" b="0" u="none" strike="noStrike">
                <a:solidFill>
                  <a:srgbClr val="111111"/>
                </a:solidFill>
                <a:effectLst/>
                <a:uFillTx/>
                <a:latin typeface="NotoSansJP"/>
                <a:ea typeface="NotoSansJP"/>
              </a:rPr>
              <a:t>Attention</a:t>
            </a:r>
            <a:r>
              <a:rPr lang="ja-JP" sz="2170" b="0" u="none" strike="noStrike">
                <a:solidFill>
                  <a:srgbClr val="111111"/>
                </a:solidFill>
                <a:effectLst/>
                <a:uFillTx/>
                <a:latin typeface="NotoSansJP"/>
                <a:ea typeface="NotoSansJP"/>
              </a:rPr>
              <a:t>ではなく、複数の</a:t>
            </a:r>
            <a:r>
              <a:rPr lang="en-US" sz="2170" b="0" u="none" strike="noStrike">
                <a:solidFill>
                  <a:srgbClr val="111111"/>
                </a:solidFill>
                <a:effectLst/>
                <a:uFillTx/>
                <a:latin typeface="NotoSansJP"/>
                <a:ea typeface="NotoSansJP"/>
              </a:rPr>
              <a:t>Attention</a:t>
            </a:r>
            <a:r>
              <a:rPr lang="ja-JP" sz="2170" b="0" u="none" strike="noStrike">
                <a:solidFill>
                  <a:srgbClr val="111111"/>
                </a:solidFill>
                <a:effectLst/>
                <a:uFillTx/>
                <a:latin typeface="NotoSansJP"/>
                <a:ea typeface="NotoSansJP"/>
              </a:rPr>
              <a:t>機構を並列実行します。</a:t>
            </a:r>
            <a:endParaRPr lang="en-US" sz="2170" b="0" u="none" strike="noStrike">
              <a:solidFill>
                <a:srgbClr val="000000"/>
              </a:solidFill>
              <a:effectLst/>
              <a:uFillTx/>
              <a:latin typeface="Noto Serif JP"/>
            </a:endParaRPr>
          </a:p>
        </p:txBody>
      </p:sp>
      <p:sp>
        <p:nvSpPr>
          <p:cNvPr id="180" name=""/>
          <p:cNvSpPr/>
          <p:nvPr/>
        </p:nvSpPr>
        <p:spPr>
          <a:xfrm>
            <a:off x="1361880" y="1990440"/>
            <a:ext cx="105120" cy="105120"/>
          </a:xfrm>
          <a:custGeom>
            <a:avLst/>
            <a:gdLst/>
            <a:ahLst/>
            <a:rect l="0" t="0" r="r" b="b"/>
            <a:pathLst>
              <a:path w="292" h="292">
                <a:moveTo>
                  <a:pt x="292" y="147"/>
                </a:moveTo>
                <a:cubicBezTo>
                  <a:pt x="292" y="156"/>
                  <a:pt x="291" y="166"/>
                  <a:pt x="289" y="175"/>
                </a:cubicBezTo>
                <a:cubicBezTo>
                  <a:pt x="287" y="185"/>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5"/>
                  <a:pt x="3" y="175"/>
                </a:cubicBezTo>
                <a:cubicBezTo>
                  <a:pt x="1" y="166"/>
                  <a:pt x="0" y="156"/>
                  <a:pt x="0" y="147"/>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181" name=""/>
          <p:cNvSpPr txBox="1"/>
          <p:nvPr/>
        </p:nvSpPr>
        <p:spPr>
          <a:xfrm>
            <a:off x="1085760" y="1457280"/>
            <a:ext cx="552240" cy="331200"/>
          </a:xfrm>
          <a:prstGeom prst="rect">
            <a:avLst/>
          </a:prstGeom>
          <a:noFill/>
          <a:ln w="0">
            <a:noFill/>
          </a:ln>
        </p:spPr>
        <p:txBody>
          <a:bodyPr wrap="none" lIns="0" tIns="0" rIns="0" bIns="0" anchor="t">
            <a:spAutoFit/>
          </a:bodyPr>
          <a:p>
            <a:pPr/>
            <a:r>
              <a:rPr lang="ja-JP" sz="2170" b="1" u="none" strike="noStrike">
                <a:solidFill>
                  <a:srgbClr val="111111"/>
                </a:solidFill>
                <a:effectLst/>
                <a:uFillTx/>
                <a:latin typeface="NotoSansJPThin"/>
                <a:ea typeface="NotoSansJPThin"/>
              </a:rPr>
              <a:t>目的</a:t>
            </a:r>
            <a:endParaRPr lang="en-US" sz="2170" b="0" u="none" strike="noStrike">
              <a:solidFill>
                <a:srgbClr val="000000"/>
              </a:solidFill>
              <a:effectLst/>
              <a:uFillTx/>
              <a:latin typeface="Noto Serif JP"/>
            </a:endParaRPr>
          </a:p>
        </p:txBody>
      </p:sp>
      <p:sp>
        <p:nvSpPr>
          <p:cNvPr id="182" name=""/>
          <p:cNvSpPr/>
          <p:nvPr/>
        </p:nvSpPr>
        <p:spPr>
          <a:xfrm>
            <a:off x="1361880" y="247644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7"/>
                  <a:pt x="7" y="98"/>
                  <a:pt x="11" y="89"/>
                </a:cubicBezTo>
                <a:cubicBezTo>
                  <a:pt x="15" y="81"/>
                  <a:pt x="19" y="72"/>
                  <a:pt x="25" y="64"/>
                </a:cubicBezTo>
                <a:cubicBezTo>
                  <a:pt x="30" y="56"/>
                  <a:pt x="36" y="49"/>
                  <a:pt x="43" y="42"/>
                </a:cubicBezTo>
                <a:cubicBezTo>
                  <a:pt x="49" y="36"/>
                  <a:pt x="57" y="29"/>
                  <a:pt x="65" y="24"/>
                </a:cubicBezTo>
                <a:cubicBezTo>
                  <a:pt x="73" y="19"/>
                  <a:pt x="81" y="14"/>
                  <a:pt x="90" y="11"/>
                </a:cubicBezTo>
                <a:cubicBezTo>
                  <a:pt x="99" y="7"/>
                  <a:pt x="108" y="4"/>
                  <a:pt x="117" y="2"/>
                </a:cubicBezTo>
                <a:cubicBezTo>
                  <a:pt x="127" y="1"/>
                  <a:pt x="136" y="0"/>
                  <a:pt x="147" y="0"/>
                </a:cubicBezTo>
                <a:cubicBezTo>
                  <a:pt x="156" y="0"/>
                  <a:pt x="166" y="1"/>
                  <a:pt x="175" y="2"/>
                </a:cubicBezTo>
                <a:cubicBezTo>
                  <a:pt x="184" y="4"/>
                  <a:pt x="193" y="7"/>
                  <a:pt x="202" y="11"/>
                </a:cubicBezTo>
                <a:cubicBezTo>
                  <a:pt x="211" y="14"/>
                  <a:pt x="219" y="19"/>
                  <a:pt x="227" y="24"/>
                </a:cubicBezTo>
                <a:cubicBezTo>
                  <a:pt x="235" y="29"/>
                  <a:pt x="243" y="36"/>
                  <a:pt x="249" y="42"/>
                </a:cubicBezTo>
                <a:cubicBezTo>
                  <a:pt x="256" y="49"/>
                  <a:pt x="262" y="56"/>
                  <a:pt x="268" y="64"/>
                </a:cubicBezTo>
                <a:cubicBezTo>
                  <a:pt x="273" y="72"/>
                  <a:pt x="277" y="81"/>
                  <a:pt x="281" y="89"/>
                </a:cubicBezTo>
                <a:cubicBezTo>
                  <a:pt x="285" y="98"/>
                  <a:pt x="287" y="107"/>
                  <a:pt x="289" y="117"/>
                </a:cubicBezTo>
                <a:cubicBezTo>
                  <a:pt x="291" y="126"/>
                  <a:pt x="292" y="136"/>
                  <a:pt x="292" y="145"/>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183" name=""/>
          <p:cNvSpPr txBox="1"/>
          <p:nvPr/>
        </p:nvSpPr>
        <p:spPr>
          <a:xfrm>
            <a:off x="1638360" y="1866960"/>
            <a:ext cx="910368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モデルが異なる表現部分空間から情報を共同で捉えることを可能にする。</a:t>
            </a:r>
            <a:endParaRPr lang="en-US" sz="2170" b="0" u="none" strike="noStrike">
              <a:solidFill>
                <a:srgbClr val="000000"/>
              </a:solidFill>
              <a:effectLst/>
              <a:uFillTx/>
              <a:latin typeface="Noto Serif JP"/>
            </a:endParaRPr>
          </a:p>
        </p:txBody>
      </p:sp>
      <p:sp>
        <p:nvSpPr>
          <p:cNvPr id="184" name=""/>
          <p:cNvSpPr/>
          <p:nvPr/>
        </p:nvSpPr>
        <p:spPr>
          <a:xfrm>
            <a:off x="809280" y="2962080"/>
            <a:ext cx="105120" cy="105120"/>
          </a:xfrm>
          <a:custGeom>
            <a:avLst/>
            <a:gdLst/>
            <a:ahLst/>
            <a:rect l="0" t="0" r="r" b="b"/>
            <a:pathLst>
              <a:path w="292" h="292">
                <a:moveTo>
                  <a:pt x="292" y="147"/>
                </a:moveTo>
                <a:cubicBezTo>
                  <a:pt x="292" y="156"/>
                  <a:pt x="292" y="166"/>
                  <a:pt x="290" y="175"/>
                </a:cubicBezTo>
                <a:cubicBezTo>
                  <a:pt x="288" y="184"/>
                  <a:pt x="285" y="193"/>
                  <a:pt x="281" y="202"/>
                </a:cubicBezTo>
                <a:cubicBezTo>
                  <a:pt x="278" y="211"/>
                  <a:pt x="273" y="219"/>
                  <a:pt x="268" y="227"/>
                </a:cubicBezTo>
                <a:cubicBezTo>
                  <a:pt x="263" y="235"/>
                  <a:pt x="257" y="243"/>
                  <a:pt x="250" y="249"/>
                </a:cubicBezTo>
                <a:cubicBezTo>
                  <a:pt x="243" y="256"/>
                  <a:pt x="236" y="262"/>
                  <a:pt x="228" y="268"/>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8"/>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6"/>
                  <a:pt x="0" y="156"/>
                  <a:pt x="0" y="147"/>
                </a:cubicBezTo>
                <a:cubicBezTo>
                  <a:pt x="0" y="137"/>
                  <a:pt x="1" y="128"/>
                  <a:pt x="3" y="118"/>
                </a:cubicBezTo>
                <a:cubicBezTo>
                  <a:pt x="5" y="109"/>
                  <a:pt x="8" y="100"/>
                  <a:pt x="12" y="91"/>
                </a:cubicBezTo>
                <a:cubicBezTo>
                  <a:pt x="15" y="82"/>
                  <a:pt x="20" y="74"/>
                  <a:pt x="25" y="65"/>
                </a:cubicBezTo>
                <a:cubicBezTo>
                  <a:pt x="30" y="57"/>
                  <a:pt x="36" y="49"/>
                  <a:pt x="43" y="43"/>
                </a:cubicBezTo>
                <a:cubicBezTo>
                  <a:pt x="50" y="36"/>
                  <a:pt x="57" y="30"/>
                  <a:pt x="65" y="25"/>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5"/>
                </a:cubicBezTo>
                <a:cubicBezTo>
                  <a:pt x="236" y="30"/>
                  <a:pt x="243" y="36"/>
                  <a:pt x="250" y="43"/>
                </a:cubicBezTo>
                <a:cubicBezTo>
                  <a:pt x="257" y="49"/>
                  <a:pt x="263" y="57"/>
                  <a:pt x="268" y="65"/>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185" name=""/>
          <p:cNvSpPr txBox="1"/>
          <p:nvPr/>
        </p:nvSpPr>
        <p:spPr>
          <a:xfrm>
            <a:off x="1638360" y="2352600"/>
            <a:ext cx="976392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単一</a:t>
            </a:r>
            <a:r>
              <a:rPr lang="en-US" sz="2170" b="0" u="none" strike="noStrike">
                <a:solidFill>
                  <a:srgbClr val="111111"/>
                </a:solidFill>
                <a:effectLst/>
                <a:uFillTx/>
                <a:latin typeface="NotoSansJP"/>
                <a:ea typeface="NotoSansJP"/>
              </a:rPr>
              <a:t>Attention</a:t>
            </a:r>
            <a:r>
              <a:rPr lang="ja-JP" sz="2170" b="0" u="none" strike="noStrike">
                <a:solidFill>
                  <a:srgbClr val="111111"/>
                </a:solidFill>
                <a:effectLst/>
                <a:uFillTx/>
                <a:latin typeface="NotoSansJP"/>
                <a:ea typeface="NotoSansJP"/>
              </a:rPr>
              <a:t>ヘッドでは、平均化により多様な情報が抑制される問題を解決。</a:t>
            </a:r>
            <a:endParaRPr lang="en-US" sz="2170" b="0" u="none" strike="noStrike">
              <a:solidFill>
                <a:srgbClr val="000000"/>
              </a:solidFill>
              <a:effectLst/>
              <a:uFillTx/>
              <a:latin typeface="Noto Serif JP"/>
            </a:endParaRPr>
          </a:p>
        </p:txBody>
      </p:sp>
      <p:sp>
        <p:nvSpPr>
          <p:cNvPr id="186" name=""/>
          <p:cNvSpPr/>
          <p:nvPr/>
        </p:nvSpPr>
        <p:spPr>
          <a:xfrm>
            <a:off x="1361880" y="337176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2"/>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9"/>
                  <a:pt x="7" y="99"/>
                  <a:pt x="11" y="90"/>
                </a:cubicBezTo>
                <a:cubicBezTo>
                  <a:pt x="15" y="81"/>
                  <a:pt x="19" y="72"/>
                  <a:pt x="25" y="64"/>
                </a:cubicBezTo>
                <a:cubicBezTo>
                  <a:pt x="30" y="56"/>
                  <a:pt x="36" y="49"/>
                  <a:pt x="43" y="42"/>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2"/>
                </a:cubicBezTo>
                <a:cubicBezTo>
                  <a:pt x="256" y="49"/>
                  <a:pt x="262" y="56"/>
                  <a:pt x="268" y="64"/>
                </a:cubicBezTo>
                <a:cubicBezTo>
                  <a:pt x="273" y="72"/>
                  <a:pt x="277" y="81"/>
                  <a:pt x="281" y="90"/>
                </a:cubicBezTo>
                <a:cubicBezTo>
                  <a:pt x="285" y="99"/>
                  <a:pt x="287" y="109"/>
                  <a:pt x="289" y="118"/>
                </a:cubicBezTo>
                <a:cubicBezTo>
                  <a:pt x="291" y="127"/>
                  <a:pt x="292" y="137"/>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187" name=""/>
          <p:cNvSpPr txBox="1"/>
          <p:nvPr/>
        </p:nvSpPr>
        <p:spPr>
          <a:xfrm>
            <a:off x="1085760" y="2838600"/>
            <a:ext cx="828360" cy="331200"/>
          </a:xfrm>
          <a:prstGeom prst="rect">
            <a:avLst/>
          </a:prstGeom>
          <a:noFill/>
          <a:ln w="0">
            <a:noFill/>
          </a:ln>
        </p:spPr>
        <p:txBody>
          <a:bodyPr wrap="none" lIns="0" tIns="0" rIns="0" bIns="0" anchor="t">
            <a:spAutoFit/>
          </a:bodyPr>
          <a:p>
            <a:pPr/>
            <a:r>
              <a:rPr lang="ja-JP" sz="2170" b="1" u="none" strike="noStrike">
                <a:solidFill>
                  <a:srgbClr val="111111"/>
                </a:solidFill>
                <a:effectLst/>
                <a:uFillTx/>
                <a:latin typeface="NotoSansJPThin"/>
                <a:ea typeface="NotoSansJPThin"/>
              </a:rPr>
              <a:t>仕組み</a:t>
            </a:r>
            <a:endParaRPr lang="en-US" sz="2170" b="0" u="none" strike="noStrike">
              <a:solidFill>
                <a:srgbClr val="000000"/>
              </a:solidFill>
              <a:effectLst/>
              <a:uFillTx/>
              <a:latin typeface="Noto Serif JP"/>
            </a:endParaRPr>
          </a:p>
        </p:txBody>
      </p:sp>
      <p:sp>
        <p:nvSpPr>
          <p:cNvPr id="188" name=""/>
          <p:cNvSpPr txBox="1"/>
          <p:nvPr/>
        </p:nvSpPr>
        <p:spPr>
          <a:xfrm>
            <a:off x="2524680" y="3247920"/>
            <a:ext cx="150336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をそれぞれ </a:t>
            </a:r>
            <a:endParaRPr lang="en-US" sz="2170" b="0" u="none" strike="noStrike">
              <a:solidFill>
                <a:srgbClr val="000000"/>
              </a:solidFill>
              <a:effectLst/>
              <a:uFillTx/>
              <a:latin typeface="Noto Serif JP"/>
            </a:endParaRPr>
          </a:p>
        </p:txBody>
      </p:sp>
      <p:sp>
        <p:nvSpPr>
          <p:cNvPr id="189" name=""/>
          <p:cNvSpPr txBox="1"/>
          <p:nvPr/>
        </p:nvSpPr>
        <p:spPr>
          <a:xfrm>
            <a:off x="4200840" y="3247920"/>
            <a:ext cx="398628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回、異なる学習済み線形射影で </a:t>
            </a:r>
            <a:endParaRPr lang="en-US" sz="2170" b="0" u="none" strike="noStrike">
              <a:solidFill>
                <a:srgbClr val="000000"/>
              </a:solidFill>
              <a:effectLst/>
              <a:uFillTx/>
              <a:latin typeface="Noto Serif JP"/>
            </a:endParaRPr>
          </a:p>
        </p:txBody>
      </p:sp>
      <p:sp>
        <p:nvSpPr>
          <p:cNvPr id="190" name=""/>
          <p:cNvSpPr/>
          <p:nvPr/>
        </p:nvSpPr>
        <p:spPr>
          <a:xfrm>
            <a:off x="1361880" y="3857400"/>
            <a:ext cx="105120" cy="105120"/>
          </a:xfrm>
          <a:custGeom>
            <a:avLst/>
            <a:gdLst/>
            <a:ahLst/>
            <a:rect l="0" t="0" r="r" b="b"/>
            <a:pathLst>
              <a:path w="292" h="292">
                <a:moveTo>
                  <a:pt x="292" y="146"/>
                </a:moveTo>
                <a:cubicBezTo>
                  <a:pt x="292" y="155"/>
                  <a:pt x="291" y="165"/>
                  <a:pt x="289" y="174"/>
                </a:cubicBezTo>
                <a:cubicBezTo>
                  <a:pt x="287" y="183"/>
                  <a:pt x="285" y="193"/>
                  <a:pt x="281" y="202"/>
                </a:cubicBezTo>
                <a:cubicBezTo>
                  <a:pt x="277" y="211"/>
                  <a:pt x="273" y="220"/>
                  <a:pt x="268" y="227"/>
                </a:cubicBezTo>
                <a:cubicBezTo>
                  <a:pt x="262" y="235"/>
                  <a:pt x="256" y="243"/>
                  <a:pt x="249" y="250"/>
                </a:cubicBezTo>
                <a:cubicBezTo>
                  <a:pt x="243" y="256"/>
                  <a:pt x="235" y="262"/>
                  <a:pt x="227" y="268"/>
                </a:cubicBezTo>
                <a:cubicBezTo>
                  <a:pt x="219" y="273"/>
                  <a:pt x="211" y="277"/>
                  <a:pt x="202" y="281"/>
                </a:cubicBezTo>
                <a:cubicBezTo>
                  <a:pt x="193" y="285"/>
                  <a:pt x="184" y="288"/>
                  <a:pt x="175" y="289"/>
                </a:cubicBezTo>
                <a:cubicBezTo>
                  <a:pt x="166" y="291"/>
                  <a:pt x="156" y="292"/>
                  <a:pt x="147" y="292"/>
                </a:cubicBezTo>
                <a:cubicBezTo>
                  <a:pt x="136" y="292"/>
                  <a:pt x="127" y="291"/>
                  <a:pt x="117" y="289"/>
                </a:cubicBezTo>
                <a:cubicBezTo>
                  <a:pt x="108" y="288"/>
                  <a:pt x="99" y="285"/>
                  <a:pt x="90" y="281"/>
                </a:cubicBezTo>
                <a:cubicBezTo>
                  <a:pt x="81" y="277"/>
                  <a:pt x="73" y="273"/>
                  <a:pt x="65" y="268"/>
                </a:cubicBezTo>
                <a:cubicBezTo>
                  <a:pt x="57" y="262"/>
                  <a:pt x="49" y="256"/>
                  <a:pt x="43" y="250"/>
                </a:cubicBezTo>
                <a:cubicBezTo>
                  <a:pt x="36" y="243"/>
                  <a:pt x="30" y="235"/>
                  <a:pt x="25" y="227"/>
                </a:cubicBezTo>
                <a:cubicBezTo>
                  <a:pt x="19" y="220"/>
                  <a:pt x="15" y="211"/>
                  <a:pt x="11" y="202"/>
                </a:cubicBezTo>
                <a:cubicBezTo>
                  <a:pt x="7" y="193"/>
                  <a:pt x="5" y="183"/>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19"/>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19"/>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191" name=""/>
          <p:cNvSpPr txBox="1"/>
          <p:nvPr/>
        </p:nvSpPr>
        <p:spPr>
          <a:xfrm>
            <a:off x="9348480" y="3247920"/>
            <a:ext cx="171756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次元に射影。</a:t>
            </a:r>
            <a:endParaRPr lang="en-US" sz="2170" b="0" u="none" strike="noStrike">
              <a:solidFill>
                <a:srgbClr val="000000"/>
              </a:solidFill>
              <a:effectLst/>
              <a:uFillTx/>
              <a:latin typeface="Noto Serif JP"/>
            </a:endParaRPr>
          </a:p>
        </p:txBody>
      </p:sp>
      <p:sp>
        <p:nvSpPr>
          <p:cNvPr id="192" name=""/>
          <p:cNvSpPr/>
          <p:nvPr/>
        </p:nvSpPr>
        <p:spPr>
          <a:xfrm>
            <a:off x="1361880" y="4343040"/>
            <a:ext cx="105120" cy="105480"/>
          </a:xfrm>
          <a:custGeom>
            <a:avLst/>
            <a:gdLst/>
            <a:ahLst/>
            <a:rect l="0" t="0" r="r" b="b"/>
            <a:pathLst>
              <a:path w="292" h="293">
                <a:moveTo>
                  <a:pt x="292" y="147"/>
                </a:moveTo>
                <a:cubicBezTo>
                  <a:pt x="292" y="157"/>
                  <a:pt x="291" y="166"/>
                  <a:pt x="289" y="175"/>
                </a:cubicBezTo>
                <a:cubicBezTo>
                  <a:pt x="287" y="185"/>
                  <a:pt x="285" y="194"/>
                  <a:pt x="281" y="203"/>
                </a:cubicBezTo>
                <a:cubicBezTo>
                  <a:pt x="277" y="212"/>
                  <a:pt x="273" y="220"/>
                  <a:pt x="268" y="228"/>
                </a:cubicBezTo>
                <a:cubicBezTo>
                  <a:pt x="262" y="236"/>
                  <a:pt x="256" y="243"/>
                  <a:pt x="249" y="250"/>
                </a:cubicBezTo>
                <a:cubicBezTo>
                  <a:pt x="243" y="257"/>
                  <a:pt x="235" y="263"/>
                  <a:pt x="227" y="268"/>
                </a:cubicBezTo>
                <a:cubicBezTo>
                  <a:pt x="219" y="273"/>
                  <a:pt x="211" y="278"/>
                  <a:pt x="202" y="281"/>
                </a:cubicBezTo>
                <a:cubicBezTo>
                  <a:pt x="193" y="285"/>
                  <a:pt x="184" y="288"/>
                  <a:pt x="175" y="290"/>
                </a:cubicBezTo>
                <a:cubicBezTo>
                  <a:pt x="166" y="292"/>
                  <a:pt x="156" y="293"/>
                  <a:pt x="147" y="293"/>
                </a:cubicBezTo>
                <a:cubicBezTo>
                  <a:pt x="136" y="293"/>
                  <a:pt x="127" y="292"/>
                  <a:pt x="117" y="290"/>
                </a:cubicBezTo>
                <a:cubicBezTo>
                  <a:pt x="108" y="288"/>
                  <a:pt x="99" y="285"/>
                  <a:pt x="90" y="281"/>
                </a:cubicBezTo>
                <a:cubicBezTo>
                  <a:pt x="81" y="278"/>
                  <a:pt x="73" y="273"/>
                  <a:pt x="65" y="268"/>
                </a:cubicBezTo>
                <a:cubicBezTo>
                  <a:pt x="57" y="263"/>
                  <a:pt x="49" y="257"/>
                  <a:pt x="43" y="250"/>
                </a:cubicBezTo>
                <a:cubicBezTo>
                  <a:pt x="36" y="243"/>
                  <a:pt x="30" y="236"/>
                  <a:pt x="25" y="228"/>
                </a:cubicBezTo>
                <a:cubicBezTo>
                  <a:pt x="19" y="220"/>
                  <a:pt x="15" y="212"/>
                  <a:pt x="11" y="203"/>
                </a:cubicBezTo>
                <a:cubicBezTo>
                  <a:pt x="7" y="194"/>
                  <a:pt x="5" y="185"/>
                  <a:pt x="3" y="175"/>
                </a:cubicBezTo>
                <a:cubicBezTo>
                  <a:pt x="1" y="166"/>
                  <a:pt x="0" y="157"/>
                  <a:pt x="0" y="147"/>
                </a:cubicBezTo>
                <a:cubicBezTo>
                  <a:pt x="0" y="137"/>
                  <a:pt x="1" y="128"/>
                  <a:pt x="3" y="119"/>
                </a:cubicBezTo>
                <a:cubicBezTo>
                  <a:pt x="5" y="109"/>
                  <a:pt x="7" y="100"/>
                  <a:pt x="11" y="91"/>
                </a:cubicBezTo>
                <a:cubicBezTo>
                  <a:pt x="15" y="83"/>
                  <a:pt x="19" y="74"/>
                  <a:pt x="25" y="66"/>
                </a:cubicBezTo>
                <a:cubicBezTo>
                  <a:pt x="30" y="58"/>
                  <a:pt x="36" y="51"/>
                  <a:pt x="43" y="44"/>
                </a:cubicBezTo>
                <a:cubicBezTo>
                  <a:pt x="49" y="37"/>
                  <a:pt x="57" y="31"/>
                  <a:pt x="65" y="26"/>
                </a:cubicBezTo>
                <a:cubicBezTo>
                  <a:pt x="73" y="21"/>
                  <a:pt x="81" y="16"/>
                  <a:pt x="90" y="12"/>
                </a:cubicBezTo>
                <a:cubicBezTo>
                  <a:pt x="99" y="8"/>
                  <a:pt x="108" y="5"/>
                  <a:pt x="117" y="3"/>
                </a:cubicBezTo>
                <a:cubicBezTo>
                  <a:pt x="127" y="1"/>
                  <a:pt x="136" y="0"/>
                  <a:pt x="147" y="0"/>
                </a:cubicBezTo>
                <a:cubicBezTo>
                  <a:pt x="156" y="0"/>
                  <a:pt x="166" y="1"/>
                  <a:pt x="175" y="3"/>
                </a:cubicBezTo>
                <a:cubicBezTo>
                  <a:pt x="184" y="5"/>
                  <a:pt x="193" y="8"/>
                  <a:pt x="202" y="12"/>
                </a:cubicBezTo>
                <a:cubicBezTo>
                  <a:pt x="211" y="16"/>
                  <a:pt x="219" y="21"/>
                  <a:pt x="227" y="26"/>
                </a:cubicBezTo>
                <a:cubicBezTo>
                  <a:pt x="235" y="31"/>
                  <a:pt x="243" y="37"/>
                  <a:pt x="249" y="44"/>
                </a:cubicBezTo>
                <a:cubicBezTo>
                  <a:pt x="256" y="51"/>
                  <a:pt x="262" y="58"/>
                  <a:pt x="268" y="66"/>
                </a:cubicBezTo>
                <a:cubicBezTo>
                  <a:pt x="273" y="74"/>
                  <a:pt x="277" y="83"/>
                  <a:pt x="281" y="91"/>
                </a:cubicBezTo>
                <a:cubicBezTo>
                  <a:pt x="285" y="100"/>
                  <a:pt x="287" y="109"/>
                  <a:pt x="289" y="119"/>
                </a:cubicBezTo>
                <a:cubicBezTo>
                  <a:pt x="291" y="128"/>
                  <a:pt x="292" y="137"/>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193" name=""/>
          <p:cNvSpPr txBox="1"/>
          <p:nvPr/>
        </p:nvSpPr>
        <p:spPr>
          <a:xfrm>
            <a:off x="1638360" y="3733920"/>
            <a:ext cx="590220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各射影版に対して並列に</a:t>
            </a:r>
            <a:r>
              <a:rPr lang="en-US" sz="2170" b="0" u="none" strike="noStrike">
                <a:solidFill>
                  <a:srgbClr val="111111"/>
                </a:solidFill>
                <a:effectLst/>
                <a:uFillTx/>
                <a:latin typeface="NotoSansJP"/>
                <a:ea typeface="NotoSansJP"/>
              </a:rPr>
              <a:t>Attention</a:t>
            </a:r>
            <a:r>
              <a:rPr lang="ja-JP" sz="2170" b="0" u="none" strike="noStrike">
                <a:solidFill>
                  <a:srgbClr val="111111"/>
                </a:solidFill>
                <a:effectLst/>
                <a:uFillTx/>
                <a:latin typeface="NotoSansJP"/>
                <a:ea typeface="NotoSansJP"/>
              </a:rPr>
              <a:t>関数を実行。</a:t>
            </a:r>
            <a:endParaRPr lang="en-US" sz="2170" b="0" u="none" strike="noStrike">
              <a:solidFill>
                <a:srgbClr val="000000"/>
              </a:solidFill>
              <a:effectLst/>
              <a:uFillTx/>
              <a:latin typeface="Noto Serif JP"/>
            </a:endParaRPr>
          </a:p>
        </p:txBody>
      </p:sp>
      <p:sp>
        <p:nvSpPr>
          <p:cNvPr id="194" name=""/>
          <p:cNvSpPr txBox="1"/>
          <p:nvPr/>
        </p:nvSpPr>
        <p:spPr>
          <a:xfrm>
            <a:off x="1809360" y="4219560"/>
            <a:ext cx="734328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個の</a:t>
            </a:r>
            <a:r>
              <a:rPr lang="en-US" sz="2170" b="0" u="none" strike="noStrike">
                <a:solidFill>
                  <a:srgbClr val="111111"/>
                </a:solidFill>
                <a:effectLst/>
                <a:uFillTx/>
                <a:latin typeface="NotoSansJP"/>
                <a:ea typeface="NotoSansJP"/>
              </a:rPr>
              <a:t>Attention</a:t>
            </a:r>
            <a:r>
              <a:rPr lang="ja-JP" sz="2170" b="0" u="none" strike="noStrike">
                <a:solidFill>
                  <a:srgbClr val="111111"/>
                </a:solidFill>
                <a:effectLst/>
                <a:uFillTx/>
                <a:latin typeface="NotoSansJP"/>
                <a:ea typeface="NotoSansJP"/>
              </a:rPr>
              <a:t>出力を連結し、線形射影で最終出力を得る。</a:t>
            </a:r>
            <a:endParaRPr lang="en-US" sz="2170" b="0" u="none" strike="noStrike">
              <a:solidFill>
                <a:srgbClr val="000000"/>
              </a:solidFill>
              <a:effectLst/>
              <a:uFillTx/>
              <a:latin typeface="Noto Serif JP"/>
            </a:endParaRPr>
          </a:p>
        </p:txBody>
      </p:sp>
      <p:sp>
        <p:nvSpPr>
          <p:cNvPr id="195" name=""/>
          <p:cNvSpPr txBox="1"/>
          <p:nvPr/>
        </p:nvSpPr>
        <p:spPr>
          <a:xfrm>
            <a:off x="2868840" y="4861800"/>
            <a:ext cx="619524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MultiHead(Q, K, V ) = Concat(head , … , head )W</a:t>
            </a:r>
            <a:endParaRPr lang="en-US" sz="2220" b="0" u="none" strike="noStrike">
              <a:solidFill>
                <a:srgbClr val="000000"/>
              </a:solidFill>
              <a:effectLst/>
              <a:uFillTx/>
              <a:latin typeface="Noto Serif JP"/>
            </a:endParaRPr>
          </a:p>
        </p:txBody>
      </p:sp>
      <p:sp>
        <p:nvSpPr>
          <p:cNvPr id="196" name=""/>
          <p:cNvSpPr txBox="1"/>
          <p:nvPr/>
        </p:nvSpPr>
        <p:spPr>
          <a:xfrm>
            <a:off x="7283520" y="498456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1</a:t>
            </a:r>
            <a:endParaRPr lang="en-US" sz="1560" b="0" u="none" strike="noStrike">
              <a:solidFill>
                <a:srgbClr val="000000"/>
              </a:solidFill>
              <a:effectLst/>
              <a:uFillTx/>
              <a:latin typeface="Noto Serif JP"/>
            </a:endParaRPr>
          </a:p>
        </p:txBody>
      </p:sp>
      <p:sp>
        <p:nvSpPr>
          <p:cNvPr id="197" name=""/>
          <p:cNvSpPr txBox="1"/>
          <p:nvPr/>
        </p:nvSpPr>
        <p:spPr>
          <a:xfrm>
            <a:off x="8641800" y="498456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h</a:t>
            </a:r>
            <a:endParaRPr lang="en-US" sz="1560" b="0" u="none" strike="noStrike">
              <a:solidFill>
                <a:srgbClr val="000000"/>
              </a:solidFill>
              <a:effectLst/>
              <a:uFillTx/>
              <a:latin typeface="Noto Serif JP"/>
            </a:endParaRPr>
          </a:p>
        </p:txBody>
      </p:sp>
      <p:sp>
        <p:nvSpPr>
          <p:cNvPr id="198" name=""/>
          <p:cNvSpPr txBox="1"/>
          <p:nvPr/>
        </p:nvSpPr>
        <p:spPr>
          <a:xfrm>
            <a:off x="9157320" y="483192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O</a:t>
            </a:r>
            <a:endParaRPr lang="en-US" sz="1560" b="0" u="none" strike="noStrike">
              <a:solidFill>
                <a:srgbClr val="000000"/>
              </a:solidFill>
              <a:effectLst/>
              <a:uFillTx/>
              <a:latin typeface="Noto Serif JP"/>
            </a:endParaRPr>
          </a:p>
        </p:txBody>
      </p:sp>
      <p:sp>
        <p:nvSpPr>
          <p:cNvPr id="199" name=""/>
          <p:cNvSpPr txBox="1"/>
          <p:nvPr/>
        </p:nvSpPr>
        <p:spPr>
          <a:xfrm>
            <a:off x="3318120" y="5214240"/>
            <a:ext cx="176328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where head =</a:t>
            </a:r>
            <a:endParaRPr lang="en-US" sz="2220" b="0" u="none" strike="noStrike">
              <a:solidFill>
                <a:srgbClr val="000000"/>
              </a:solidFill>
              <a:effectLst/>
              <a:uFillTx/>
              <a:latin typeface="Noto Serif JP"/>
            </a:endParaRPr>
          </a:p>
        </p:txBody>
      </p:sp>
      <p:sp>
        <p:nvSpPr>
          <p:cNvPr id="200" name=""/>
          <p:cNvSpPr txBox="1"/>
          <p:nvPr/>
        </p:nvSpPr>
        <p:spPr>
          <a:xfrm>
            <a:off x="4851000" y="534636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i</a:t>
            </a:r>
            <a:endParaRPr lang="en-US" sz="1560" b="0" u="none" strike="noStrike">
              <a:solidFill>
                <a:srgbClr val="000000"/>
              </a:solidFill>
              <a:effectLst/>
              <a:uFillTx/>
              <a:latin typeface="Noto Serif JP"/>
            </a:endParaRPr>
          </a:p>
        </p:txBody>
      </p:sp>
      <p:sp>
        <p:nvSpPr>
          <p:cNvPr id="201" name=""/>
          <p:cNvSpPr txBox="1"/>
          <p:nvPr/>
        </p:nvSpPr>
        <p:spPr>
          <a:xfrm>
            <a:off x="5231880" y="5214240"/>
            <a:ext cx="326196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Attention(QW , KW , V W )</a:t>
            </a:r>
            <a:endParaRPr lang="en-US" sz="2220" b="0" u="none" strike="noStrike">
              <a:solidFill>
                <a:srgbClr val="000000"/>
              </a:solidFill>
              <a:effectLst/>
              <a:uFillTx/>
              <a:latin typeface="Noto Serif JP"/>
            </a:endParaRPr>
          </a:p>
        </p:txBody>
      </p:sp>
      <p:sp>
        <p:nvSpPr>
          <p:cNvPr id="202" name=""/>
          <p:cNvSpPr txBox="1"/>
          <p:nvPr/>
        </p:nvSpPr>
        <p:spPr>
          <a:xfrm>
            <a:off x="7002000" y="538452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i</a:t>
            </a:r>
            <a:endParaRPr lang="en-US" sz="1560" b="0" u="none" strike="noStrike">
              <a:solidFill>
                <a:srgbClr val="000000"/>
              </a:solidFill>
              <a:effectLst/>
              <a:uFillTx/>
              <a:latin typeface="Noto Serif JP"/>
            </a:endParaRPr>
          </a:p>
        </p:txBody>
      </p:sp>
      <p:sp>
        <p:nvSpPr>
          <p:cNvPr id="203" name=""/>
          <p:cNvSpPr txBox="1"/>
          <p:nvPr/>
        </p:nvSpPr>
        <p:spPr>
          <a:xfrm>
            <a:off x="7040880" y="516528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Q</a:t>
            </a:r>
            <a:endParaRPr lang="en-US" sz="1560" b="0" u="none" strike="noStrike">
              <a:solidFill>
                <a:srgbClr val="000000"/>
              </a:solidFill>
              <a:effectLst/>
              <a:uFillTx/>
              <a:latin typeface="Noto Serif JP"/>
            </a:endParaRPr>
          </a:p>
        </p:txBody>
      </p:sp>
      <p:sp>
        <p:nvSpPr>
          <p:cNvPr id="204" name=""/>
          <p:cNvSpPr txBox="1"/>
          <p:nvPr/>
        </p:nvSpPr>
        <p:spPr>
          <a:xfrm>
            <a:off x="7776360" y="537480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i</a:t>
            </a:r>
            <a:endParaRPr lang="en-US" sz="1560" b="0" u="none" strike="noStrike">
              <a:solidFill>
                <a:srgbClr val="000000"/>
              </a:solidFill>
              <a:effectLst/>
              <a:uFillTx/>
              <a:latin typeface="Noto Serif JP"/>
            </a:endParaRPr>
          </a:p>
        </p:txBody>
      </p:sp>
      <p:sp>
        <p:nvSpPr>
          <p:cNvPr id="205" name=""/>
          <p:cNvSpPr txBox="1"/>
          <p:nvPr/>
        </p:nvSpPr>
        <p:spPr>
          <a:xfrm>
            <a:off x="7815240" y="518436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K</a:t>
            </a:r>
            <a:endParaRPr lang="en-US" sz="1560" b="0" u="none" strike="noStrike">
              <a:solidFill>
                <a:srgbClr val="000000"/>
              </a:solidFill>
              <a:effectLst/>
              <a:uFillTx/>
              <a:latin typeface="Noto Serif JP"/>
            </a:endParaRPr>
          </a:p>
        </p:txBody>
      </p:sp>
      <p:sp>
        <p:nvSpPr>
          <p:cNvPr id="206" name=""/>
          <p:cNvSpPr txBox="1"/>
          <p:nvPr/>
        </p:nvSpPr>
        <p:spPr>
          <a:xfrm>
            <a:off x="8568360" y="537480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i</a:t>
            </a:r>
            <a:endParaRPr lang="en-US" sz="1560" b="0" u="none" strike="noStrike">
              <a:solidFill>
                <a:srgbClr val="000000"/>
              </a:solidFill>
              <a:effectLst/>
              <a:uFillTx/>
              <a:latin typeface="Noto Serif JP"/>
            </a:endParaRPr>
          </a:p>
        </p:txBody>
      </p:sp>
      <p:sp>
        <p:nvSpPr>
          <p:cNvPr id="207" name=""/>
          <p:cNvSpPr/>
          <p:nvPr/>
        </p:nvSpPr>
        <p:spPr>
          <a:xfrm>
            <a:off x="809280" y="6048360"/>
            <a:ext cx="105120" cy="105120"/>
          </a:xfrm>
          <a:custGeom>
            <a:avLst/>
            <a:gdLst/>
            <a:ahLst/>
            <a:rect l="0" t="0" r="r" b="b"/>
            <a:pathLst>
              <a:path w="292" h="292">
                <a:moveTo>
                  <a:pt x="292" y="145"/>
                </a:moveTo>
                <a:cubicBezTo>
                  <a:pt x="292" y="155"/>
                  <a:pt x="292" y="164"/>
                  <a:pt x="290" y="173"/>
                </a:cubicBezTo>
                <a:cubicBezTo>
                  <a:pt x="288" y="183"/>
                  <a:pt x="285" y="192"/>
                  <a:pt x="281" y="201"/>
                </a:cubicBezTo>
                <a:cubicBezTo>
                  <a:pt x="278" y="210"/>
                  <a:pt x="273" y="218"/>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8"/>
                  <a:pt x="15" y="210"/>
                  <a:pt x="12" y="201"/>
                </a:cubicBezTo>
                <a:cubicBezTo>
                  <a:pt x="8" y="192"/>
                  <a:pt x="5" y="183"/>
                  <a:pt x="3" y="173"/>
                </a:cubicBezTo>
                <a:cubicBezTo>
                  <a:pt x="1" y="164"/>
                  <a:pt x="0" y="155"/>
                  <a:pt x="0" y="145"/>
                </a:cubicBezTo>
                <a:cubicBezTo>
                  <a:pt x="0" y="136"/>
                  <a:pt x="1" y="126"/>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0"/>
                  <a:pt x="136" y="0"/>
                  <a:pt x="146" y="0"/>
                </a:cubicBezTo>
                <a:cubicBezTo>
                  <a:pt x="156" y="0"/>
                  <a:pt x="165" y="0"/>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6"/>
                  <a:pt x="292" y="136"/>
                  <a:pt x="292" y="145"/>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08" name=""/>
          <p:cNvSpPr txBox="1"/>
          <p:nvPr/>
        </p:nvSpPr>
        <p:spPr>
          <a:xfrm>
            <a:off x="8607240" y="518436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V</a:t>
            </a:r>
            <a:endParaRPr lang="en-US" sz="1560" b="0" u="none" strike="noStrike">
              <a:solidFill>
                <a:srgbClr val="000000"/>
              </a:solidFill>
              <a:effectLst/>
              <a:uFillTx/>
              <a:latin typeface="Noto Serif JP"/>
            </a:endParaRPr>
          </a:p>
        </p:txBody>
      </p:sp>
      <p:sp>
        <p:nvSpPr>
          <p:cNvPr id="209" name=""/>
          <p:cNvSpPr txBox="1"/>
          <p:nvPr/>
        </p:nvSpPr>
        <p:spPr>
          <a:xfrm>
            <a:off x="1085760" y="5924520"/>
            <a:ext cx="144180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本研究では </a:t>
            </a:r>
            <a:endParaRPr lang="en-US" sz="2170" b="0" u="none" strike="noStrike">
              <a:solidFill>
                <a:srgbClr val="000000"/>
              </a:solidFill>
              <a:effectLst/>
              <a:uFillTx/>
              <a:latin typeface="Noto Serif JP"/>
            </a:endParaRPr>
          </a:p>
        </p:txBody>
      </p:sp>
      <p:sp>
        <p:nvSpPr>
          <p:cNvPr id="210" name=""/>
          <p:cNvSpPr txBox="1"/>
          <p:nvPr/>
        </p:nvSpPr>
        <p:spPr>
          <a:xfrm>
            <a:off x="3169080" y="5924520"/>
            <a:ext cx="33840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a:t>
            </a:r>
            <a:endParaRPr lang="en-US" sz="2170" b="0" u="none" strike="noStrike">
              <a:solidFill>
                <a:srgbClr val="000000"/>
              </a:solidFill>
              <a:effectLst/>
              <a:uFillTx/>
              <a:latin typeface="Noto Serif JP"/>
            </a:endParaRPr>
          </a:p>
        </p:txBody>
      </p:sp>
      <p:pic>
        <p:nvPicPr>
          <p:cNvPr id="211" name=""/>
          <p:cNvPicPr/>
          <p:nvPr/>
        </p:nvPicPr>
        <p:blipFill>
          <a:blip r:embed="rId1"/>
          <a:stretch/>
        </p:blipFill>
        <p:spPr>
          <a:xfrm>
            <a:off x="1085760" y="6286320"/>
            <a:ext cx="7810200" cy="11991600"/>
          </a:xfrm>
          <a:prstGeom prst="rect">
            <a:avLst/>
          </a:prstGeom>
          <a:noFill/>
          <a:ln w="0">
            <a:noFill/>
          </a:ln>
        </p:spPr>
      </p:pic>
      <p:sp>
        <p:nvSpPr>
          <p:cNvPr id="212" name=""/>
          <p:cNvSpPr txBox="1"/>
          <p:nvPr/>
        </p:nvSpPr>
        <p:spPr>
          <a:xfrm>
            <a:off x="6424560" y="5924520"/>
            <a:ext cx="116604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を使用。</a:t>
            </a:r>
            <a:endParaRPr lang="en-US" sz="2170" b="0" u="none" strike="noStrike">
              <a:solidFill>
                <a:srgbClr val="000000"/>
              </a:solidFill>
              <a:effectLst/>
              <a:uFillTx/>
              <a:latin typeface="Noto Serif JP"/>
            </a:endParaRPr>
          </a:p>
        </p:txBody>
      </p:sp>
      <p:sp>
        <p:nvSpPr>
          <p:cNvPr id="213"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14" name=""/>
          <p:cNvSpPr txBox="1"/>
          <p:nvPr/>
        </p:nvSpPr>
        <p:spPr>
          <a:xfrm>
            <a:off x="914400" y="409680"/>
            <a:ext cx="4621680" cy="299160"/>
          </a:xfrm>
          <a:prstGeom prst="rect">
            <a:avLst/>
          </a:prstGeom>
          <a:noFill/>
          <a:ln w="0">
            <a:noFill/>
          </a:ln>
        </p:spPr>
        <p:txBody>
          <a:bodyPr wrap="none" lIns="0" tIns="0" rIns="0" bIns="0" anchor="t">
            <a:spAutoFit/>
          </a:bodyPr>
          <a:p>
            <a:pPr/>
            <a:r>
              <a:rPr lang="en-US" sz="1950" b="1" u="none" strike="noStrike">
                <a:solidFill>
                  <a:srgbClr val="111111"/>
                </a:solidFill>
                <a:effectLst/>
                <a:uFillTx/>
                <a:latin typeface="NotoSansJPThin"/>
                <a:ea typeface="NotoSansJPThin"/>
              </a:rPr>
              <a:t>Transformer</a:t>
            </a:r>
            <a:r>
              <a:rPr lang="ja-JP" sz="1950" b="1" u="none" strike="noStrike">
                <a:solidFill>
                  <a:srgbClr val="111111"/>
                </a:solidFill>
                <a:effectLst/>
                <a:uFillTx/>
                <a:latin typeface="NotoSansJPThin"/>
                <a:ea typeface="NotoSansJPThin"/>
              </a:rPr>
              <a:t>の詳細：</a:t>
            </a:r>
            <a:r>
              <a:rPr lang="en-US" sz="1950" b="1" u="none" strike="noStrike">
                <a:solidFill>
                  <a:srgbClr val="111111"/>
                </a:solidFill>
                <a:effectLst/>
                <a:uFillTx/>
                <a:latin typeface="NotoSansJPThin"/>
                <a:ea typeface="NotoSansJPThin"/>
              </a:rPr>
              <a:t>Multi-Head Attention</a:t>
            </a:r>
            <a:endParaRPr lang="en-US" sz="1950" b="0" u="none" strike="noStrike">
              <a:solidFill>
                <a:srgbClr val="000000"/>
              </a:solidFill>
              <a:effectLst/>
              <a:uFillTx/>
              <a:latin typeface="Noto Serif JP"/>
            </a:endParaRPr>
          </a:p>
        </p:txBody>
      </p:sp>
      <p:sp>
        <p:nvSpPr>
          <p:cNvPr id="215" name=""/>
          <p:cNvSpPr txBox="1"/>
          <p:nvPr/>
        </p:nvSpPr>
        <p:spPr>
          <a:xfrm>
            <a:off x="1638360" y="3242520"/>
            <a:ext cx="83736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Q, K, V</a:t>
            </a:r>
            <a:endParaRPr lang="en-US" sz="2220" b="0" u="none" strike="noStrike">
              <a:solidFill>
                <a:srgbClr val="000000"/>
              </a:solidFill>
              <a:effectLst/>
              <a:uFillTx/>
              <a:latin typeface="Noto Serif JP"/>
            </a:endParaRPr>
          </a:p>
        </p:txBody>
      </p:sp>
      <p:sp>
        <p:nvSpPr>
          <p:cNvPr id="216" name=""/>
          <p:cNvSpPr txBox="1"/>
          <p:nvPr/>
        </p:nvSpPr>
        <p:spPr>
          <a:xfrm>
            <a:off x="4029840" y="324252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h</a:t>
            </a:r>
            <a:endParaRPr lang="en-US" sz="2220" b="0" u="none" strike="noStrike">
              <a:solidFill>
                <a:srgbClr val="000000"/>
              </a:solidFill>
              <a:effectLst/>
              <a:uFillTx/>
              <a:latin typeface="Noto Serif JP"/>
            </a:endParaRPr>
          </a:p>
        </p:txBody>
      </p:sp>
      <p:sp>
        <p:nvSpPr>
          <p:cNvPr id="217" name=""/>
          <p:cNvSpPr txBox="1"/>
          <p:nvPr/>
        </p:nvSpPr>
        <p:spPr>
          <a:xfrm>
            <a:off x="8191800" y="3242520"/>
            <a:ext cx="93456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d , d , d</a:t>
            </a:r>
            <a:endParaRPr lang="en-US" sz="2220" b="0" u="none" strike="noStrike">
              <a:solidFill>
                <a:srgbClr val="000000"/>
              </a:solidFill>
              <a:effectLst/>
              <a:uFillTx/>
              <a:latin typeface="Noto Serif JP"/>
            </a:endParaRPr>
          </a:p>
        </p:txBody>
      </p:sp>
      <p:sp>
        <p:nvSpPr>
          <p:cNvPr id="218" name=""/>
          <p:cNvSpPr txBox="1"/>
          <p:nvPr/>
        </p:nvSpPr>
        <p:spPr>
          <a:xfrm>
            <a:off x="8366400" y="337464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k</a:t>
            </a:r>
            <a:endParaRPr lang="en-US" sz="1560" b="0" u="none" strike="noStrike">
              <a:solidFill>
                <a:srgbClr val="000000"/>
              </a:solidFill>
              <a:effectLst/>
              <a:uFillTx/>
              <a:latin typeface="Noto Serif JP"/>
            </a:endParaRPr>
          </a:p>
        </p:txBody>
      </p:sp>
      <p:sp>
        <p:nvSpPr>
          <p:cNvPr id="219" name=""/>
          <p:cNvSpPr txBox="1"/>
          <p:nvPr/>
        </p:nvSpPr>
        <p:spPr>
          <a:xfrm>
            <a:off x="8795520" y="337464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k</a:t>
            </a:r>
            <a:endParaRPr lang="en-US" sz="1560" b="0" u="none" strike="noStrike">
              <a:solidFill>
                <a:srgbClr val="000000"/>
              </a:solidFill>
              <a:effectLst/>
              <a:uFillTx/>
              <a:latin typeface="Noto Serif JP"/>
            </a:endParaRPr>
          </a:p>
        </p:txBody>
      </p:sp>
      <p:sp>
        <p:nvSpPr>
          <p:cNvPr id="220" name=""/>
          <p:cNvSpPr txBox="1"/>
          <p:nvPr/>
        </p:nvSpPr>
        <p:spPr>
          <a:xfrm>
            <a:off x="9224640" y="337464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v</a:t>
            </a:r>
            <a:endParaRPr lang="en-US" sz="1560" b="0" u="none" strike="noStrike">
              <a:solidFill>
                <a:srgbClr val="000000"/>
              </a:solidFill>
              <a:effectLst/>
              <a:uFillTx/>
              <a:latin typeface="Noto Serif JP"/>
            </a:endParaRPr>
          </a:p>
        </p:txBody>
      </p:sp>
      <p:sp>
        <p:nvSpPr>
          <p:cNvPr id="221" name=""/>
          <p:cNvSpPr txBox="1"/>
          <p:nvPr/>
        </p:nvSpPr>
        <p:spPr>
          <a:xfrm>
            <a:off x="1638360" y="421416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h</a:t>
            </a:r>
            <a:endParaRPr lang="en-US" sz="2220" b="0" u="none" strike="noStrike">
              <a:solidFill>
                <a:srgbClr val="000000"/>
              </a:solidFill>
              <a:effectLst/>
              <a:uFillTx/>
              <a:latin typeface="Noto Serif JP"/>
            </a:endParaRPr>
          </a:p>
        </p:txBody>
      </p:sp>
      <p:sp>
        <p:nvSpPr>
          <p:cNvPr id="222" name=""/>
          <p:cNvSpPr txBox="1"/>
          <p:nvPr/>
        </p:nvSpPr>
        <p:spPr>
          <a:xfrm>
            <a:off x="2529000" y="5919120"/>
            <a:ext cx="61128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h = 8</a:t>
            </a:r>
            <a:endParaRPr lang="en-US" sz="2220" b="0" u="none" strike="noStrike">
              <a:solidFill>
                <a:srgbClr val="000000"/>
              </a:solidFill>
              <a:effectLst/>
              <a:uFillTx/>
              <a:latin typeface="Noto Serif JP"/>
            </a:endParaRPr>
          </a:p>
        </p:txBody>
      </p:sp>
      <p:sp>
        <p:nvSpPr>
          <p:cNvPr id="223" name=""/>
          <p:cNvSpPr txBox="1"/>
          <p:nvPr/>
        </p:nvSpPr>
        <p:spPr>
          <a:xfrm>
            <a:off x="3507120" y="5919120"/>
            <a:ext cx="39528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d =</a:t>
            </a:r>
            <a:endParaRPr lang="en-US" sz="2220" b="0" u="none" strike="noStrike">
              <a:solidFill>
                <a:srgbClr val="000000"/>
              </a:solidFill>
              <a:effectLst/>
              <a:uFillTx/>
              <a:latin typeface="Noto Serif JP"/>
            </a:endParaRPr>
          </a:p>
        </p:txBody>
      </p:sp>
      <p:sp>
        <p:nvSpPr>
          <p:cNvPr id="224" name=""/>
          <p:cNvSpPr txBox="1"/>
          <p:nvPr/>
        </p:nvSpPr>
        <p:spPr>
          <a:xfrm>
            <a:off x="3682080" y="604188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k</a:t>
            </a:r>
            <a:endParaRPr lang="en-US" sz="1560" b="0" u="none" strike="noStrike">
              <a:solidFill>
                <a:srgbClr val="000000"/>
              </a:solidFill>
              <a:effectLst/>
              <a:uFillTx/>
              <a:latin typeface="Noto Serif JP"/>
            </a:endParaRPr>
          </a:p>
        </p:txBody>
      </p:sp>
      <p:sp>
        <p:nvSpPr>
          <p:cNvPr id="225" name=""/>
          <p:cNvSpPr txBox="1"/>
          <p:nvPr/>
        </p:nvSpPr>
        <p:spPr>
          <a:xfrm>
            <a:off x="4123800" y="5919120"/>
            <a:ext cx="39528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d =</a:t>
            </a:r>
            <a:endParaRPr lang="en-US" sz="2220" b="0" u="none" strike="noStrike">
              <a:solidFill>
                <a:srgbClr val="000000"/>
              </a:solidFill>
              <a:effectLst/>
              <a:uFillTx/>
              <a:latin typeface="Noto Serif JP"/>
            </a:endParaRPr>
          </a:p>
        </p:txBody>
      </p:sp>
      <p:sp>
        <p:nvSpPr>
          <p:cNvPr id="226" name=""/>
          <p:cNvSpPr txBox="1"/>
          <p:nvPr/>
        </p:nvSpPr>
        <p:spPr>
          <a:xfrm>
            <a:off x="4298400" y="604188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v</a:t>
            </a:r>
            <a:endParaRPr lang="en-US" sz="1560" b="0" u="none" strike="noStrike">
              <a:solidFill>
                <a:srgbClr val="000000"/>
              </a:solidFill>
              <a:effectLst/>
              <a:uFillTx/>
              <a:latin typeface="Noto Serif JP"/>
            </a:endParaRPr>
          </a:p>
        </p:txBody>
      </p:sp>
      <p:sp>
        <p:nvSpPr>
          <p:cNvPr id="227" name=""/>
          <p:cNvSpPr txBox="1"/>
          <p:nvPr/>
        </p:nvSpPr>
        <p:spPr>
          <a:xfrm>
            <a:off x="4735080" y="591912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d</a:t>
            </a:r>
            <a:endParaRPr lang="en-US" sz="2220" b="0" u="none" strike="noStrike">
              <a:solidFill>
                <a:srgbClr val="000000"/>
              </a:solidFill>
              <a:effectLst/>
              <a:uFillTx/>
              <a:latin typeface="Noto Serif JP"/>
            </a:endParaRPr>
          </a:p>
        </p:txBody>
      </p:sp>
      <p:sp>
        <p:nvSpPr>
          <p:cNvPr id="228" name=""/>
          <p:cNvSpPr txBox="1"/>
          <p:nvPr/>
        </p:nvSpPr>
        <p:spPr>
          <a:xfrm>
            <a:off x="5517360" y="5919120"/>
            <a:ext cx="50184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/h =</a:t>
            </a:r>
            <a:endParaRPr lang="en-US" sz="2220" b="0" u="none" strike="noStrike">
              <a:solidFill>
                <a:srgbClr val="000000"/>
              </a:solidFill>
              <a:effectLst/>
              <a:uFillTx/>
              <a:latin typeface="Noto Serif JP"/>
            </a:endParaRPr>
          </a:p>
        </p:txBody>
      </p:sp>
      <p:sp>
        <p:nvSpPr>
          <p:cNvPr id="229" name=""/>
          <p:cNvSpPr txBox="1"/>
          <p:nvPr/>
        </p:nvSpPr>
        <p:spPr>
          <a:xfrm>
            <a:off x="4909680" y="6041880"/>
            <a:ext cx="592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model</a:t>
            </a:r>
            <a:endParaRPr lang="en-US" sz="1560" b="0" u="none" strike="noStrike">
              <a:solidFill>
                <a:srgbClr val="000000"/>
              </a:solidFill>
              <a:effectLst/>
              <a:uFillTx/>
              <a:latin typeface="Noto Serif JP"/>
            </a:endParaRPr>
          </a:p>
        </p:txBody>
      </p:sp>
      <p:sp>
        <p:nvSpPr>
          <p:cNvPr id="230" name=""/>
          <p:cNvSpPr txBox="1"/>
          <p:nvPr/>
        </p:nvSpPr>
        <p:spPr>
          <a:xfrm>
            <a:off x="6111720" y="5919120"/>
            <a:ext cx="31356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64</a:t>
            </a:r>
            <a:endParaRPr lang="en-US" sz="2220" b="0" u="none" strike="noStrike">
              <a:solidFill>
                <a:srgbClr val="000000"/>
              </a:solidFill>
              <a:effectLst/>
              <a:uFillTx/>
              <a:latin typeface="Noto Serif JP"/>
            </a:endParaRPr>
          </a:p>
        </p:txBody>
      </p:sp>
      <p:sp>
        <p:nvSpPr>
          <p:cNvPr id="231" name=""/>
          <p:cNvSpPr txBox="1"/>
          <p:nvPr/>
        </p:nvSpPr>
        <p:spPr>
          <a:xfrm>
            <a:off x="11946600" y="6458040"/>
            <a:ext cx="304560" cy="366120"/>
          </a:xfrm>
          <a:prstGeom prst="rect">
            <a:avLst/>
          </a:prstGeom>
          <a:noFill/>
          <a:ln w="0">
            <a:noFill/>
          </a:ln>
        </p:spPr>
        <p:txBody>
          <a:bodyPr wrap="none" lIns="0" tIns="0" rIns="0" bIns="0" anchor="t">
            <a:spAutoFit/>
          </a:bodyPr>
          <a:p>
            <a:pPr/>
            <a:r>
              <a:rPr lang="en-US" sz="2400" b="0" u="none" strike="noStrike">
                <a:solidFill>
                  <a:srgbClr val="111111"/>
                </a:solidFill>
                <a:effectLst/>
                <a:uFillTx/>
                <a:latin typeface="NotoSansJP"/>
                <a:ea typeface="NotoSansJP"/>
              </a:rPr>
              <a:t>8</a:t>
            </a:r>
            <a:endParaRPr lang="en-US" sz="2400" b="0" u="none" strike="noStrike">
              <a:solidFill>
                <a:srgbClr val="000000"/>
              </a:solidFill>
              <a:effectLst/>
              <a:uFillTx/>
              <a:latin typeface="Noto Serif JP"/>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23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23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235"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0"/>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236"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37" name=""/>
          <p:cNvSpPr txBox="1"/>
          <p:nvPr/>
        </p:nvSpPr>
        <p:spPr>
          <a:xfrm>
            <a:off x="533520" y="942840"/>
            <a:ext cx="937944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再帰や畳み込みがないため、シーケンスの順序情報を明示的に注入します。</a:t>
            </a:r>
            <a:endParaRPr lang="en-US" sz="2170" b="0" u="none" strike="noStrike">
              <a:solidFill>
                <a:srgbClr val="000000"/>
              </a:solidFill>
              <a:effectLst/>
              <a:uFillTx/>
              <a:latin typeface="Noto Serif JP"/>
            </a:endParaRPr>
          </a:p>
        </p:txBody>
      </p:sp>
      <p:sp>
        <p:nvSpPr>
          <p:cNvPr id="238" name=""/>
          <p:cNvSpPr/>
          <p:nvPr/>
        </p:nvSpPr>
        <p:spPr>
          <a:xfrm>
            <a:off x="1361880" y="1990440"/>
            <a:ext cx="105120" cy="105120"/>
          </a:xfrm>
          <a:custGeom>
            <a:avLst/>
            <a:gdLst/>
            <a:ahLst/>
            <a:rect l="0" t="0" r="r" b="b"/>
            <a:pathLst>
              <a:path w="292" h="292">
                <a:moveTo>
                  <a:pt x="292" y="147"/>
                </a:moveTo>
                <a:cubicBezTo>
                  <a:pt x="292" y="156"/>
                  <a:pt x="291" y="166"/>
                  <a:pt x="289" y="175"/>
                </a:cubicBezTo>
                <a:cubicBezTo>
                  <a:pt x="287" y="185"/>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5"/>
                  <a:pt x="3" y="175"/>
                </a:cubicBezTo>
                <a:cubicBezTo>
                  <a:pt x="1" y="166"/>
                  <a:pt x="0" y="156"/>
                  <a:pt x="0" y="147"/>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239" name=""/>
          <p:cNvSpPr txBox="1"/>
          <p:nvPr/>
        </p:nvSpPr>
        <p:spPr>
          <a:xfrm>
            <a:off x="1085760" y="1457280"/>
            <a:ext cx="552240" cy="331200"/>
          </a:xfrm>
          <a:prstGeom prst="rect">
            <a:avLst/>
          </a:prstGeom>
          <a:noFill/>
          <a:ln w="0">
            <a:noFill/>
          </a:ln>
        </p:spPr>
        <p:txBody>
          <a:bodyPr wrap="none" lIns="0" tIns="0" rIns="0" bIns="0" anchor="t">
            <a:spAutoFit/>
          </a:bodyPr>
          <a:p>
            <a:pPr/>
            <a:r>
              <a:rPr lang="ja-JP" sz="2170" b="1" u="none" strike="noStrike">
                <a:solidFill>
                  <a:srgbClr val="111111"/>
                </a:solidFill>
                <a:effectLst/>
                <a:uFillTx/>
                <a:latin typeface="NotoSansJPThin"/>
                <a:ea typeface="NotoSansJPThin"/>
              </a:rPr>
              <a:t>役割</a:t>
            </a:r>
            <a:endParaRPr lang="en-US" sz="2170" b="0" u="none" strike="noStrike">
              <a:solidFill>
                <a:srgbClr val="000000"/>
              </a:solidFill>
              <a:effectLst/>
              <a:uFillTx/>
              <a:latin typeface="Noto Serif JP"/>
            </a:endParaRPr>
          </a:p>
        </p:txBody>
      </p:sp>
      <p:sp>
        <p:nvSpPr>
          <p:cNvPr id="240" name=""/>
          <p:cNvSpPr/>
          <p:nvPr/>
        </p:nvSpPr>
        <p:spPr>
          <a:xfrm>
            <a:off x="1361880" y="247644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7"/>
                  <a:pt x="7" y="98"/>
                  <a:pt x="11" y="89"/>
                </a:cubicBezTo>
                <a:cubicBezTo>
                  <a:pt x="15" y="81"/>
                  <a:pt x="19" y="72"/>
                  <a:pt x="25" y="64"/>
                </a:cubicBezTo>
                <a:cubicBezTo>
                  <a:pt x="30" y="56"/>
                  <a:pt x="36" y="49"/>
                  <a:pt x="43" y="42"/>
                </a:cubicBezTo>
                <a:cubicBezTo>
                  <a:pt x="49" y="36"/>
                  <a:pt x="57" y="29"/>
                  <a:pt x="65" y="24"/>
                </a:cubicBezTo>
                <a:cubicBezTo>
                  <a:pt x="73" y="19"/>
                  <a:pt x="81" y="14"/>
                  <a:pt x="90" y="11"/>
                </a:cubicBezTo>
                <a:cubicBezTo>
                  <a:pt x="99" y="7"/>
                  <a:pt x="108" y="4"/>
                  <a:pt x="117" y="2"/>
                </a:cubicBezTo>
                <a:cubicBezTo>
                  <a:pt x="127" y="1"/>
                  <a:pt x="136" y="0"/>
                  <a:pt x="147" y="0"/>
                </a:cubicBezTo>
                <a:cubicBezTo>
                  <a:pt x="156" y="0"/>
                  <a:pt x="166" y="1"/>
                  <a:pt x="175" y="2"/>
                </a:cubicBezTo>
                <a:cubicBezTo>
                  <a:pt x="184" y="4"/>
                  <a:pt x="193" y="7"/>
                  <a:pt x="202" y="11"/>
                </a:cubicBezTo>
                <a:cubicBezTo>
                  <a:pt x="211" y="14"/>
                  <a:pt x="219" y="19"/>
                  <a:pt x="227" y="24"/>
                </a:cubicBezTo>
                <a:cubicBezTo>
                  <a:pt x="235" y="29"/>
                  <a:pt x="243" y="36"/>
                  <a:pt x="249" y="42"/>
                </a:cubicBezTo>
                <a:cubicBezTo>
                  <a:pt x="256" y="49"/>
                  <a:pt x="262" y="56"/>
                  <a:pt x="268" y="64"/>
                </a:cubicBezTo>
                <a:cubicBezTo>
                  <a:pt x="273" y="72"/>
                  <a:pt x="277" y="81"/>
                  <a:pt x="281" y="89"/>
                </a:cubicBezTo>
                <a:cubicBezTo>
                  <a:pt x="285" y="98"/>
                  <a:pt x="287" y="107"/>
                  <a:pt x="289" y="117"/>
                </a:cubicBezTo>
                <a:cubicBezTo>
                  <a:pt x="291" y="126"/>
                  <a:pt x="292" y="136"/>
                  <a:pt x="292" y="145"/>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241" name=""/>
          <p:cNvSpPr txBox="1"/>
          <p:nvPr/>
        </p:nvSpPr>
        <p:spPr>
          <a:xfrm>
            <a:off x="1638360" y="1866960"/>
            <a:ext cx="935748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入力埋め込みと</a:t>
            </a:r>
            <a:r>
              <a:rPr lang="en-US" sz="2170" b="0" u="none" strike="noStrike">
                <a:solidFill>
                  <a:srgbClr val="111111"/>
                </a:solidFill>
                <a:effectLst/>
                <a:uFillTx/>
                <a:latin typeface="NotoSansJP"/>
                <a:ea typeface="NotoSansJP"/>
              </a:rPr>
              <a:t>Decoder</a:t>
            </a:r>
            <a:r>
              <a:rPr lang="ja-JP" sz="2170" b="0" u="none" strike="noStrike">
                <a:solidFill>
                  <a:srgbClr val="111111"/>
                </a:solidFill>
                <a:effectLst/>
                <a:uFillTx/>
                <a:latin typeface="NotoSansJP"/>
                <a:ea typeface="NotoSansJP"/>
              </a:rPr>
              <a:t>スタックの底に「位置エンコーディング」を加算。</a:t>
            </a:r>
            <a:endParaRPr lang="en-US" sz="2170" b="0" u="none" strike="noStrike">
              <a:solidFill>
                <a:srgbClr val="000000"/>
              </a:solidFill>
              <a:effectLst/>
              <a:uFillTx/>
              <a:latin typeface="Noto Serif JP"/>
            </a:endParaRPr>
          </a:p>
        </p:txBody>
      </p:sp>
      <p:sp>
        <p:nvSpPr>
          <p:cNvPr id="242" name=""/>
          <p:cNvSpPr txBox="1"/>
          <p:nvPr/>
        </p:nvSpPr>
        <p:spPr>
          <a:xfrm>
            <a:off x="1638360" y="2352600"/>
            <a:ext cx="144180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ポジション </a:t>
            </a:r>
            <a:endParaRPr lang="en-US" sz="2170" b="0" u="none" strike="noStrike">
              <a:solidFill>
                <a:srgbClr val="000000"/>
              </a:solidFill>
              <a:effectLst/>
              <a:uFillTx/>
              <a:latin typeface="Noto Serif JP"/>
            </a:endParaRPr>
          </a:p>
        </p:txBody>
      </p:sp>
      <p:sp>
        <p:nvSpPr>
          <p:cNvPr id="243" name=""/>
          <p:cNvSpPr/>
          <p:nvPr/>
        </p:nvSpPr>
        <p:spPr>
          <a:xfrm>
            <a:off x="809280" y="2962080"/>
            <a:ext cx="105120" cy="105120"/>
          </a:xfrm>
          <a:custGeom>
            <a:avLst/>
            <a:gdLst/>
            <a:ahLst/>
            <a:rect l="0" t="0" r="r" b="b"/>
            <a:pathLst>
              <a:path w="292" h="292">
                <a:moveTo>
                  <a:pt x="292" y="147"/>
                </a:moveTo>
                <a:cubicBezTo>
                  <a:pt x="292" y="156"/>
                  <a:pt x="292" y="166"/>
                  <a:pt x="290" y="175"/>
                </a:cubicBezTo>
                <a:cubicBezTo>
                  <a:pt x="288" y="184"/>
                  <a:pt x="285" y="193"/>
                  <a:pt x="281" y="202"/>
                </a:cubicBezTo>
                <a:cubicBezTo>
                  <a:pt x="278" y="211"/>
                  <a:pt x="273" y="219"/>
                  <a:pt x="268" y="227"/>
                </a:cubicBezTo>
                <a:cubicBezTo>
                  <a:pt x="263" y="235"/>
                  <a:pt x="257" y="243"/>
                  <a:pt x="250" y="249"/>
                </a:cubicBezTo>
                <a:cubicBezTo>
                  <a:pt x="243" y="256"/>
                  <a:pt x="236" y="262"/>
                  <a:pt x="228" y="268"/>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8"/>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6"/>
                  <a:pt x="0" y="156"/>
                  <a:pt x="0" y="147"/>
                </a:cubicBezTo>
                <a:cubicBezTo>
                  <a:pt x="0" y="137"/>
                  <a:pt x="1" y="128"/>
                  <a:pt x="3" y="118"/>
                </a:cubicBezTo>
                <a:cubicBezTo>
                  <a:pt x="5" y="109"/>
                  <a:pt x="8" y="100"/>
                  <a:pt x="12" y="91"/>
                </a:cubicBezTo>
                <a:cubicBezTo>
                  <a:pt x="15" y="82"/>
                  <a:pt x="20" y="74"/>
                  <a:pt x="25" y="65"/>
                </a:cubicBezTo>
                <a:cubicBezTo>
                  <a:pt x="30" y="57"/>
                  <a:pt x="36" y="49"/>
                  <a:pt x="43" y="43"/>
                </a:cubicBezTo>
                <a:cubicBezTo>
                  <a:pt x="50" y="36"/>
                  <a:pt x="57" y="30"/>
                  <a:pt x="65" y="25"/>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5"/>
                </a:cubicBezTo>
                <a:cubicBezTo>
                  <a:pt x="236" y="30"/>
                  <a:pt x="243" y="36"/>
                  <a:pt x="250" y="43"/>
                </a:cubicBezTo>
                <a:cubicBezTo>
                  <a:pt x="257" y="49"/>
                  <a:pt x="263" y="57"/>
                  <a:pt x="268" y="65"/>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44" name=""/>
          <p:cNvSpPr txBox="1"/>
          <p:nvPr/>
        </p:nvSpPr>
        <p:spPr>
          <a:xfrm>
            <a:off x="3557160" y="2352600"/>
            <a:ext cx="604044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と次元   に対し、サイン‧コサイン関数を使用。</a:t>
            </a:r>
            <a:endParaRPr lang="en-US" sz="2170" b="0" u="none" strike="noStrike">
              <a:solidFill>
                <a:srgbClr val="000000"/>
              </a:solidFill>
              <a:effectLst/>
              <a:uFillTx/>
              <a:latin typeface="Noto Serif JP"/>
            </a:endParaRPr>
          </a:p>
        </p:txBody>
      </p:sp>
      <p:sp>
        <p:nvSpPr>
          <p:cNvPr id="245" name=""/>
          <p:cNvSpPr txBox="1"/>
          <p:nvPr/>
        </p:nvSpPr>
        <p:spPr>
          <a:xfrm>
            <a:off x="1085760" y="2838600"/>
            <a:ext cx="828360" cy="331200"/>
          </a:xfrm>
          <a:prstGeom prst="rect">
            <a:avLst/>
          </a:prstGeom>
          <a:noFill/>
          <a:ln w="0">
            <a:noFill/>
          </a:ln>
        </p:spPr>
        <p:txBody>
          <a:bodyPr wrap="none" lIns="0" tIns="0" rIns="0" bIns="0" anchor="t">
            <a:spAutoFit/>
          </a:bodyPr>
          <a:p>
            <a:pPr/>
            <a:r>
              <a:rPr lang="ja-JP" sz="2170" b="1" u="none" strike="noStrike">
                <a:solidFill>
                  <a:srgbClr val="111111"/>
                </a:solidFill>
                <a:effectLst/>
                <a:uFillTx/>
                <a:latin typeface="NotoSansJPThin"/>
                <a:ea typeface="NotoSansJPThin"/>
              </a:rPr>
              <a:t>計算式</a:t>
            </a:r>
            <a:endParaRPr lang="en-US" sz="2170" b="0" u="none" strike="noStrike">
              <a:solidFill>
                <a:srgbClr val="000000"/>
              </a:solidFill>
              <a:effectLst/>
              <a:uFillTx/>
              <a:latin typeface="Noto Serif JP"/>
            </a:endParaRPr>
          </a:p>
        </p:txBody>
      </p:sp>
      <p:sp>
        <p:nvSpPr>
          <p:cNvPr id="246" name=""/>
          <p:cNvSpPr txBox="1"/>
          <p:nvPr/>
        </p:nvSpPr>
        <p:spPr>
          <a:xfrm>
            <a:off x="4020120" y="3480480"/>
            <a:ext cx="40824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P E</a:t>
            </a:r>
            <a:endParaRPr lang="en-US" sz="2220" b="0" u="none" strike="noStrike">
              <a:solidFill>
                <a:srgbClr val="000000"/>
              </a:solidFill>
              <a:effectLst/>
              <a:uFillTx/>
              <a:latin typeface="Noto Serif JP"/>
            </a:endParaRPr>
          </a:p>
        </p:txBody>
      </p:sp>
      <p:sp>
        <p:nvSpPr>
          <p:cNvPr id="247" name=""/>
          <p:cNvSpPr txBox="1"/>
          <p:nvPr/>
        </p:nvSpPr>
        <p:spPr>
          <a:xfrm>
            <a:off x="5181120" y="348048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a:t>
            </a:r>
            <a:endParaRPr lang="en-US" sz="2220" b="0" u="none" strike="noStrike">
              <a:solidFill>
                <a:srgbClr val="000000"/>
              </a:solidFill>
              <a:effectLst/>
              <a:uFillTx/>
              <a:latin typeface="Noto Serif JP"/>
            </a:endParaRPr>
          </a:p>
        </p:txBody>
      </p:sp>
      <p:sp>
        <p:nvSpPr>
          <p:cNvPr id="248" name=""/>
          <p:cNvSpPr txBox="1"/>
          <p:nvPr/>
        </p:nvSpPr>
        <p:spPr>
          <a:xfrm>
            <a:off x="4403520" y="3612960"/>
            <a:ext cx="68976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(pos,2i)</a:t>
            </a:r>
            <a:endParaRPr lang="en-US" sz="1560" b="0" u="none" strike="noStrike">
              <a:solidFill>
                <a:srgbClr val="000000"/>
              </a:solidFill>
              <a:effectLst/>
              <a:uFillTx/>
              <a:latin typeface="Noto Serif JP"/>
            </a:endParaRPr>
          </a:p>
        </p:txBody>
      </p:sp>
      <p:sp>
        <p:nvSpPr>
          <p:cNvPr id="249" name=""/>
          <p:cNvSpPr txBox="1"/>
          <p:nvPr/>
        </p:nvSpPr>
        <p:spPr>
          <a:xfrm>
            <a:off x="5415840" y="3480480"/>
            <a:ext cx="184788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sin(pos/10000</a:t>
            </a:r>
            <a:endParaRPr lang="en-US" sz="2220" b="0" u="none" strike="noStrike">
              <a:solidFill>
                <a:srgbClr val="000000"/>
              </a:solidFill>
              <a:effectLst/>
              <a:uFillTx/>
              <a:latin typeface="Noto Serif JP"/>
            </a:endParaRPr>
          </a:p>
        </p:txBody>
      </p:sp>
      <p:sp>
        <p:nvSpPr>
          <p:cNvPr id="250" name=""/>
          <p:cNvSpPr txBox="1"/>
          <p:nvPr/>
        </p:nvSpPr>
        <p:spPr>
          <a:xfrm>
            <a:off x="8076240" y="348048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a:t>
            </a:r>
            <a:endParaRPr lang="en-US" sz="2220" b="0" u="none" strike="noStrike">
              <a:solidFill>
                <a:srgbClr val="000000"/>
              </a:solidFill>
              <a:effectLst/>
              <a:uFillTx/>
              <a:latin typeface="Noto Serif JP"/>
            </a:endParaRPr>
          </a:p>
        </p:txBody>
      </p:sp>
      <p:sp>
        <p:nvSpPr>
          <p:cNvPr id="251" name=""/>
          <p:cNvSpPr txBox="1"/>
          <p:nvPr/>
        </p:nvSpPr>
        <p:spPr>
          <a:xfrm>
            <a:off x="7260480" y="3450960"/>
            <a:ext cx="36576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2i/d</a:t>
            </a:r>
            <a:endParaRPr lang="en-US" sz="1560" b="0" u="none" strike="noStrike">
              <a:solidFill>
                <a:srgbClr val="000000"/>
              </a:solidFill>
              <a:effectLst/>
              <a:uFillTx/>
              <a:latin typeface="Noto Serif JP"/>
            </a:endParaRPr>
          </a:p>
        </p:txBody>
      </p:sp>
      <p:sp>
        <p:nvSpPr>
          <p:cNvPr id="252" name=""/>
          <p:cNvSpPr txBox="1"/>
          <p:nvPr/>
        </p:nvSpPr>
        <p:spPr>
          <a:xfrm>
            <a:off x="7624080" y="3535920"/>
            <a:ext cx="424440" cy="171000"/>
          </a:xfrm>
          <a:prstGeom prst="rect">
            <a:avLst/>
          </a:prstGeom>
          <a:noFill/>
          <a:ln w="0">
            <a:noFill/>
          </a:ln>
        </p:spPr>
        <p:txBody>
          <a:bodyPr wrap="none" lIns="0" tIns="0" rIns="0" bIns="0" anchor="t">
            <a:spAutoFit/>
          </a:bodyPr>
          <a:p>
            <a:pPr/>
            <a:r>
              <a:rPr lang="en-US" sz="1110" b="0" u="none" strike="noStrike">
                <a:solidFill>
                  <a:srgbClr val="111111"/>
                </a:solidFill>
                <a:effectLst/>
                <a:uFillTx/>
                <a:latin typeface="NotoSansJP"/>
                <a:ea typeface="NotoSansJP"/>
              </a:rPr>
              <a:t>model</a:t>
            </a:r>
            <a:endParaRPr lang="en-US" sz="1110" b="0" u="none" strike="noStrike">
              <a:solidFill>
                <a:srgbClr val="000000"/>
              </a:solidFill>
              <a:effectLst/>
              <a:uFillTx/>
              <a:latin typeface="Noto Serif JP"/>
            </a:endParaRPr>
          </a:p>
        </p:txBody>
      </p:sp>
      <p:sp>
        <p:nvSpPr>
          <p:cNvPr id="253" name=""/>
          <p:cNvSpPr txBox="1"/>
          <p:nvPr/>
        </p:nvSpPr>
        <p:spPr>
          <a:xfrm>
            <a:off x="3882600" y="3871080"/>
            <a:ext cx="40824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P E</a:t>
            </a:r>
            <a:endParaRPr lang="en-US" sz="2220" b="0" u="none" strike="noStrike">
              <a:solidFill>
                <a:srgbClr val="000000"/>
              </a:solidFill>
              <a:effectLst/>
              <a:uFillTx/>
              <a:latin typeface="Noto Serif JP"/>
            </a:endParaRPr>
          </a:p>
        </p:txBody>
      </p:sp>
      <p:sp>
        <p:nvSpPr>
          <p:cNvPr id="254" name=""/>
          <p:cNvSpPr txBox="1"/>
          <p:nvPr/>
        </p:nvSpPr>
        <p:spPr>
          <a:xfrm>
            <a:off x="5262840" y="387108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a:t>
            </a:r>
            <a:endParaRPr lang="en-US" sz="2220" b="0" u="none" strike="noStrike">
              <a:solidFill>
                <a:srgbClr val="000000"/>
              </a:solidFill>
              <a:effectLst/>
              <a:uFillTx/>
              <a:latin typeface="Noto Serif JP"/>
            </a:endParaRPr>
          </a:p>
        </p:txBody>
      </p:sp>
      <p:sp>
        <p:nvSpPr>
          <p:cNvPr id="255" name=""/>
          <p:cNvSpPr txBox="1"/>
          <p:nvPr/>
        </p:nvSpPr>
        <p:spPr>
          <a:xfrm>
            <a:off x="4266000" y="4003200"/>
            <a:ext cx="9097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(pos,2i+1)</a:t>
            </a:r>
            <a:endParaRPr lang="en-US" sz="1560" b="0" u="none" strike="noStrike">
              <a:solidFill>
                <a:srgbClr val="000000"/>
              </a:solidFill>
              <a:effectLst/>
              <a:uFillTx/>
              <a:latin typeface="Noto Serif JP"/>
            </a:endParaRPr>
          </a:p>
        </p:txBody>
      </p:sp>
      <p:sp>
        <p:nvSpPr>
          <p:cNvPr id="256" name=""/>
          <p:cNvSpPr txBox="1"/>
          <p:nvPr/>
        </p:nvSpPr>
        <p:spPr>
          <a:xfrm>
            <a:off x="5497200" y="3871080"/>
            <a:ext cx="191304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cos(pos/10000</a:t>
            </a:r>
            <a:endParaRPr lang="en-US" sz="2220" b="0" u="none" strike="noStrike">
              <a:solidFill>
                <a:srgbClr val="000000"/>
              </a:solidFill>
              <a:effectLst/>
              <a:uFillTx/>
              <a:latin typeface="Noto Serif JP"/>
            </a:endParaRPr>
          </a:p>
        </p:txBody>
      </p:sp>
      <p:sp>
        <p:nvSpPr>
          <p:cNvPr id="257" name=""/>
          <p:cNvSpPr txBox="1"/>
          <p:nvPr/>
        </p:nvSpPr>
        <p:spPr>
          <a:xfrm>
            <a:off x="8214120" y="387108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a:t>
            </a:r>
            <a:endParaRPr lang="en-US" sz="2220" b="0" u="none" strike="noStrike">
              <a:solidFill>
                <a:srgbClr val="000000"/>
              </a:solidFill>
              <a:effectLst/>
              <a:uFillTx/>
              <a:latin typeface="Noto Serif JP"/>
            </a:endParaRPr>
          </a:p>
        </p:txBody>
      </p:sp>
      <p:sp>
        <p:nvSpPr>
          <p:cNvPr id="258" name=""/>
          <p:cNvSpPr txBox="1"/>
          <p:nvPr/>
        </p:nvSpPr>
        <p:spPr>
          <a:xfrm>
            <a:off x="7398360" y="3831840"/>
            <a:ext cx="36576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2i/d</a:t>
            </a:r>
            <a:endParaRPr lang="en-US" sz="1560" b="0" u="none" strike="noStrike">
              <a:solidFill>
                <a:srgbClr val="000000"/>
              </a:solidFill>
              <a:effectLst/>
              <a:uFillTx/>
              <a:latin typeface="Noto Serif JP"/>
            </a:endParaRPr>
          </a:p>
        </p:txBody>
      </p:sp>
      <p:sp>
        <p:nvSpPr>
          <p:cNvPr id="259" name=""/>
          <p:cNvSpPr/>
          <p:nvPr/>
        </p:nvSpPr>
        <p:spPr>
          <a:xfrm>
            <a:off x="809280" y="4714560"/>
            <a:ext cx="105120" cy="105120"/>
          </a:xfrm>
          <a:custGeom>
            <a:avLst/>
            <a:gdLst/>
            <a:ahLst/>
            <a:rect l="0" t="0" r="r" b="b"/>
            <a:pathLst>
              <a:path w="292" h="292">
                <a:moveTo>
                  <a:pt x="292" y="147"/>
                </a:moveTo>
                <a:cubicBezTo>
                  <a:pt x="292" y="156"/>
                  <a:pt x="292" y="166"/>
                  <a:pt x="290" y="175"/>
                </a:cubicBezTo>
                <a:cubicBezTo>
                  <a:pt x="288" y="185"/>
                  <a:pt x="285" y="194"/>
                  <a:pt x="281" y="203"/>
                </a:cubicBezTo>
                <a:cubicBezTo>
                  <a:pt x="278" y="211"/>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1"/>
                  <a:pt x="12" y="203"/>
                </a:cubicBezTo>
                <a:cubicBezTo>
                  <a:pt x="8" y="194"/>
                  <a:pt x="5" y="185"/>
                  <a:pt x="3" y="175"/>
                </a:cubicBezTo>
                <a:cubicBezTo>
                  <a:pt x="1" y="166"/>
                  <a:pt x="0" y="156"/>
                  <a:pt x="0" y="147"/>
                </a:cubicBezTo>
                <a:cubicBezTo>
                  <a:pt x="0" y="136"/>
                  <a:pt x="1" y="127"/>
                  <a:pt x="3" y="118"/>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8"/>
                </a:cubicBezTo>
                <a:cubicBezTo>
                  <a:pt x="292" y="127"/>
                  <a:pt x="292" y="136"/>
                  <a:pt x="292" y="147"/>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60" name=""/>
          <p:cNvSpPr txBox="1"/>
          <p:nvPr/>
        </p:nvSpPr>
        <p:spPr>
          <a:xfrm>
            <a:off x="7761960" y="3916800"/>
            <a:ext cx="424440" cy="171000"/>
          </a:xfrm>
          <a:prstGeom prst="rect">
            <a:avLst/>
          </a:prstGeom>
          <a:noFill/>
          <a:ln w="0">
            <a:noFill/>
          </a:ln>
        </p:spPr>
        <p:txBody>
          <a:bodyPr wrap="none" lIns="0" tIns="0" rIns="0" bIns="0" anchor="t">
            <a:spAutoFit/>
          </a:bodyPr>
          <a:p>
            <a:pPr/>
            <a:r>
              <a:rPr lang="en-US" sz="1110" b="0" u="none" strike="noStrike">
                <a:solidFill>
                  <a:srgbClr val="111111"/>
                </a:solidFill>
                <a:effectLst/>
                <a:uFillTx/>
                <a:latin typeface="NotoSansJP"/>
                <a:ea typeface="NotoSansJP"/>
              </a:rPr>
              <a:t>model</a:t>
            </a:r>
            <a:endParaRPr lang="en-US" sz="1110" b="0" u="none" strike="noStrike">
              <a:solidFill>
                <a:srgbClr val="000000"/>
              </a:solidFill>
              <a:effectLst/>
              <a:uFillTx/>
              <a:latin typeface="Noto Serif JP"/>
            </a:endParaRPr>
          </a:p>
        </p:txBody>
      </p:sp>
      <p:sp>
        <p:nvSpPr>
          <p:cNvPr id="261" name=""/>
          <p:cNvSpPr txBox="1"/>
          <p:nvPr/>
        </p:nvSpPr>
        <p:spPr>
          <a:xfrm>
            <a:off x="1085760" y="4591080"/>
            <a:ext cx="88992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波長は </a:t>
            </a:r>
            <a:endParaRPr lang="en-US" sz="2170" b="0" u="none" strike="noStrike">
              <a:solidFill>
                <a:srgbClr val="000000"/>
              </a:solidFill>
              <a:effectLst/>
              <a:uFillTx/>
              <a:latin typeface="Noto Serif JP"/>
            </a:endParaRPr>
          </a:p>
        </p:txBody>
      </p:sp>
      <p:sp>
        <p:nvSpPr>
          <p:cNvPr id="262" name=""/>
          <p:cNvSpPr txBox="1"/>
          <p:nvPr/>
        </p:nvSpPr>
        <p:spPr>
          <a:xfrm>
            <a:off x="2318400" y="4591080"/>
            <a:ext cx="67608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から </a:t>
            </a:r>
            <a:endParaRPr lang="en-US" sz="2170" b="0" u="none" strike="noStrike">
              <a:solidFill>
                <a:srgbClr val="000000"/>
              </a:solidFill>
              <a:effectLst/>
              <a:uFillTx/>
              <a:latin typeface="Noto Serif JP"/>
            </a:endParaRPr>
          </a:p>
        </p:txBody>
      </p:sp>
      <p:sp>
        <p:nvSpPr>
          <p:cNvPr id="263" name=""/>
          <p:cNvSpPr/>
          <p:nvPr/>
        </p:nvSpPr>
        <p:spPr>
          <a:xfrm>
            <a:off x="809280" y="5190840"/>
            <a:ext cx="105120" cy="105120"/>
          </a:xfrm>
          <a:custGeom>
            <a:avLst/>
            <a:gdLst/>
            <a:ahLst/>
            <a:rect l="0" t="0" r="r" b="b"/>
            <a:pathLst>
              <a:path w="292" h="292">
                <a:moveTo>
                  <a:pt x="292" y="146"/>
                </a:moveTo>
                <a:cubicBezTo>
                  <a:pt x="292" y="155"/>
                  <a:pt x="292" y="165"/>
                  <a:pt x="290" y="174"/>
                </a:cubicBezTo>
                <a:cubicBezTo>
                  <a:pt x="288" y="184"/>
                  <a:pt x="285" y="193"/>
                  <a:pt x="281" y="201"/>
                </a:cubicBezTo>
                <a:cubicBezTo>
                  <a:pt x="278" y="210"/>
                  <a:pt x="273" y="219"/>
                  <a:pt x="268" y="227"/>
                </a:cubicBezTo>
                <a:cubicBezTo>
                  <a:pt x="263" y="235"/>
                  <a:pt x="257" y="242"/>
                  <a:pt x="250" y="249"/>
                </a:cubicBezTo>
                <a:cubicBezTo>
                  <a:pt x="243" y="255"/>
                  <a:pt x="236" y="261"/>
                  <a:pt x="228" y="267"/>
                </a:cubicBezTo>
                <a:cubicBezTo>
                  <a:pt x="219" y="272"/>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2"/>
                  <a:pt x="65" y="267"/>
                </a:cubicBezTo>
                <a:cubicBezTo>
                  <a:pt x="57" y="261"/>
                  <a:pt x="50" y="255"/>
                  <a:pt x="43" y="249"/>
                </a:cubicBezTo>
                <a:cubicBezTo>
                  <a:pt x="36" y="242"/>
                  <a:pt x="30" y="235"/>
                  <a:pt x="25" y="227"/>
                </a:cubicBezTo>
                <a:cubicBezTo>
                  <a:pt x="20" y="219"/>
                  <a:pt x="15" y="210"/>
                  <a:pt x="12" y="201"/>
                </a:cubicBezTo>
                <a:cubicBezTo>
                  <a:pt x="8" y="193"/>
                  <a:pt x="5" y="184"/>
                  <a:pt x="3" y="174"/>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64" name=""/>
          <p:cNvSpPr txBox="1"/>
          <p:nvPr/>
        </p:nvSpPr>
        <p:spPr>
          <a:xfrm>
            <a:off x="4341600" y="4591080"/>
            <a:ext cx="392436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までの幾何学的な進行を形成。</a:t>
            </a:r>
            <a:endParaRPr lang="en-US" sz="2170" b="0" u="none" strike="noStrike">
              <a:solidFill>
                <a:srgbClr val="000000"/>
              </a:solidFill>
              <a:effectLst/>
              <a:uFillTx/>
              <a:latin typeface="Noto Serif JP"/>
            </a:endParaRPr>
          </a:p>
        </p:txBody>
      </p:sp>
      <p:sp>
        <p:nvSpPr>
          <p:cNvPr id="265" name=""/>
          <p:cNvSpPr txBox="1"/>
          <p:nvPr/>
        </p:nvSpPr>
        <p:spPr>
          <a:xfrm>
            <a:off x="1085760" y="5067360"/>
            <a:ext cx="1059156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相対位置による</a:t>
            </a:r>
            <a:r>
              <a:rPr lang="en-US" sz="2170" b="0" u="none" strike="noStrike">
                <a:solidFill>
                  <a:srgbClr val="111111"/>
                </a:solidFill>
                <a:effectLst/>
                <a:uFillTx/>
                <a:latin typeface="NotoSansJP"/>
                <a:ea typeface="NotoSansJP"/>
              </a:rPr>
              <a:t>Attention</a:t>
            </a:r>
            <a:r>
              <a:rPr lang="ja-JP" sz="2170" b="0" u="none" strike="noStrike">
                <a:solidFill>
                  <a:srgbClr val="111111"/>
                </a:solidFill>
                <a:effectLst/>
                <a:uFillTx/>
                <a:latin typeface="NotoSansJP"/>
                <a:ea typeface="NotoSansJP"/>
              </a:rPr>
              <a:t>学習を容易にし、訓練時より長いシーケンス長への外挿を可</a:t>
            </a:r>
            <a:endParaRPr lang="en-US" sz="2170" b="0" u="none" strike="noStrike">
              <a:solidFill>
                <a:srgbClr val="000000"/>
              </a:solidFill>
              <a:effectLst/>
              <a:uFillTx/>
              <a:latin typeface="Noto Serif JP"/>
            </a:endParaRPr>
          </a:p>
        </p:txBody>
      </p:sp>
      <p:sp>
        <p:nvSpPr>
          <p:cNvPr id="266" name=""/>
          <p:cNvSpPr txBox="1"/>
          <p:nvPr/>
        </p:nvSpPr>
        <p:spPr>
          <a:xfrm>
            <a:off x="1085760" y="5486400"/>
            <a:ext cx="137988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能にする。</a:t>
            </a:r>
            <a:endParaRPr lang="en-US" sz="2170" b="0" u="none" strike="noStrike">
              <a:solidFill>
                <a:srgbClr val="000000"/>
              </a:solidFill>
              <a:effectLst/>
              <a:uFillTx/>
              <a:latin typeface="Noto Serif JP"/>
            </a:endParaRPr>
          </a:p>
        </p:txBody>
      </p:sp>
      <p:sp>
        <p:nvSpPr>
          <p:cNvPr id="267"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68" name=""/>
          <p:cNvSpPr txBox="1"/>
          <p:nvPr/>
        </p:nvSpPr>
        <p:spPr>
          <a:xfrm>
            <a:off x="914400" y="409680"/>
            <a:ext cx="4527720" cy="299160"/>
          </a:xfrm>
          <a:prstGeom prst="rect">
            <a:avLst/>
          </a:prstGeom>
          <a:noFill/>
          <a:ln w="0">
            <a:noFill/>
          </a:ln>
        </p:spPr>
        <p:txBody>
          <a:bodyPr wrap="none" lIns="0" tIns="0" rIns="0" bIns="0" anchor="t">
            <a:spAutoFit/>
          </a:bodyPr>
          <a:p>
            <a:pPr/>
            <a:r>
              <a:rPr lang="en-US" sz="1950" b="1" u="none" strike="noStrike">
                <a:solidFill>
                  <a:srgbClr val="111111"/>
                </a:solidFill>
                <a:effectLst/>
                <a:uFillTx/>
                <a:latin typeface="NotoSansJPThin"/>
                <a:ea typeface="NotoSansJPThin"/>
              </a:rPr>
              <a:t>Transformer</a:t>
            </a:r>
            <a:r>
              <a:rPr lang="ja-JP" sz="1950" b="1" u="none" strike="noStrike">
                <a:solidFill>
                  <a:srgbClr val="111111"/>
                </a:solidFill>
                <a:effectLst/>
                <a:uFillTx/>
                <a:latin typeface="NotoSansJPThin"/>
                <a:ea typeface="NotoSansJPThin"/>
              </a:rPr>
              <a:t>の詳細：</a:t>
            </a:r>
            <a:r>
              <a:rPr lang="en-US" sz="1950" b="1" u="none" strike="noStrike">
                <a:solidFill>
                  <a:srgbClr val="111111"/>
                </a:solidFill>
                <a:effectLst/>
                <a:uFillTx/>
                <a:latin typeface="NotoSansJPThin"/>
                <a:ea typeface="NotoSansJPThin"/>
              </a:rPr>
              <a:t>Positional Encoding</a:t>
            </a:r>
            <a:endParaRPr lang="en-US" sz="1950" b="0" u="none" strike="noStrike">
              <a:solidFill>
                <a:srgbClr val="000000"/>
              </a:solidFill>
              <a:effectLst/>
              <a:uFillTx/>
              <a:latin typeface="Noto Serif JP"/>
            </a:endParaRPr>
          </a:p>
        </p:txBody>
      </p:sp>
      <p:sp>
        <p:nvSpPr>
          <p:cNvPr id="269" name=""/>
          <p:cNvSpPr txBox="1"/>
          <p:nvPr/>
        </p:nvSpPr>
        <p:spPr>
          <a:xfrm>
            <a:off x="3081240" y="2347200"/>
            <a:ext cx="47844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pos</a:t>
            </a:r>
            <a:endParaRPr lang="en-US" sz="2220" b="0" u="none" strike="noStrike">
              <a:solidFill>
                <a:srgbClr val="000000"/>
              </a:solidFill>
              <a:effectLst/>
              <a:uFillTx/>
              <a:latin typeface="Noto Serif JP"/>
            </a:endParaRPr>
          </a:p>
        </p:txBody>
      </p:sp>
      <p:sp>
        <p:nvSpPr>
          <p:cNvPr id="270" name=""/>
          <p:cNvSpPr txBox="1"/>
          <p:nvPr/>
        </p:nvSpPr>
        <p:spPr>
          <a:xfrm>
            <a:off x="4509720" y="234720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i</a:t>
            </a:r>
            <a:endParaRPr lang="en-US" sz="2220" b="0" u="none" strike="noStrike">
              <a:solidFill>
                <a:srgbClr val="000000"/>
              </a:solidFill>
              <a:effectLst/>
              <a:uFillTx/>
              <a:latin typeface="Noto Serif JP"/>
            </a:endParaRPr>
          </a:p>
        </p:txBody>
      </p:sp>
      <p:sp>
        <p:nvSpPr>
          <p:cNvPr id="271" name=""/>
          <p:cNvSpPr txBox="1"/>
          <p:nvPr/>
        </p:nvSpPr>
        <p:spPr>
          <a:xfrm>
            <a:off x="1976400" y="458568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2</a:t>
            </a:r>
            <a:endParaRPr lang="en-US" sz="2220" b="0" u="none" strike="noStrike">
              <a:solidFill>
                <a:srgbClr val="000000"/>
              </a:solidFill>
              <a:effectLst/>
              <a:uFillTx/>
              <a:latin typeface="Noto Serif JP"/>
            </a:endParaRPr>
          </a:p>
        </p:txBody>
      </p:sp>
      <p:sp>
        <p:nvSpPr>
          <p:cNvPr id="272" name=""/>
          <p:cNvSpPr txBox="1"/>
          <p:nvPr/>
        </p:nvSpPr>
        <p:spPr>
          <a:xfrm>
            <a:off x="2133000" y="4568760"/>
            <a:ext cx="281520" cy="422640"/>
          </a:xfrm>
          <a:prstGeom prst="rect">
            <a:avLst/>
          </a:prstGeom>
          <a:noFill/>
          <a:ln w="0">
            <a:noFill/>
          </a:ln>
        </p:spPr>
        <p:txBody>
          <a:bodyPr wrap="none" lIns="0" tIns="0" rIns="0" bIns="0" anchor="t">
            <a:spAutoFit/>
          </a:bodyPr>
          <a:p>
            <a:pPr/>
            <a:r>
              <a:rPr lang="en-US" sz="2220" b="0" i="1" u="none" strike="noStrike">
                <a:solidFill>
                  <a:srgbClr val="111111"/>
                </a:solidFill>
                <a:effectLst/>
                <a:uFillTx/>
                <a:latin typeface="Meiryo"/>
                <a:ea typeface="Meiryo"/>
              </a:rPr>
              <a:t>π</a:t>
            </a:r>
            <a:endParaRPr lang="en-US" sz="2220" b="0" u="none" strike="noStrike">
              <a:solidFill>
                <a:srgbClr val="000000"/>
              </a:solidFill>
              <a:effectLst/>
              <a:uFillTx/>
              <a:latin typeface="Noto Serif JP"/>
            </a:endParaRPr>
          </a:p>
        </p:txBody>
      </p:sp>
      <p:sp>
        <p:nvSpPr>
          <p:cNvPr id="273" name=""/>
          <p:cNvSpPr txBox="1"/>
          <p:nvPr/>
        </p:nvSpPr>
        <p:spPr>
          <a:xfrm>
            <a:off x="2994480" y="4585680"/>
            <a:ext cx="78300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10000</a:t>
            </a:r>
            <a:endParaRPr lang="en-US" sz="2220" b="0" u="none" strike="noStrike">
              <a:solidFill>
                <a:srgbClr val="000000"/>
              </a:solidFill>
              <a:effectLst/>
              <a:uFillTx/>
              <a:latin typeface="Noto Serif JP"/>
            </a:endParaRPr>
          </a:p>
        </p:txBody>
      </p:sp>
      <p:sp>
        <p:nvSpPr>
          <p:cNvPr id="274" name=""/>
          <p:cNvSpPr txBox="1"/>
          <p:nvPr/>
        </p:nvSpPr>
        <p:spPr>
          <a:xfrm>
            <a:off x="3839040" y="4568760"/>
            <a:ext cx="281520" cy="42264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Meiryo"/>
                <a:ea typeface="Meiryo"/>
              </a:rPr>
              <a:t>⋅</a:t>
            </a:r>
            <a:endParaRPr lang="en-US" sz="2220" b="0" u="none" strike="noStrike">
              <a:solidFill>
                <a:srgbClr val="000000"/>
              </a:solidFill>
              <a:effectLst/>
              <a:uFillTx/>
              <a:latin typeface="Noto Serif JP"/>
            </a:endParaRPr>
          </a:p>
        </p:txBody>
      </p:sp>
      <p:sp>
        <p:nvSpPr>
          <p:cNvPr id="275" name=""/>
          <p:cNvSpPr txBox="1"/>
          <p:nvPr/>
        </p:nvSpPr>
        <p:spPr>
          <a:xfrm>
            <a:off x="3999960" y="458568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2</a:t>
            </a:r>
            <a:endParaRPr lang="en-US" sz="2220" b="0" u="none" strike="noStrike">
              <a:solidFill>
                <a:srgbClr val="000000"/>
              </a:solidFill>
              <a:effectLst/>
              <a:uFillTx/>
              <a:latin typeface="Noto Serif JP"/>
            </a:endParaRPr>
          </a:p>
        </p:txBody>
      </p:sp>
      <p:sp>
        <p:nvSpPr>
          <p:cNvPr id="276" name=""/>
          <p:cNvSpPr txBox="1"/>
          <p:nvPr/>
        </p:nvSpPr>
        <p:spPr>
          <a:xfrm>
            <a:off x="4156200" y="4568760"/>
            <a:ext cx="281520" cy="422640"/>
          </a:xfrm>
          <a:prstGeom prst="rect">
            <a:avLst/>
          </a:prstGeom>
          <a:noFill/>
          <a:ln w="0">
            <a:noFill/>
          </a:ln>
        </p:spPr>
        <p:txBody>
          <a:bodyPr wrap="none" lIns="0" tIns="0" rIns="0" bIns="0" anchor="t">
            <a:spAutoFit/>
          </a:bodyPr>
          <a:p>
            <a:pPr/>
            <a:r>
              <a:rPr lang="en-US" sz="2220" b="0" i="1" u="none" strike="noStrike">
                <a:solidFill>
                  <a:srgbClr val="111111"/>
                </a:solidFill>
                <a:effectLst/>
                <a:uFillTx/>
                <a:latin typeface="Meiryo"/>
                <a:ea typeface="Meiryo"/>
              </a:rPr>
              <a:t>π</a:t>
            </a:r>
            <a:endParaRPr lang="en-US" sz="2220" b="0" u="none" strike="noStrike">
              <a:solidFill>
                <a:srgbClr val="000000"/>
              </a:solidFill>
              <a:effectLst/>
              <a:uFillTx/>
              <a:latin typeface="Noto Serif JP"/>
            </a:endParaRPr>
          </a:p>
        </p:txBody>
      </p:sp>
      <p:sp>
        <p:nvSpPr>
          <p:cNvPr id="277" name=""/>
          <p:cNvSpPr txBox="1"/>
          <p:nvPr/>
        </p:nvSpPr>
        <p:spPr>
          <a:xfrm>
            <a:off x="11946600" y="6458040"/>
            <a:ext cx="304560" cy="366120"/>
          </a:xfrm>
          <a:prstGeom prst="rect">
            <a:avLst/>
          </a:prstGeom>
          <a:noFill/>
          <a:ln w="0">
            <a:noFill/>
          </a:ln>
        </p:spPr>
        <p:txBody>
          <a:bodyPr wrap="none" lIns="0" tIns="0" rIns="0" bIns="0" anchor="t">
            <a:spAutoFit/>
          </a:bodyPr>
          <a:p>
            <a:pPr/>
            <a:r>
              <a:rPr lang="en-US" sz="2400" b="0" u="none" strike="noStrike">
                <a:solidFill>
                  <a:srgbClr val="111111"/>
                </a:solidFill>
                <a:effectLst/>
                <a:uFillTx/>
                <a:latin typeface="NotoSansJP"/>
                <a:ea typeface="NotoSansJP"/>
              </a:rPr>
              <a:t>9</a:t>
            </a:r>
            <a:endParaRPr lang="en-US" sz="2400" b="0" u="none" strike="noStrike">
              <a:solidFill>
                <a:srgbClr val="000000"/>
              </a:solidFill>
              <a:effectLst/>
              <a:uFillTx/>
              <a:latin typeface="Noto Serif JP"/>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27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28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281"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0"/>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282"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83" name=""/>
          <p:cNvSpPr txBox="1"/>
          <p:nvPr/>
        </p:nvSpPr>
        <p:spPr>
          <a:xfrm>
            <a:off x="533520" y="942840"/>
            <a:ext cx="743652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WMT 2014 </a:t>
            </a:r>
            <a:r>
              <a:rPr lang="ja-JP" sz="2170" b="0" u="none" strike="noStrike">
                <a:solidFill>
                  <a:srgbClr val="111111"/>
                </a:solidFill>
                <a:effectLst/>
                <a:uFillTx/>
                <a:latin typeface="NotoSansJP"/>
                <a:ea typeface="NotoSansJP"/>
              </a:rPr>
              <a:t>の英独、英仏翻訳タスクで性能を評価しました。</a:t>
            </a:r>
            <a:endParaRPr lang="en-US" sz="2170" b="0" u="none" strike="noStrike">
              <a:solidFill>
                <a:srgbClr val="000000"/>
              </a:solidFill>
              <a:effectLst/>
              <a:uFillTx/>
              <a:latin typeface="Noto Serif JP"/>
            </a:endParaRPr>
          </a:p>
        </p:txBody>
      </p:sp>
      <p:sp>
        <p:nvSpPr>
          <p:cNvPr id="284" name=""/>
          <p:cNvSpPr/>
          <p:nvPr/>
        </p:nvSpPr>
        <p:spPr>
          <a:xfrm>
            <a:off x="1361880" y="1990440"/>
            <a:ext cx="105120" cy="105120"/>
          </a:xfrm>
          <a:custGeom>
            <a:avLst/>
            <a:gdLst/>
            <a:ahLst/>
            <a:rect l="0" t="0" r="r" b="b"/>
            <a:pathLst>
              <a:path w="292" h="292">
                <a:moveTo>
                  <a:pt x="292" y="147"/>
                </a:moveTo>
                <a:cubicBezTo>
                  <a:pt x="292" y="156"/>
                  <a:pt x="291" y="166"/>
                  <a:pt x="289" y="175"/>
                </a:cubicBezTo>
                <a:cubicBezTo>
                  <a:pt x="287" y="185"/>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5"/>
                  <a:pt x="3" y="175"/>
                </a:cubicBezTo>
                <a:cubicBezTo>
                  <a:pt x="1" y="166"/>
                  <a:pt x="0" y="156"/>
                  <a:pt x="0" y="147"/>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285" name=""/>
          <p:cNvSpPr txBox="1"/>
          <p:nvPr/>
        </p:nvSpPr>
        <p:spPr>
          <a:xfrm>
            <a:off x="1085760" y="1457280"/>
            <a:ext cx="1655640" cy="331200"/>
          </a:xfrm>
          <a:prstGeom prst="rect">
            <a:avLst/>
          </a:prstGeom>
          <a:noFill/>
          <a:ln w="0">
            <a:noFill/>
          </a:ln>
        </p:spPr>
        <p:txBody>
          <a:bodyPr wrap="none" lIns="0" tIns="0" rIns="0" bIns="0" anchor="t">
            <a:spAutoFit/>
          </a:bodyPr>
          <a:p>
            <a:pPr/>
            <a:r>
              <a:rPr lang="ja-JP" sz="2170" b="1" u="none" strike="noStrike">
                <a:solidFill>
                  <a:srgbClr val="111111"/>
                </a:solidFill>
                <a:effectLst/>
                <a:uFillTx/>
                <a:latin typeface="NotoSansJPThin"/>
                <a:ea typeface="NotoSansJPThin"/>
              </a:rPr>
              <a:t>データセット</a:t>
            </a:r>
            <a:endParaRPr lang="en-US" sz="2170" b="0" u="none" strike="noStrike">
              <a:solidFill>
                <a:srgbClr val="000000"/>
              </a:solidFill>
              <a:effectLst/>
              <a:uFillTx/>
              <a:latin typeface="Noto Serif JP"/>
            </a:endParaRPr>
          </a:p>
        </p:txBody>
      </p:sp>
      <p:sp>
        <p:nvSpPr>
          <p:cNvPr id="286" name=""/>
          <p:cNvSpPr/>
          <p:nvPr/>
        </p:nvSpPr>
        <p:spPr>
          <a:xfrm>
            <a:off x="1361880" y="247644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7"/>
                  <a:pt x="7" y="98"/>
                  <a:pt x="11" y="89"/>
                </a:cubicBezTo>
                <a:cubicBezTo>
                  <a:pt x="15" y="81"/>
                  <a:pt x="19" y="72"/>
                  <a:pt x="25" y="64"/>
                </a:cubicBezTo>
                <a:cubicBezTo>
                  <a:pt x="30" y="56"/>
                  <a:pt x="36" y="49"/>
                  <a:pt x="43" y="42"/>
                </a:cubicBezTo>
                <a:cubicBezTo>
                  <a:pt x="49" y="36"/>
                  <a:pt x="57" y="29"/>
                  <a:pt x="65" y="24"/>
                </a:cubicBezTo>
                <a:cubicBezTo>
                  <a:pt x="73" y="19"/>
                  <a:pt x="81" y="14"/>
                  <a:pt x="90" y="11"/>
                </a:cubicBezTo>
                <a:cubicBezTo>
                  <a:pt x="99" y="7"/>
                  <a:pt x="108" y="4"/>
                  <a:pt x="117" y="2"/>
                </a:cubicBezTo>
                <a:cubicBezTo>
                  <a:pt x="127" y="1"/>
                  <a:pt x="136" y="0"/>
                  <a:pt x="147" y="0"/>
                </a:cubicBezTo>
                <a:cubicBezTo>
                  <a:pt x="156" y="0"/>
                  <a:pt x="166" y="1"/>
                  <a:pt x="175" y="2"/>
                </a:cubicBezTo>
                <a:cubicBezTo>
                  <a:pt x="184" y="4"/>
                  <a:pt x="193" y="7"/>
                  <a:pt x="202" y="11"/>
                </a:cubicBezTo>
                <a:cubicBezTo>
                  <a:pt x="211" y="14"/>
                  <a:pt x="219" y="19"/>
                  <a:pt x="227" y="24"/>
                </a:cubicBezTo>
                <a:cubicBezTo>
                  <a:pt x="235" y="29"/>
                  <a:pt x="243" y="36"/>
                  <a:pt x="249" y="42"/>
                </a:cubicBezTo>
                <a:cubicBezTo>
                  <a:pt x="256" y="49"/>
                  <a:pt x="262" y="56"/>
                  <a:pt x="268" y="64"/>
                </a:cubicBezTo>
                <a:cubicBezTo>
                  <a:pt x="273" y="72"/>
                  <a:pt x="277" y="81"/>
                  <a:pt x="281" y="89"/>
                </a:cubicBezTo>
                <a:cubicBezTo>
                  <a:pt x="285" y="98"/>
                  <a:pt x="287" y="107"/>
                  <a:pt x="289" y="117"/>
                </a:cubicBezTo>
                <a:cubicBezTo>
                  <a:pt x="291" y="126"/>
                  <a:pt x="292" y="136"/>
                  <a:pt x="292" y="145"/>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287" name=""/>
          <p:cNvSpPr txBox="1"/>
          <p:nvPr/>
        </p:nvSpPr>
        <p:spPr>
          <a:xfrm>
            <a:off x="1638360" y="1866960"/>
            <a:ext cx="1019088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英独</a:t>
            </a:r>
            <a:r>
              <a:rPr lang="en-US" sz="2170" b="0" u="none" strike="noStrike">
                <a:solidFill>
                  <a:srgbClr val="111111"/>
                </a:solidFill>
                <a:effectLst/>
                <a:uFillTx/>
                <a:latin typeface="NotoSansJP"/>
                <a:ea typeface="NotoSansJP"/>
              </a:rPr>
              <a:t>: </a:t>
            </a:r>
            <a:r>
              <a:rPr lang="ja-JP" sz="2170" b="0" u="none" strike="noStrike">
                <a:solidFill>
                  <a:srgbClr val="111111"/>
                </a:solidFill>
                <a:effectLst/>
                <a:uFillTx/>
                <a:latin typeface="NotoSansJP"/>
                <a:ea typeface="NotoSansJP"/>
              </a:rPr>
              <a:t>約</a:t>
            </a:r>
            <a:r>
              <a:rPr lang="en-US" sz="2170" b="0" u="none" strike="noStrike">
                <a:solidFill>
                  <a:srgbClr val="111111"/>
                </a:solidFill>
                <a:effectLst/>
                <a:uFillTx/>
                <a:latin typeface="NotoSansJP"/>
                <a:ea typeface="NotoSansJP"/>
              </a:rPr>
              <a:t>450</a:t>
            </a:r>
            <a:r>
              <a:rPr lang="ja-JP" sz="2170" b="0" u="none" strike="noStrike">
                <a:solidFill>
                  <a:srgbClr val="111111"/>
                </a:solidFill>
                <a:effectLst/>
                <a:uFillTx/>
                <a:latin typeface="NotoSansJP"/>
                <a:ea typeface="NotoSansJP"/>
              </a:rPr>
              <a:t>万文ペア、共有語彙</a:t>
            </a:r>
            <a:r>
              <a:rPr lang="en-US" sz="2170" b="0" u="none" strike="noStrike">
                <a:solidFill>
                  <a:srgbClr val="111111"/>
                </a:solidFill>
                <a:effectLst/>
                <a:uFillTx/>
                <a:latin typeface="NotoSansJP"/>
                <a:ea typeface="NotoSansJP"/>
              </a:rPr>
              <a:t>37000</a:t>
            </a:r>
            <a:r>
              <a:rPr lang="ja-JP" sz="2170" b="0" u="none" strike="noStrike">
                <a:solidFill>
                  <a:srgbClr val="111111"/>
                </a:solidFill>
                <a:effectLst/>
                <a:uFillTx/>
                <a:latin typeface="NotoSansJP"/>
                <a:ea typeface="NotoSansJP"/>
              </a:rPr>
              <a:t>トークン（バイトペアエンコーディング）。</a:t>
            </a:r>
            <a:endParaRPr lang="en-US" sz="2170" b="0" u="none" strike="noStrike">
              <a:solidFill>
                <a:srgbClr val="000000"/>
              </a:solidFill>
              <a:effectLst/>
              <a:uFillTx/>
              <a:latin typeface="Noto Serif JP"/>
            </a:endParaRPr>
          </a:p>
        </p:txBody>
      </p:sp>
      <p:sp>
        <p:nvSpPr>
          <p:cNvPr id="288" name=""/>
          <p:cNvSpPr/>
          <p:nvPr/>
        </p:nvSpPr>
        <p:spPr>
          <a:xfrm>
            <a:off x="809280" y="2962080"/>
            <a:ext cx="105120" cy="105120"/>
          </a:xfrm>
          <a:custGeom>
            <a:avLst/>
            <a:gdLst/>
            <a:ahLst/>
            <a:rect l="0" t="0" r="r" b="b"/>
            <a:pathLst>
              <a:path w="292" h="292">
                <a:moveTo>
                  <a:pt x="292" y="147"/>
                </a:moveTo>
                <a:cubicBezTo>
                  <a:pt x="292" y="156"/>
                  <a:pt x="292" y="166"/>
                  <a:pt x="290" y="175"/>
                </a:cubicBezTo>
                <a:cubicBezTo>
                  <a:pt x="288" y="184"/>
                  <a:pt x="285" y="193"/>
                  <a:pt x="281" y="202"/>
                </a:cubicBezTo>
                <a:cubicBezTo>
                  <a:pt x="278" y="211"/>
                  <a:pt x="273" y="219"/>
                  <a:pt x="268" y="227"/>
                </a:cubicBezTo>
                <a:cubicBezTo>
                  <a:pt x="263" y="235"/>
                  <a:pt x="257" y="243"/>
                  <a:pt x="250" y="249"/>
                </a:cubicBezTo>
                <a:cubicBezTo>
                  <a:pt x="243" y="256"/>
                  <a:pt x="236" y="262"/>
                  <a:pt x="228" y="268"/>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8"/>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6"/>
                  <a:pt x="0" y="156"/>
                  <a:pt x="0" y="147"/>
                </a:cubicBezTo>
                <a:cubicBezTo>
                  <a:pt x="0" y="137"/>
                  <a:pt x="1" y="128"/>
                  <a:pt x="3" y="118"/>
                </a:cubicBezTo>
                <a:cubicBezTo>
                  <a:pt x="5" y="109"/>
                  <a:pt x="8" y="100"/>
                  <a:pt x="12" y="91"/>
                </a:cubicBezTo>
                <a:cubicBezTo>
                  <a:pt x="15" y="82"/>
                  <a:pt x="20" y="74"/>
                  <a:pt x="25" y="65"/>
                </a:cubicBezTo>
                <a:cubicBezTo>
                  <a:pt x="30" y="57"/>
                  <a:pt x="36" y="49"/>
                  <a:pt x="43" y="43"/>
                </a:cubicBezTo>
                <a:cubicBezTo>
                  <a:pt x="50" y="36"/>
                  <a:pt x="57" y="30"/>
                  <a:pt x="65" y="25"/>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5"/>
                </a:cubicBezTo>
                <a:cubicBezTo>
                  <a:pt x="236" y="30"/>
                  <a:pt x="243" y="36"/>
                  <a:pt x="250" y="43"/>
                </a:cubicBezTo>
                <a:cubicBezTo>
                  <a:pt x="257" y="49"/>
                  <a:pt x="263" y="57"/>
                  <a:pt x="268" y="65"/>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89" name=""/>
          <p:cNvSpPr txBox="1"/>
          <p:nvPr/>
        </p:nvSpPr>
        <p:spPr>
          <a:xfrm>
            <a:off x="1638360" y="2352600"/>
            <a:ext cx="620604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英仏</a:t>
            </a:r>
            <a:r>
              <a:rPr lang="en-US" sz="2170" b="0" u="none" strike="noStrike">
                <a:solidFill>
                  <a:srgbClr val="111111"/>
                </a:solidFill>
                <a:effectLst/>
                <a:uFillTx/>
                <a:latin typeface="NotoSansJP"/>
                <a:ea typeface="NotoSansJP"/>
              </a:rPr>
              <a:t>: </a:t>
            </a:r>
            <a:r>
              <a:rPr lang="ja-JP" sz="2170" b="0" u="none" strike="noStrike">
                <a:solidFill>
                  <a:srgbClr val="111111"/>
                </a:solidFill>
                <a:effectLst/>
                <a:uFillTx/>
                <a:latin typeface="NotoSansJP"/>
                <a:ea typeface="NotoSansJP"/>
              </a:rPr>
              <a:t>約</a:t>
            </a:r>
            <a:r>
              <a:rPr lang="en-US" sz="2170" b="0" u="none" strike="noStrike">
                <a:solidFill>
                  <a:srgbClr val="111111"/>
                </a:solidFill>
                <a:effectLst/>
                <a:uFillTx/>
                <a:latin typeface="NotoSansJP"/>
                <a:ea typeface="NotoSansJP"/>
              </a:rPr>
              <a:t>3600</a:t>
            </a:r>
            <a:r>
              <a:rPr lang="ja-JP" sz="2170" b="0" u="none" strike="noStrike">
                <a:solidFill>
                  <a:srgbClr val="111111"/>
                </a:solidFill>
                <a:effectLst/>
                <a:uFillTx/>
                <a:latin typeface="NotoSansJP"/>
                <a:ea typeface="NotoSansJP"/>
              </a:rPr>
              <a:t>万文ペア、</a:t>
            </a:r>
            <a:r>
              <a:rPr lang="en-US" sz="2170" b="0" u="none" strike="noStrike">
                <a:solidFill>
                  <a:srgbClr val="111111"/>
                </a:solidFill>
                <a:effectLst/>
                <a:uFillTx/>
                <a:latin typeface="NotoSansJP"/>
                <a:ea typeface="NotoSansJP"/>
              </a:rPr>
              <a:t>32000</a:t>
            </a:r>
            <a:r>
              <a:rPr lang="ja-JP" sz="2170" b="0" u="none" strike="noStrike">
                <a:solidFill>
                  <a:srgbClr val="111111"/>
                </a:solidFill>
                <a:effectLst/>
                <a:uFillTx/>
                <a:latin typeface="NotoSansJP"/>
                <a:ea typeface="NotoSansJP"/>
              </a:rPr>
              <a:t>ワードピース語彙。</a:t>
            </a:r>
            <a:endParaRPr lang="en-US" sz="2170" b="0" u="none" strike="noStrike">
              <a:solidFill>
                <a:srgbClr val="000000"/>
              </a:solidFill>
              <a:effectLst/>
              <a:uFillTx/>
              <a:latin typeface="Noto Serif JP"/>
            </a:endParaRPr>
          </a:p>
        </p:txBody>
      </p:sp>
      <p:sp>
        <p:nvSpPr>
          <p:cNvPr id="290" name=""/>
          <p:cNvSpPr/>
          <p:nvPr/>
        </p:nvSpPr>
        <p:spPr>
          <a:xfrm>
            <a:off x="1361880" y="337176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2"/>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9"/>
                  <a:pt x="7" y="99"/>
                  <a:pt x="11" y="90"/>
                </a:cubicBezTo>
                <a:cubicBezTo>
                  <a:pt x="15" y="81"/>
                  <a:pt x="19" y="72"/>
                  <a:pt x="25" y="64"/>
                </a:cubicBezTo>
                <a:cubicBezTo>
                  <a:pt x="30" y="56"/>
                  <a:pt x="36" y="49"/>
                  <a:pt x="43" y="42"/>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2"/>
                </a:cubicBezTo>
                <a:cubicBezTo>
                  <a:pt x="256" y="49"/>
                  <a:pt x="262" y="56"/>
                  <a:pt x="268" y="64"/>
                </a:cubicBezTo>
                <a:cubicBezTo>
                  <a:pt x="273" y="72"/>
                  <a:pt x="277" y="81"/>
                  <a:pt x="281" y="90"/>
                </a:cubicBezTo>
                <a:cubicBezTo>
                  <a:pt x="285" y="99"/>
                  <a:pt x="287" y="109"/>
                  <a:pt x="289" y="118"/>
                </a:cubicBezTo>
                <a:cubicBezTo>
                  <a:pt x="291" y="127"/>
                  <a:pt x="292" y="137"/>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291" name=""/>
          <p:cNvSpPr txBox="1"/>
          <p:nvPr/>
        </p:nvSpPr>
        <p:spPr>
          <a:xfrm>
            <a:off x="1085760" y="2838600"/>
            <a:ext cx="1655640" cy="331200"/>
          </a:xfrm>
          <a:prstGeom prst="rect">
            <a:avLst/>
          </a:prstGeom>
          <a:noFill/>
          <a:ln w="0">
            <a:noFill/>
          </a:ln>
        </p:spPr>
        <p:txBody>
          <a:bodyPr wrap="none" lIns="0" tIns="0" rIns="0" bIns="0" anchor="t">
            <a:spAutoFit/>
          </a:bodyPr>
          <a:p>
            <a:pPr/>
            <a:r>
              <a:rPr lang="ja-JP" sz="2170" b="1" u="none" strike="noStrike">
                <a:solidFill>
                  <a:srgbClr val="111111"/>
                </a:solidFill>
                <a:effectLst/>
                <a:uFillTx/>
                <a:latin typeface="NotoSansJPThin"/>
                <a:ea typeface="NotoSansJPThin"/>
              </a:rPr>
              <a:t>ハードウェア</a:t>
            </a:r>
            <a:endParaRPr lang="en-US" sz="2170" b="0" u="none" strike="noStrike">
              <a:solidFill>
                <a:srgbClr val="000000"/>
              </a:solidFill>
              <a:effectLst/>
              <a:uFillTx/>
              <a:latin typeface="Noto Serif JP"/>
            </a:endParaRPr>
          </a:p>
        </p:txBody>
      </p:sp>
      <p:sp>
        <p:nvSpPr>
          <p:cNvPr id="292" name=""/>
          <p:cNvSpPr/>
          <p:nvPr/>
        </p:nvSpPr>
        <p:spPr>
          <a:xfrm>
            <a:off x="809280" y="3857400"/>
            <a:ext cx="105120" cy="105120"/>
          </a:xfrm>
          <a:custGeom>
            <a:avLst/>
            <a:gdLst/>
            <a:ahLst/>
            <a:rect l="0" t="0" r="r" b="b"/>
            <a:pathLst>
              <a:path w="292" h="292">
                <a:moveTo>
                  <a:pt x="292" y="146"/>
                </a:moveTo>
                <a:cubicBezTo>
                  <a:pt x="292" y="155"/>
                  <a:pt x="292" y="165"/>
                  <a:pt x="290" y="174"/>
                </a:cubicBezTo>
                <a:cubicBezTo>
                  <a:pt x="288" y="183"/>
                  <a:pt x="285" y="193"/>
                  <a:pt x="281" y="202"/>
                </a:cubicBezTo>
                <a:cubicBezTo>
                  <a:pt x="278" y="211"/>
                  <a:pt x="273" y="220"/>
                  <a:pt x="268" y="227"/>
                </a:cubicBezTo>
                <a:cubicBezTo>
                  <a:pt x="263" y="235"/>
                  <a:pt x="257" y="243"/>
                  <a:pt x="250" y="250"/>
                </a:cubicBezTo>
                <a:cubicBezTo>
                  <a:pt x="243" y="256"/>
                  <a:pt x="236" y="262"/>
                  <a:pt x="228" y="268"/>
                </a:cubicBezTo>
                <a:cubicBezTo>
                  <a:pt x="219" y="273"/>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3"/>
                  <a:pt x="65" y="268"/>
                </a:cubicBezTo>
                <a:cubicBezTo>
                  <a:pt x="57" y="262"/>
                  <a:pt x="50" y="256"/>
                  <a:pt x="43" y="250"/>
                </a:cubicBezTo>
                <a:cubicBezTo>
                  <a:pt x="36" y="243"/>
                  <a:pt x="30" y="235"/>
                  <a:pt x="25" y="227"/>
                </a:cubicBezTo>
                <a:cubicBezTo>
                  <a:pt x="20" y="220"/>
                  <a:pt x="15" y="211"/>
                  <a:pt x="12" y="202"/>
                </a:cubicBezTo>
                <a:cubicBezTo>
                  <a:pt x="8" y="193"/>
                  <a:pt x="5" y="183"/>
                  <a:pt x="3" y="174"/>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93" name=""/>
          <p:cNvSpPr txBox="1"/>
          <p:nvPr/>
        </p:nvSpPr>
        <p:spPr>
          <a:xfrm>
            <a:off x="1638360" y="3247920"/>
            <a:ext cx="621360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8</a:t>
            </a:r>
            <a:r>
              <a:rPr lang="ja-JP" sz="2170" b="0" u="none" strike="noStrike">
                <a:solidFill>
                  <a:srgbClr val="111111"/>
                </a:solidFill>
                <a:effectLst/>
                <a:uFillTx/>
                <a:latin typeface="NotoSansJP"/>
                <a:ea typeface="NotoSansJP"/>
              </a:rPr>
              <a:t>基の</a:t>
            </a:r>
            <a:r>
              <a:rPr lang="en-US" sz="2170" b="0" u="none" strike="noStrike">
                <a:solidFill>
                  <a:srgbClr val="111111"/>
                </a:solidFill>
                <a:effectLst/>
                <a:uFillTx/>
                <a:latin typeface="NotoSansJP"/>
                <a:ea typeface="NotoSansJP"/>
              </a:rPr>
              <a:t>NVIDIA P100 GPU</a:t>
            </a:r>
            <a:r>
              <a:rPr lang="ja-JP" sz="2170" b="0" u="none" strike="noStrike">
                <a:solidFill>
                  <a:srgbClr val="111111"/>
                </a:solidFill>
                <a:effectLst/>
                <a:uFillTx/>
                <a:latin typeface="NotoSansJP"/>
                <a:ea typeface="NotoSansJP"/>
              </a:rPr>
              <a:t>を搭載したマシンを使用。</a:t>
            </a:r>
            <a:endParaRPr lang="en-US" sz="2170" b="0" u="none" strike="noStrike">
              <a:solidFill>
                <a:srgbClr val="000000"/>
              </a:solidFill>
              <a:effectLst/>
              <a:uFillTx/>
              <a:latin typeface="Noto Serif JP"/>
            </a:endParaRPr>
          </a:p>
        </p:txBody>
      </p:sp>
      <p:sp>
        <p:nvSpPr>
          <p:cNvPr id="294" name=""/>
          <p:cNvSpPr/>
          <p:nvPr/>
        </p:nvSpPr>
        <p:spPr>
          <a:xfrm>
            <a:off x="1361880" y="4276440"/>
            <a:ext cx="105120" cy="105120"/>
          </a:xfrm>
          <a:custGeom>
            <a:avLst/>
            <a:gdLst/>
            <a:ahLst/>
            <a:rect l="0" t="0" r="r" b="b"/>
            <a:pathLst>
              <a:path w="292" h="292">
                <a:moveTo>
                  <a:pt x="292" y="146"/>
                </a:moveTo>
                <a:cubicBezTo>
                  <a:pt x="292" y="155"/>
                  <a:pt x="291" y="165"/>
                  <a:pt x="289" y="174"/>
                </a:cubicBezTo>
                <a:cubicBezTo>
                  <a:pt x="287" y="184"/>
                  <a:pt x="285" y="193"/>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3"/>
                  <a:pt x="5" y="184"/>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295" name=""/>
          <p:cNvSpPr txBox="1"/>
          <p:nvPr/>
        </p:nvSpPr>
        <p:spPr>
          <a:xfrm>
            <a:off x="1085760" y="3733920"/>
            <a:ext cx="1104120" cy="331200"/>
          </a:xfrm>
          <a:prstGeom prst="rect">
            <a:avLst/>
          </a:prstGeom>
          <a:noFill/>
          <a:ln w="0">
            <a:noFill/>
          </a:ln>
        </p:spPr>
        <p:txBody>
          <a:bodyPr wrap="none" lIns="0" tIns="0" rIns="0" bIns="0" anchor="t">
            <a:spAutoFit/>
          </a:bodyPr>
          <a:p>
            <a:pPr/>
            <a:r>
              <a:rPr lang="ja-JP" sz="2170" b="1" u="none" strike="noStrike">
                <a:solidFill>
                  <a:srgbClr val="111111"/>
                </a:solidFill>
                <a:effectLst/>
                <a:uFillTx/>
                <a:latin typeface="NotoSansJPThin"/>
                <a:ea typeface="NotoSansJPThin"/>
              </a:rPr>
              <a:t>訓練時間</a:t>
            </a:r>
            <a:endParaRPr lang="en-US" sz="2170" b="0" u="none" strike="noStrike">
              <a:solidFill>
                <a:srgbClr val="000000"/>
              </a:solidFill>
              <a:effectLst/>
              <a:uFillTx/>
              <a:latin typeface="Noto Serif JP"/>
            </a:endParaRPr>
          </a:p>
        </p:txBody>
      </p:sp>
      <p:sp>
        <p:nvSpPr>
          <p:cNvPr id="296" name=""/>
          <p:cNvSpPr/>
          <p:nvPr/>
        </p:nvSpPr>
        <p:spPr>
          <a:xfrm>
            <a:off x="1361880" y="4752720"/>
            <a:ext cx="105120" cy="105120"/>
          </a:xfrm>
          <a:custGeom>
            <a:avLst/>
            <a:gdLst/>
            <a:ahLst/>
            <a:rect l="0" t="0" r="r" b="b"/>
            <a:pathLst>
              <a:path w="292" h="292">
                <a:moveTo>
                  <a:pt x="292" y="147"/>
                </a:moveTo>
                <a:cubicBezTo>
                  <a:pt x="292" y="156"/>
                  <a:pt x="291" y="166"/>
                  <a:pt x="289" y="175"/>
                </a:cubicBezTo>
                <a:cubicBezTo>
                  <a:pt x="287" y="184"/>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89"/>
                </a:cubicBezTo>
                <a:cubicBezTo>
                  <a:pt x="166" y="291"/>
                  <a:pt x="156" y="292"/>
                  <a:pt x="147" y="292"/>
                </a:cubicBezTo>
                <a:cubicBezTo>
                  <a:pt x="136" y="292"/>
                  <a:pt x="127" y="291"/>
                  <a:pt x="117" y="289"/>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4"/>
                  <a:pt x="3" y="175"/>
                </a:cubicBezTo>
                <a:cubicBezTo>
                  <a:pt x="1" y="166"/>
                  <a:pt x="0" y="156"/>
                  <a:pt x="0" y="147"/>
                </a:cubicBezTo>
                <a:cubicBezTo>
                  <a:pt x="0" y="137"/>
                  <a:pt x="1" y="128"/>
                  <a:pt x="3" y="118"/>
                </a:cubicBezTo>
                <a:cubicBezTo>
                  <a:pt x="5" y="109"/>
                  <a:pt x="7" y="100"/>
                  <a:pt x="11" y="91"/>
                </a:cubicBezTo>
                <a:cubicBezTo>
                  <a:pt x="15" y="82"/>
                  <a:pt x="19" y="74"/>
                  <a:pt x="25" y="66"/>
                </a:cubicBezTo>
                <a:cubicBezTo>
                  <a:pt x="30" y="58"/>
                  <a:pt x="36" y="51"/>
                  <a:pt x="43" y="44"/>
                </a:cubicBezTo>
                <a:cubicBezTo>
                  <a:pt x="49" y="36"/>
                  <a:pt x="57" y="30"/>
                  <a:pt x="65" y="25"/>
                </a:cubicBezTo>
                <a:cubicBezTo>
                  <a:pt x="73" y="19"/>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19"/>
                  <a:pt x="227" y="25"/>
                </a:cubicBezTo>
                <a:cubicBezTo>
                  <a:pt x="235" y="30"/>
                  <a:pt x="243" y="36"/>
                  <a:pt x="249" y="44"/>
                </a:cubicBezTo>
                <a:cubicBezTo>
                  <a:pt x="256" y="51"/>
                  <a:pt x="262" y="58"/>
                  <a:pt x="268" y="66"/>
                </a:cubicBezTo>
                <a:cubicBezTo>
                  <a:pt x="273" y="74"/>
                  <a:pt x="277" y="82"/>
                  <a:pt x="281" y="91"/>
                </a:cubicBezTo>
                <a:cubicBezTo>
                  <a:pt x="285" y="100"/>
                  <a:pt x="287" y="109"/>
                  <a:pt x="289" y="118"/>
                </a:cubicBezTo>
                <a:cubicBezTo>
                  <a:pt x="291" y="128"/>
                  <a:pt x="292" y="137"/>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297" name=""/>
          <p:cNvSpPr txBox="1"/>
          <p:nvPr/>
        </p:nvSpPr>
        <p:spPr>
          <a:xfrm>
            <a:off x="1638360" y="4152960"/>
            <a:ext cx="536940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Base</a:t>
            </a:r>
            <a:r>
              <a:rPr lang="ja-JP" sz="2170" b="0" u="none" strike="noStrike">
                <a:solidFill>
                  <a:srgbClr val="111111"/>
                </a:solidFill>
                <a:effectLst/>
                <a:uFillTx/>
                <a:latin typeface="NotoSansJP"/>
                <a:ea typeface="NotoSansJP"/>
              </a:rPr>
              <a:t>モデル</a:t>
            </a:r>
            <a:r>
              <a:rPr lang="en-US" sz="2170" b="0" u="none" strike="noStrike">
                <a:solidFill>
                  <a:srgbClr val="111111"/>
                </a:solidFill>
                <a:effectLst/>
                <a:uFillTx/>
                <a:latin typeface="NotoSansJP"/>
                <a:ea typeface="NotoSansJP"/>
              </a:rPr>
              <a:t>: 100,000</a:t>
            </a:r>
            <a:r>
              <a:rPr lang="ja-JP" sz="2170" b="0" u="none" strike="noStrike">
                <a:solidFill>
                  <a:srgbClr val="111111"/>
                </a:solidFill>
                <a:effectLst/>
                <a:uFillTx/>
                <a:latin typeface="NotoSansJP"/>
                <a:ea typeface="NotoSansJP"/>
              </a:rPr>
              <a:t>ステップ、約</a:t>
            </a:r>
            <a:r>
              <a:rPr lang="en-US" sz="2170" b="0" u="none" strike="noStrike">
                <a:solidFill>
                  <a:srgbClr val="111111"/>
                </a:solidFill>
                <a:effectLst/>
                <a:uFillTx/>
                <a:latin typeface="NotoSansJP"/>
                <a:ea typeface="NotoSansJP"/>
              </a:rPr>
              <a:t>12</a:t>
            </a:r>
            <a:r>
              <a:rPr lang="ja-JP" sz="2170" b="0" u="none" strike="noStrike">
                <a:solidFill>
                  <a:srgbClr val="111111"/>
                </a:solidFill>
                <a:effectLst/>
                <a:uFillTx/>
                <a:latin typeface="NotoSansJP"/>
                <a:ea typeface="NotoSansJP"/>
              </a:rPr>
              <a:t>時間。</a:t>
            </a:r>
            <a:endParaRPr lang="en-US" sz="2170" b="0" u="none" strike="noStrike">
              <a:solidFill>
                <a:srgbClr val="000000"/>
              </a:solidFill>
              <a:effectLst/>
              <a:uFillTx/>
              <a:latin typeface="Noto Serif JP"/>
            </a:endParaRPr>
          </a:p>
        </p:txBody>
      </p:sp>
      <p:sp>
        <p:nvSpPr>
          <p:cNvPr id="298" name=""/>
          <p:cNvSpPr/>
          <p:nvPr/>
        </p:nvSpPr>
        <p:spPr>
          <a:xfrm>
            <a:off x="809280" y="52387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6"/>
                  <a:pt x="1" y="126"/>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6"/>
                  <a:pt x="292" y="136"/>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299" name=""/>
          <p:cNvSpPr txBox="1"/>
          <p:nvPr/>
        </p:nvSpPr>
        <p:spPr>
          <a:xfrm>
            <a:off x="1638360" y="4629240"/>
            <a:ext cx="524016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Big</a:t>
            </a:r>
            <a:r>
              <a:rPr lang="ja-JP" sz="2170" b="0" u="none" strike="noStrike">
                <a:solidFill>
                  <a:srgbClr val="111111"/>
                </a:solidFill>
                <a:effectLst/>
                <a:uFillTx/>
                <a:latin typeface="NotoSansJP"/>
                <a:ea typeface="NotoSansJP"/>
              </a:rPr>
              <a:t>モデル</a:t>
            </a:r>
            <a:r>
              <a:rPr lang="en-US" sz="2170" b="0" u="none" strike="noStrike">
                <a:solidFill>
                  <a:srgbClr val="111111"/>
                </a:solidFill>
                <a:effectLst/>
                <a:uFillTx/>
                <a:latin typeface="NotoSansJP"/>
                <a:ea typeface="NotoSansJP"/>
              </a:rPr>
              <a:t>: 300,000</a:t>
            </a:r>
            <a:r>
              <a:rPr lang="ja-JP" sz="2170" b="0" u="none" strike="noStrike">
                <a:solidFill>
                  <a:srgbClr val="111111"/>
                </a:solidFill>
                <a:effectLst/>
                <a:uFillTx/>
                <a:latin typeface="NotoSansJP"/>
                <a:ea typeface="NotoSansJP"/>
              </a:rPr>
              <a:t>ステップ、約</a:t>
            </a:r>
            <a:r>
              <a:rPr lang="en-US" sz="2170" b="0" u="none" strike="noStrike">
                <a:solidFill>
                  <a:srgbClr val="111111"/>
                </a:solidFill>
                <a:effectLst/>
                <a:uFillTx/>
                <a:latin typeface="NotoSansJP"/>
                <a:ea typeface="NotoSansJP"/>
              </a:rPr>
              <a:t>3.5</a:t>
            </a:r>
            <a:r>
              <a:rPr lang="ja-JP" sz="2170" b="0" u="none" strike="noStrike">
                <a:solidFill>
                  <a:srgbClr val="111111"/>
                </a:solidFill>
                <a:effectLst/>
                <a:uFillTx/>
                <a:latin typeface="NotoSansJP"/>
                <a:ea typeface="NotoSansJP"/>
              </a:rPr>
              <a:t>日間。</a:t>
            </a:r>
            <a:endParaRPr lang="en-US" sz="2170" b="0" u="none" strike="noStrike">
              <a:solidFill>
                <a:srgbClr val="000000"/>
              </a:solidFill>
              <a:effectLst/>
              <a:uFillTx/>
              <a:latin typeface="Noto Serif JP"/>
            </a:endParaRPr>
          </a:p>
        </p:txBody>
      </p:sp>
      <p:sp>
        <p:nvSpPr>
          <p:cNvPr id="300" name=""/>
          <p:cNvSpPr/>
          <p:nvPr/>
        </p:nvSpPr>
        <p:spPr>
          <a:xfrm>
            <a:off x="1361880" y="565776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2"/>
                  <a:pt x="30" y="235"/>
                  <a:pt x="25" y="227"/>
                </a:cubicBezTo>
                <a:cubicBezTo>
                  <a:pt x="19" y="219"/>
                  <a:pt x="15" y="211"/>
                  <a:pt x="11" y="202"/>
                </a:cubicBezTo>
                <a:cubicBezTo>
                  <a:pt x="7" y="193"/>
                  <a:pt x="5" y="184"/>
                  <a:pt x="3" y="175"/>
                </a:cubicBezTo>
                <a:cubicBezTo>
                  <a:pt x="1" y="165"/>
                  <a:pt x="0" y="156"/>
                  <a:pt x="0" y="146"/>
                </a:cubicBezTo>
                <a:cubicBezTo>
                  <a:pt x="0" y="136"/>
                  <a:pt x="1" y="126"/>
                  <a:pt x="3" y="117"/>
                </a:cubicBezTo>
                <a:cubicBezTo>
                  <a:pt x="5" y="108"/>
                  <a:pt x="7" y="98"/>
                  <a:pt x="11" y="90"/>
                </a:cubicBezTo>
                <a:cubicBezTo>
                  <a:pt x="15" y="81"/>
                  <a:pt x="19" y="72"/>
                  <a:pt x="25" y="64"/>
                </a:cubicBezTo>
                <a:cubicBezTo>
                  <a:pt x="30" y="56"/>
                  <a:pt x="36" y="49"/>
                  <a:pt x="43" y="42"/>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2"/>
                </a:cubicBezTo>
                <a:cubicBezTo>
                  <a:pt x="256" y="49"/>
                  <a:pt x="262" y="56"/>
                  <a:pt x="268" y="64"/>
                </a:cubicBezTo>
                <a:cubicBezTo>
                  <a:pt x="273" y="72"/>
                  <a:pt x="277" y="81"/>
                  <a:pt x="281" y="90"/>
                </a:cubicBezTo>
                <a:cubicBezTo>
                  <a:pt x="285" y="98"/>
                  <a:pt x="287" y="108"/>
                  <a:pt x="289" y="117"/>
                </a:cubicBezTo>
                <a:cubicBezTo>
                  <a:pt x="291" y="126"/>
                  <a:pt x="292" y="136"/>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01" name=""/>
          <p:cNvSpPr txBox="1"/>
          <p:nvPr/>
        </p:nvSpPr>
        <p:spPr>
          <a:xfrm>
            <a:off x="1085760" y="5114880"/>
            <a:ext cx="828360" cy="331200"/>
          </a:xfrm>
          <a:prstGeom prst="rect">
            <a:avLst/>
          </a:prstGeom>
          <a:noFill/>
          <a:ln w="0">
            <a:noFill/>
          </a:ln>
        </p:spPr>
        <p:txBody>
          <a:bodyPr wrap="none" lIns="0" tIns="0" rIns="0" bIns="0" anchor="t">
            <a:spAutoFit/>
          </a:bodyPr>
          <a:p>
            <a:pPr/>
            <a:r>
              <a:rPr lang="ja-JP" sz="2170" b="1" u="none" strike="noStrike">
                <a:solidFill>
                  <a:srgbClr val="111111"/>
                </a:solidFill>
                <a:effectLst/>
                <a:uFillTx/>
                <a:latin typeface="NotoSansJPThin"/>
                <a:ea typeface="NotoSansJPThin"/>
              </a:rPr>
              <a:t>最適化</a:t>
            </a:r>
            <a:endParaRPr lang="en-US" sz="2170" b="0" u="none" strike="noStrike">
              <a:solidFill>
                <a:srgbClr val="000000"/>
              </a:solidFill>
              <a:effectLst/>
              <a:uFillTx/>
              <a:latin typeface="Noto Serif JP"/>
            </a:endParaRPr>
          </a:p>
        </p:txBody>
      </p:sp>
      <p:sp>
        <p:nvSpPr>
          <p:cNvPr id="302" name=""/>
          <p:cNvSpPr/>
          <p:nvPr/>
        </p:nvSpPr>
        <p:spPr>
          <a:xfrm>
            <a:off x="1361880" y="613404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5"/>
                  <a:pt x="235" y="261"/>
                  <a:pt x="227" y="266"/>
                </a:cubicBezTo>
                <a:cubicBezTo>
                  <a:pt x="219" y="271"/>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1"/>
                  <a:pt x="65" y="266"/>
                </a:cubicBezTo>
                <a:cubicBezTo>
                  <a:pt x="57" y="261"/>
                  <a:pt x="49" y="255"/>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7"/>
                  <a:pt x="7" y="98"/>
                  <a:pt x="11" y="89"/>
                </a:cubicBezTo>
                <a:cubicBezTo>
                  <a:pt x="15" y="81"/>
                  <a:pt x="19" y="72"/>
                  <a:pt x="25" y="64"/>
                </a:cubicBezTo>
                <a:cubicBezTo>
                  <a:pt x="30" y="56"/>
                  <a:pt x="36" y="49"/>
                  <a:pt x="43" y="42"/>
                </a:cubicBezTo>
                <a:cubicBezTo>
                  <a:pt x="49" y="36"/>
                  <a:pt x="57" y="29"/>
                  <a:pt x="65" y="24"/>
                </a:cubicBezTo>
                <a:cubicBezTo>
                  <a:pt x="73" y="19"/>
                  <a:pt x="81" y="14"/>
                  <a:pt x="90" y="11"/>
                </a:cubicBezTo>
                <a:cubicBezTo>
                  <a:pt x="99" y="7"/>
                  <a:pt x="108" y="4"/>
                  <a:pt x="117" y="2"/>
                </a:cubicBezTo>
                <a:cubicBezTo>
                  <a:pt x="127" y="1"/>
                  <a:pt x="136" y="0"/>
                  <a:pt x="147" y="0"/>
                </a:cubicBezTo>
                <a:cubicBezTo>
                  <a:pt x="156" y="0"/>
                  <a:pt x="166" y="1"/>
                  <a:pt x="175" y="2"/>
                </a:cubicBezTo>
                <a:cubicBezTo>
                  <a:pt x="184" y="4"/>
                  <a:pt x="193" y="7"/>
                  <a:pt x="202" y="11"/>
                </a:cubicBezTo>
                <a:cubicBezTo>
                  <a:pt x="211" y="14"/>
                  <a:pt x="219" y="19"/>
                  <a:pt x="227" y="24"/>
                </a:cubicBezTo>
                <a:cubicBezTo>
                  <a:pt x="235" y="29"/>
                  <a:pt x="243" y="36"/>
                  <a:pt x="249" y="42"/>
                </a:cubicBezTo>
                <a:cubicBezTo>
                  <a:pt x="256" y="49"/>
                  <a:pt x="262" y="56"/>
                  <a:pt x="268" y="64"/>
                </a:cubicBezTo>
                <a:cubicBezTo>
                  <a:pt x="273" y="72"/>
                  <a:pt x="277" y="81"/>
                  <a:pt x="281" y="89"/>
                </a:cubicBezTo>
                <a:cubicBezTo>
                  <a:pt x="285" y="98"/>
                  <a:pt x="287" y="107"/>
                  <a:pt x="289" y="117"/>
                </a:cubicBezTo>
                <a:cubicBezTo>
                  <a:pt x="291" y="126"/>
                  <a:pt x="292" y="136"/>
                  <a:pt x="292" y="145"/>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03" name=""/>
          <p:cNvSpPr txBox="1"/>
          <p:nvPr/>
        </p:nvSpPr>
        <p:spPr>
          <a:xfrm>
            <a:off x="1638360" y="5533920"/>
            <a:ext cx="378468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Adam</a:t>
            </a:r>
            <a:r>
              <a:rPr lang="ja-JP" sz="2170" b="0" u="none" strike="noStrike">
                <a:solidFill>
                  <a:srgbClr val="111111"/>
                </a:solidFill>
                <a:effectLst/>
                <a:uFillTx/>
                <a:latin typeface="NotoSansJP"/>
                <a:ea typeface="NotoSansJP"/>
              </a:rPr>
              <a:t>オプティマイザを使用。</a:t>
            </a:r>
            <a:endParaRPr lang="en-US" sz="2170" b="0" u="none" strike="noStrike">
              <a:solidFill>
                <a:srgbClr val="000000"/>
              </a:solidFill>
              <a:effectLst/>
              <a:uFillTx/>
              <a:latin typeface="Noto Serif JP"/>
            </a:endParaRPr>
          </a:p>
        </p:txBody>
      </p:sp>
      <p:sp>
        <p:nvSpPr>
          <p:cNvPr id="304" name=""/>
          <p:cNvSpPr txBox="1"/>
          <p:nvPr/>
        </p:nvSpPr>
        <p:spPr>
          <a:xfrm>
            <a:off x="1638360" y="6010200"/>
            <a:ext cx="855180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学習率はウォームアップ後にステップ数の逆平方根に比例して減衰。</a:t>
            </a:r>
            <a:endParaRPr lang="en-US" sz="2170" b="0" u="none" strike="noStrike">
              <a:solidFill>
                <a:srgbClr val="000000"/>
              </a:solidFill>
              <a:effectLst/>
              <a:uFillTx/>
              <a:latin typeface="Noto Serif JP"/>
            </a:endParaRPr>
          </a:p>
        </p:txBody>
      </p:sp>
      <p:sp>
        <p:nvSpPr>
          <p:cNvPr id="305" name=""/>
          <p:cNvSpPr txBox="1"/>
          <p:nvPr/>
        </p:nvSpPr>
        <p:spPr>
          <a:xfrm>
            <a:off x="2206440" y="6509520"/>
            <a:ext cx="106884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lrate = d</a:t>
            </a:r>
            <a:endParaRPr lang="en-US" sz="2220" b="0" u="none" strike="noStrike">
              <a:solidFill>
                <a:srgbClr val="000000"/>
              </a:solidFill>
              <a:effectLst/>
              <a:uFillTx/>
              <a:latin typeface="Noto Serif JP"/>
            </a:endParaRPr>
          </a:p>
        </p:txBody>
      </p:sp>
      <p:sp>
        <p:nvSpPr>
          <p:cNvPr id="306" name=""/>
          <p:cNvSpPr txBox="1"/>
          <p:nvPr/>
        </p:nvSpPr>
        <p:spPr>
          <a:xfrm>
            <a:off x="3956040" y="6492600"/>
            <a:ext cx="281520" cy="42264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Meiryo"/>
                <a:ea typeface="Meiryo"/>
              </a:rPr>
              <a:t>⋅</a:t>
            </a:r>
            <a:endParaRPr lang="en-US" sz="2220" b="0" u="none" strike="noStrike">
              <a:solidFill>
                <a:srgbClr val="000000"/>
              </a:solidFill>
              <a:effectLst/>
              <a:uFillTx/>
              <a:latin typeface="Noto Serif JP"/>
            </a:endParaRPr>
          </a:p>
        </p:txBody>
      </p:sp>
      <p:sp>
        <p:nvSpPr>
          <p:cNvPr id="307" name=""/>
          <p:cNvSpPr txBox="1"/>
          <p:nvPr/>
        </p:nvSpPr>
        <p:spPr>
          <a:xfrm>
            <a:off x="3285720" y="6679800"/>
            <a:ext cx="592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model</a:t>
            </a:r>
            <a:endParaRPr lang="en-US" sz="1560" b="0" u="none" strike="noStrike">
              <a:solidFill>
                <a:srgbClr val="000000"/>
              </a:solidFill>
              <a:effectLst/>
              <a:uFillTx/>
              <a:latin typeface="Noto Serif JP"/>
            </a:endParaRPr>
          </a:p>
        </p:txBody>
      </p:sp>
      <p:sp>
        <p:nvSpPr>
          <p:cNvPr id="308" name=""/>
          <p:cNvSpPr txBox="1"/>
          <p:nvPr/>
        </p:nvSpPr>
        <p:spPr>
          <a:xfrm>
            <a:off x="3285720" y="6480000"/>
            <a:ext cx="38556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−0.5</a:t>
            </a:r>
            <a:endParaRPr lang="en-US" sz="1560" b="0" u="none" strike="noStrike">
              <a:solidFill>
                <a:srgbClr val="000000"/>
              </a:solidFill>
              <a:effectLst/>
              <a:uFillTx/>
              <a:latin typeface="Noto Serif JP"/>
            </a:endParaRPr>
          </a:p>
        </p:txBody>
      </p:sp>
      <p:sp>
        <p:nvSpPr>
          <p:cNvPr id="309" name=""/>
          <p:cNvSpPr txBox="1"/>
          <p:nvPr/>
        </p:nvSpPr>
        <p:spPr>
          <a:xfrm>
            <a:off x="4116960" y="6509520"/>
            <a:ext cx="1937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min(step_num</a:t>
            </a:r>
            <a:endParaRPr lang="en-US" sz="2220" b="0" u="none" strike="noStrike">
              <a:solidFill>
                <a:srgbClr val="000000"/>
              </a:solidFill>
              <a:effectLst/>
              <a:uFillTx/>
              <a:latin typeface="Noto Serif JP"/>
            </a:endParaRPr>
          </a:p>
        </p:txBody>
      </p:sp>
      <p:sp>
        <p:nvSpPr>
          <p:cNvPr id="310" name=""/>
          <p:cNvSpPr txBox="1"/>
          <p:nvPr/>
        </p:nvSpPr>
        <p:spPr>
          <a:xfrm>
            <a:off x="6437880" y="6509520"/>
            <a:ext cx="14731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 step_num</a:t>
            </a:r>
            <a:endParaRPr lang="en-US" sz="2220" b="0" u="none" strike="noStrike">
              <a:solidFill>
                <a:srgbClr val="000000"/>
              </a:solidFill>
              <a:effectLst/>
              <a:uFillTx/>
              <a:latin typeface="Noto Serif JP"/>
            </a:endParaRPr>
          </a:p>
        </p:txBody>
      </p:sp>
      <p:sp>
        <p:nvSpPr>
          <p:cNvPr id="311" name=""/>
          <p:cNvSpPr txBox="1"/>
          <p:nvPr/>
        </p:nvSpPr>
        <p:spPr>
          <a:xfrm>
            <a:off x="7943400" y="6492600"/>
            <a:ext cx="281520" cy="42264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Meiryo"/>
                <a:ea typeface="Meiryo"/>
              </a:rPr>
              <a:t>⋅</a:t>
            </a:r>
            <a:endParaRPr lang="en-US" sz="2220" b="0" u="none" strike="noStrike">
              <a:solidFill>
                <a:srgbClr val="000000"/>
              </a:solidFill>
              <a:effectLst/>
              <a:uFillTx/>
              <a:latin typeface="Noto Serif JP"/>
            </a:endParaRPr>
          </a:p>
        </p:txBody>
      </p:sp>
      <p:sp>
        <p:nvSpPr>
          <p:cNvPr id="312" name=""/>
          <p:cNvSpPr txBox="1"/>
          <p:nvPr/>
        </p:nvSpPr>
        <p:spPr>
          <a:xfrm>
            <a:off x="6040440" y="6480000"/>
            <a:ext cx="38556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−0.5</a:t>
            </a:r>
            <a:endParaRPr lang="en-US" sz="1560" b="0" u="none" strike="noStrike">
              <a:solidFill>
                <a:srgbClr val="000000"/>
              </a:solidFill>
              <a:effectLst/>
              <a:uFillTx/>
              <a:latin typeface="Noto Serif JP"/>
            </a:endParaRPr>
          </a:p>
        </p:txBody>
      </p:sp>
      <p:sp>
        <p:nvSpPr>
          <p:cNvPr id="313" name=""/>
          <p:cNvSpPr txBox="1"/>
          <p:nvPr/>
        </p:nvSpPr>
        <p:spPr>
          <a:xfrm>
            <a:off x="8104320" y="6509520"/>
            <a:ext cx="19609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warmup_steps</a:t>
            </a:r>
            <a:endParaRPr lang="en-US" sz="2220" b="0" u="none" strike="noStrike">
              <a:solidFill>
                <a:srgbClr val="000000"/>
              </a:solidFill>
              <a:effectLst/>
              <a:uFillTx/>
              <a:latin typeface="Noto Serif JP"/>
            </a:endParaRPr>
          </a:p>
        </p:txBody>
      </p:sp>
      <p:sp>
        <p:nvSpPr>
          <p:cNvPr id="314" name=""/>
          <p:cNvSpPr txBox="1"/>
          <p:nvPr/>
        </p:nvSpPr>
        <p:spPr>
          <a:xfrm>
            <a:off x="10442880" y="650952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a:t>
            </a:r>
            <a:endParaRPr lang="en-US" sz="2220" b="0" u="none" strike="noStrike">
              <a:solidFill>
                <a:srgbClr val="000000"/>
              </a:solidFill>
              <a:effectLst/>
              <a:uFillTx/>
              <a:latin typeface="Noto Serif JP"/>
            </a:endParaRPr>
          </a:p>
        </p:txBody>
      </p:sp>
      <p:sp>
        <p:nvSpPr>
          <p:cNvPr id="315" name=""/>
          <p:cNvSpPr txBox="1"/>
          <p:nvPr/>
        </p:nvSpPr>
        <p:spPr>
          <a:xfrm>
            <a:off x="10045440" y="6480000"/>
            <a:ext cx="38556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−1.5</a:t>
            </a:r>
            <a:endParaRPr lang="en-US" sz="1560" b="0" u="none" strike="noStrike">
              <a:solidFill>
                <a:srgbClr val="000000"/>
              </a:solidFill>
              <a:effectLst/>
              <a:uFillTx/>
              <a:latin typeface="Noto Serif JP"/>
            </a:endParaRPr>
          </a:p>
        </p:txBody>
      </p:sp>
      <p:sp>
        <p:nvSpPr>
          <p:cNvPr id="316"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17" name=""/>
          <p:cNvSpPr txBox="1"/>
          <p:nvPr/>
        </p:nvSpPr>
        <p:spPr>
          <a:xfrm>
            <a:off x="914400" y="409680"/>
            <a:ext cx="2981520" cy="299160"/>
          </a:xfrm>
          <a:prstGeom prst="rect">
            <a:avLst/>
          </a:prstGeom>
          <a:noFill/>
          <a:ln w="0">
            <a:noFill/>
          </a:ln>
        </p:spPr>
        <p:txBody>
          <a:bodyPr wrap="none" lIns="0" tIns="0" rIns="0" bIns="0" anchor="t">
            <a:spAutoFit/>
          </a:bodyPr>
          <a:p>
            <a:pPr/>
            <a:r>
              <a:rPr lang="ja-JP" sz="1950" b="1" u="none" strike="noStrike">
                <a:solidFill>
                  <a:srgbClr val="111111"/>
                </a:solidFill>
                <a:effectLst/>
                <a:uFillTx/>
                <a:latin typeface="NotoSansJPThin"/>
                <a:ea typeface="NotoSansJPThin"/>
              </a:rPr>
              <a:t>実験設定：機械翻訳タスク</a:t>
            </a:r>
            <a:endParaRPr lang="en-US" sz="1950" b="0" u="none" strike="noStrike">
              <a:solidFill>
                <a:srgbClr val="000000"/>
              </a:solidFill>
              <a:effectLst/>
              <a:uFillTx/>
              <a:latin typeface="Noto Serif JP"/>
            </a:endParaRPr>
          </a:p>
        </p:txBody>
      </p:sp>
      <p:sp>
        <p:nvSpPr>
          <p:cNvPr id="318" name=""/>
          <p:cNvSpPr txBox="1"/>
          <p:nvPr/>
        </p:nvSpPr>
        <p:spPr>
          <a:xfrm>
            <a:off x="11777400" y="6458040"/>
            <a:ext cx="339120" cy="366120"/>
          </a:xfrm>
          <a:prstGeom prst="rect">
            <a:avLst/>
          </a:prstGeom>
          <a:noFill/>
          <a:ln w="0">
            <a:noFill/>
          </a:ln>
        </p:spPr>
        <p:txBody>
          <a:bodyPr wrap="none" lIns="0" tIns="0" rIns="0" bIns="0" anchor="t">
            <a:spAutoFit/>
          </a:bodyPr>
          <a:p>
            <a:pPr/>
            <a:r>
              <a:rPr lang="en-US" sz="2400" b="0" u="none" strike="noStrike">
                <a:solidFill>
                  <a:srgbClr val="111111"/>
                </a:solidFill>
                <a:effectLst/>
                <a:uFillTx/>
                <a:latin typeface="NotoSansJP"/>
                <a:ea typeface="NotoSansJP"/>
              </a:rPr>
              <a:t>10</a:t>
            </a:r>
            <a:endParaRPr lang="en-US" sz="2400" b="0" u="none" strike="noStrike">
              <a:solidFill>
                <a:srgbClr val="000000"/>
              </a:solidFill>
              <a:effectLst/>
              <a:uFillTx/>
              <a:latin typeface="Noto Serif JP"/>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2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2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22"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0"/>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23"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24" name=""/>
          <p:cNvSpPr txBox="1"/>
          <p:nvPr/>
        </p:nvSpPr>
        <p:spPr>
          <a:xfrm>
            <a:off x="533520" y="942840"/>
            <a:ext cx="1057248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Transformer</a:t>
            </a:r>
            <a:r>
              <a:rPr lang="ja-JP" sz="2170" b="0" u="none" strike="noStrike">
                <a:solidFill>
                  <a:srgbClr val="111111"/>
                </a:solidFill>
                <a:effectLst/>
                <a:uFillTx/>
                <a:latin typeface="NotoSansJP"/>
                <a:ea typeface="NotoSansJP"/>
              </a:rPr>
              <a:t>は、既存の最高性能モデルを大幅に上回る</a:t>
            </a:r>
            <a:r>
              <a:rPr lang="en-US" sz="2170" b="0" u="none" strike="noStrike">
                <a:solidFill>
                  <a:srgbClr val="111111"/>
                </a:solidFill>
                <a:effectLst/>
                <a:uFillTx/>
                <a:latin typeface="NotoSansJP"/>
                <a:ea typeface="NotoSansJP"/>
              </a:rPr>
              <a:t>BLEU</a:t>
            </a:r>
            <a:r>
              <a:rPr lang="ja-JP" sz="2170" b="0" u="none" strike="noStrike">
                <a:solidFill>
                  <a:srgbClr val="111111"/>
                </a:solidFill>
                <a:effectLst/>
                <a:uFillTx/>
                <a:latin typeface="NotoSansJP"/>
                <a:ea typeface="NotoSansJP"/>
              </a:rPr>
              <a:t>スコアを達成しました。</a:t>
            </a:r>
            <a:endParaRPr lang="en-US" sz="2170" b="0" u="none" strike="noStrike">
              <a:solidFill>
                <a:srgbClr val="000000"/>
              </a:solidFill>
              <a:effectLst/>
              <a:uFillTx/>
              <a:latin typeface="Noto Serif JP"/>
            </a:endParaRPr>
          </a:p>
        </p:txBody>
      </p:sp>
      <p:sp>
        <p:nvSpPr>
          <p:cNvPr id="325" name=""/>
          <p:cNvSpPr/>
          <p:nvPr/>
        </p:nvSpPr>
        <p:spPr>
          <a:xfrm>
            <a:off x="1361880" y="1990440"/>
            <a:ext cx="105120" cy="105120"/>
          </a:xfrm>
          <a:custGeom>
            <a:avLst/>
            <a:gdLst/>
            <a:ahLst/>
            <a:rect l="0" t="0" r="r" b="b"/>
            <a:pathLst>
              <a:path w="292" h="292">
                <a:moveTo>
                  <a:pt x="292" y="147"/>
                </a:moveTo>
                <a:cubicBezTo>
                  <a:pt x="292" y="156"/>
                  <a:pt x="291" y="166"/>
                  <a:pt x="289" y="175"/>
                </a:cubicBezTo>
                <a:cubicBezTo>
                  <a:pt x="287" y="185"/>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5"/>
                  <a:pt x="3" y="175"/>
                </a:cubicBezTo>
                <a:cubicBezTo>
                  <a:pt x="1" y="166"/>
                  <a:pt x="0" y="156"/>
                  <a:pt x="0" y="147"/>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26" name=""/>
          <p:cNvSpPr txBox="1"/>
          <p:nvPr/>
        </p:nvSpPr>
        <p:spPr>
          <a:xfrm>
            <a:off x="1085760" y="1457280"/>
            <a:ext cx="2403000" cy="331200"/>
          </a:xfrm>
          <a:prstGeom prst="rect">
            <a:avLst/>
          </a:prstGeom>
          <a:noFill/>
          <a:ln w="0">
            <a:noFill/>
          </a:ln>
        </p:spPr>
        <p:txBody>
          <a:bodyPr wrap="none" lIns="0" tIns="0" rIns="0" bIns="0" anchor="t">
            <a:spAutoFit/>
          </a:bodyPr>
          <a:p>
            <a:pPr/>
            <a:r>
              <a:rPr lang="en-US" sz="2170" b="1" u="none" strike="noStrike">
                <a:solidFill>
                  <a:srgbClr val="111111"/>
                </a:solidFill>
                <a:effectLst/>
                <a:uFillTx/>
                <a:latin typeface="NotoSansJPThin"/>
                <a:ea typeface="NotoSansJPThin"/>
              </a:rPr>
              <a:t>WMT 2014 </a:t>
            </a:r>
            <a:r>
              <a:rPr lang="ja-JP" sz="2170" b="1" u="none" strike="noStrike">
                <a:solidFill>
                  <a:srgbClr val="111111"/>
                </a:solidFill>
                <a:effectLst/>
                <a:uFillTx/>
                <a:latin typeface="NotoSansJPThin"/>
                <a:ea typeface="NotoSansJPThin"/>
              </a:rPr>
              <a:t>英独翻訳</a:t>
            </a:r>
            <a:endParaRPr lang="en-US" sz="2170" b="0" u="none" strike="noStrike">
              <a:solidFill>
                <a:srgbClr val="000000"/>
              </a:solidFill>
              <a:effectLst/>
              <a:uFillTx/>
              <a:latin typeface="Noto Serif JP"/>
            </a:endParaRPr>
          </a:p>
        </p:txBody>
      </p:sp>
      <p:sp>
        <p:nvSpPr>
          <p:cNvPr id="327" name=""/>
          <p:cNvSpPr txBox="1"/>
          <p:nvPr/>
        </p:nvSpPr>
        <p:spPr>
          <a:xfrm>
            <a:off x="1638360" y="1866960"/>
            <a:ext cx="986580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Transformer (big): </a:t>
            </a:r>
            <a:r>
              <a:rPr lang="en-US" sz="2170" b="1" u="none" strike="noStrike">
                <a:solidFill>
                  <a:srgbClr val="111111"/>
                </a:solidFill>
                <a:effectLst/>
                <a:uFillTx/>
                <a:latin typeface="NotoSansJPThin"/>
                <a:ea typeface="NotoSansJPThin"/>
              </a:rPr>
              <a:t>28.4 BLEU </a:t>
            </a:r>
            <a:r>
              <a:rPr lang="en-US" sz="2170" b="0" u="none" strike="noStrike">
                <a:solidFill>
                  <a:srgbClr val="111111"/>
                </a:solidFill>
                <a:effectLst/>
                <a:uFillTx/>
                <a:latin typeface="NotoSansJP"/>
                <a:ea typeface="NotoSansJP"/>
              </a:rPr>
              <a:t>(</a:t>
            </a:r>
            <a:r>
              <a:rPr lang="ja-JP" sz="2170" b="0" u="none" strike="noStrike">
                <a:solidFill>
                  <a:srgbClr val="111111"/>
                </a:solidFill>
                <a:effectLst/>
                <a:uFillTx/>
                <a:latin typeface="NotoSansJP"/>
                <a:ea typeface="NotoSansJP"/>
              </a:rPr>
              <a:t>既存のアンサンブルモデルを</a:t>
            </a:r>
            <a:r>
              <a:rPr lang="en-US" sz="2170" b="0" u="none" strike="noStrike">
                <a:solidFill>
                  <a:srgbClr val="111111"/>
                </a:solidFill>
                <a:effectLst/>
                <a:uFillTx/>
                <a:latin typeface="NotoSansJP"/>
                <a:ea typeface="NotoSansJP"/>
              </a:rPr>
              <a:t>2.0 BLEU</a:t>
            </a:r>
            <a:r>
              <a:rPr lang="ja-JP" sz="2170" b="0" u="none" strike="noStrike">
                <a:solidFill>
                  <a:srgbClr val="111111"/>
                </a:solidFill>
                <a:effectLst/>
                <a:uFillTx/>
                <a:latin typeface="NotoSansJP"/>
                <a:ea typeface="NotoSansJP"/>
              </a:rPr>
              <a:t>以上改善、</a:t>
            </a:r>
            <a:endParaRPr lang="en-US" sz="2170" b="0" u="none" strike="noStrike">
              <a:solidFill>
                <a:srgbClr val="000000"/>
              </a:solidFill>
              <a:effectLst/>
              <a:uFillTx/>
              <a:latin typeface="Noto Serif JP"/>
            </a:endParaRPr>
          </a:p>
        </p:txBody>
      </p:sp>
      <p:sp>
        <p:nvSpPr>
          <p:cNvPr id="328" name=""/>
          <p:cNvSpPr/>
          <p:nvPr/>
        </p:nvSpPr>
        <p:spPr>
          <a:xfrm>
            <a:off x="1361880" y="289548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8"/>
                  <a:pt x="7" y="98"/>
                  <a:pt x="11" y="90"/>
                </a:cubicBezTo>
                <a:cubicBezTo>
                  <a:pt x="15" y="81"/>
                  <a:pt x="19" y="72"/>
                  <a:pt x="25" y="65"/>
                </a:cubicBezTo>
                <a:cubicBezTo>
                  <a:pt x="30" y="57"/>
                  <a:pt x="36" y="49"/>
                  <a:pt x="43" y="42"/>
                </a:cubicBezTo>
                <a:cubicBezTo>
                  <a:pt x="49" y="36"/>
                  <a:pt x="57" y="30"/>
                  <a:pt x="65" y="24"/>
                </a:cubicBezTo>
                <a:cubicBezTo>
                  <a:pt x="73" y="19"/>
                  <a:pt x="81" y="15"/>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5"/>
                  <a:pt x="219" y="19"/>
                  <a:pt x="227" y="24"/>
                </a:cubicBezTo>
                <a:cubicBezTo>
                  <a:pt x="235" y="30"/>
                  <a:pt x="243" y="36"/>
                  <a:pt x="249" y="42"/>
                </a:cubicBezTo>
                <a:cubicBezTo>
                  <a:pt x="256" y="49"/>
                  <a:pt x="262" y="57"/>
                  <a:pt x="268" y="65"/>
                </a:cubicBezTo>
                <a:cubicBezTo>
                  <a:pt x="273" y="72"/>
                  <a:pt x="277" y="81"/>
                  <a:pt x="281" y="90"/>
                </a:cubicBezTo>
                <a:cubicBezTo>
                  <a:pt x="285" y="98"/>
                  <a:pt x="287" y="108"/>
                  <a:pt x="289" y="117"/>
                </a:cubicBezTo>
                <a:cubicBezTo>
                  <a:pt x="291" y="126"/>
                  <a:pt x="292" y="136"/>
                  <a:pt x="292" y="145"/>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29" name=""/>
          <p:cNvSpPr txBox="1"/>
          <p:nvPr/>
        </p:nvSpPr>
        <p:spPr>
          <a:xfrm>
            <a:off x="1638360" y="2286000"/>
            <a:ext cx="134748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新</a:t>
            </a:r>
            <a:r>
              <a:rPr lang="en-US" sz="2170" b="0" u="none" strike="noStrike">
                <a:solidFill>
                  <a:srgbClr val="111111"/>
                </a:solidFill>
                <a:effectLst/>
                <a:uFillTx/>
                <a:latin typeface="NotoSansJP"/>
                <a:ea typeface="NotoSansJP"/>
              </a:rPr>
              <a:t>SOTA)</a:t>
            </a:r>
            <a:r>
              <a:rPr lang="ja-JP" sz="2170" b="0" u="none" strike="noStrike">
                <a:solidFill>
                  <a:srgbClr val="111111"/>
                </a:solidFill>
                <a:effectLst/>
                <a:uFillTx/>
                <a:latin typeface="NotoSansJP"/>
                <a:ea typeface="NotoSansJP"/>
              </a:rPr>
              <a:t>。</a:t>
            </a:r>
            <a:endParaRPr lang="en-US" sz="2170" b="0" u="none" strike="noStrike">
              <a:solidFill>
                <a:srgbClr val="000000"/>
              </a:solidFill>
              <a:effectLst/>
              <a:uFillTx/>
              <a:latin typeface="Noto Serif JP"/>
            </a:endParaRPr>
          </a:p>
        </p:txBody>
      </p:sp>
      <p:sp>
        <p:nvSpPr>
          <p:cNvPr id="330" name=""/>
          <p:cNvSpPr/>
          <p:nvPr/>
        </p:nvSpPr>
        <p:spPr>
          <a:xfrm>
            <a:off x="1361880" y="337176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2"/>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9"/>
                  <a:pt x="7" y="99"/>
                  <a:pt x="11" y="90"/>
                </a:cubicBezTo>
                <a:cubicBezTo>
                  <a:pt x="15" y="81"/>
                  <a:pt x="19" y="72"/>
                  <a:pt x="25" y="64"/>
                </a:cubicBezTo>
                <a:cubicBezTo>
                  <a:pt x="30" y="56"/>
                  <a:pt x="36" y="49"/>
                  <a:pt x="43" y="42"/>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2"/>
                </a:cubicBezTo>
                <a:cubicBezTo>
                  <a:pt x="256" y="49"/>
                  <a:pt x="262" y="56"/>
                  <a:pt x="268" y="64"/>
                </a:cubicBezTo>
                <a:cubicBezTo>
                  <a:pt x="273" y="72"/>
                  <a:pt x="277" y="81"/>
                  <a:pt x="281" y="90"/>
                </a:cubicBezTo>
                <a:cubicBezTo>
                  <a:pt x="285" y="99"/>
                  <a:pt x="287" y="109"/>
                  <a:pt x="289" y="118"/>
                </a:cubicBezTo>
                <a:cubicBezTo>
                  <a:pt x="291" y="127"/>
                  <a:pt x="292" y="137"/>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31" name=""/>
          <p:cNvSpPr txBox="1"/>
          <p:nvPr/>
        </p:nvSpPr>
        <p:spPr>
          <a:xfrm>
            <a:off x="1638360" y="2771640"/>
            <a:ext cx="847656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Transformer (base): </a:t>
            </a:r>
            <a:r>
              <a:rPr lang="en-US" sz="2170" b="1" u="none" strike="noStrike">
                <a:solidFill>
                  <a:srgbClr val="111111"/>
                </a:solidFill>
                <a:effectLst/>
                <a:uFillTx/>
                <a:latin typeface="NotoSansJPThin"/>
                <a:ea typeface="NotoSansJPThin"/>
              </a:rPr>
              <a:t>27.3 BLEU </a:t>
            </a:r>
            <a:r>
              <a:rPr lang="en-US" sz="2170" b="0" u="none" strike="noStrike">
                <a:solidFill>
                  <a:srgbClr val="111111"/>
                </a:solidFill>
                <a:effectLst/>
                <a:uFillTx/>
                <a:latin typeface="NotoSansJP"/>
                <a:ea typeface="NotoSansJP"/>
              </a:rPr>
              <a:t>(</a:t>
            </a:r>
            <a:r>
              <a:rPr lang="ja-JP" sz="2170" b="0" u="none" strike="noStrike">
                <a:solidFill>
                  <a:srgbClr val="111111"/>
                </a:solidFill>
                <a:effectLst/>
                <a:uFillTx/>
                <a:latin typeface="NotoSansJP"/>
                <a:ea typeface="NotoSansJP"/>
              </a:rPr>
              <a:t>既存の全ての公開モデルを上回る</a:t>
            </a:r>
            <a:r>
              <a:rPr lang="en-US" sz="2170" b="0" u="none" strike="noStrike">
                <a:solidFill>
                  <a:srgbClr val="111111"/>
                </a:solidFill>
                <a:effectLst/>
                <a:uFillTx/>
                <a:latin typeface="NotoSansJP"/>
                <a:ea typeface="NotoSansJP"/>
              </a:rPr>
              <a:t>)</a:t>
            </a:r>
            <a:r>
              <a:rPr lang="ja-JP" sz="2170" b="0" u="none" strike="noStrike">
                <a:solidFill>
                  <a:srgbClr val="111111"/>
                </a:solidFill>
                <a:effectLst/>
                <a:uFillTx/>
                <a:latin typeface="NotoSansJP"/>
                <a:ea typeface="NotoSansJP"/>
              </a:rPr>
              <a:t>。</a:t>
            </a:r>
            <a:endParaRPr lang="en-US" sz="2170" b="0" u="none" strike="noStrike">
              <a:solidFill>
                <a:srgbClr val="000000"/>
              </a:solidFill>
              <a:effectLst/>
              <a:uFillTx/>
              <a:latin typeface="Noto Serif JP"/>
            </a:endParaRPr>
          </a:p>
        </p:txBody>
      </p:sp>
      <p:sp>
        <p:nvSpPr>
          <p:cNvPr id="332" name=""/>
          <p:cNvSpPr/>
          <p:nvPr/>
        </p:nvSpPr>
        <p:spPr>
          <a:xfrm>
            <a:off x="809280" y="3857400"/>
            <a:ext cx="105120" cy="105120"/>
          </a:xfrm>
          <a:custGeom>
            <a:avLst/>
            <a:gdLst/>
            <a:ahLst/>
            <a:rect l="0" t="0" r="r" b="b"/>
            <a:pathLst>
              <a:path w="292" h="292">
                <a:moveTo>
                  <a:pt x="292" y="146"/>
                </a:moveTo>
                <a:cubicBezTo>
                  <a:pt x="292" y="155"/>
                  <a:pt x="292" y="165"/>
                  <a:pt x="290" y="174"/>
                </a:cubicBezTo>
                <a:cubicBezTo>
                  <a:pt x="288" y="183"/>
                  <a:pt x="285" y="193"/>
                  <a:pt x="281" y="202"/>
                </a:cubicBezTo>
                <a:cubicBezTo>
                  <a:pt x="278" y="211"/>
                  <a:pt x="273" y="220"/>
                  <a:pt x="268" y="227"/>
                </a:cubicBezTo>
                <a:cubicBezTo>
                  <a:pt x="263" y="235"/>
                  <a:pt x="257" y="243"/>
                  <a:pt x="250" y="250"/>
                </a:cubicBezTo>
                <a:cubicBezTo>
                  <a:pt x="243" y="256"/>
                  <a:pt x="236" y="262"/>
                  <a:pt x="228" y="268"/>
                </a:cubicBezTo>
                <a:cubicBezTo>
                  <a:pt x="219" y="273"/>
                  <a:pt x="210" y="277"/>
                  <a:pt x="202" y="281"/>
                </a:cubicBezTo>
                <a:cubicBezTo>
                  <a:pt x="193" y="285"/>
                  <a:pt x="184" y="288"/>
                  <a:pt x="174" y="289"/>
                </a:cubicBezTo>
                <a:cubicBezTo>
                  <a:pt x="165" y="291"/>
                  <a:pt x="156" y="292"/>
                  <a:pt x="146" y="292"/>
                </a:cubicBezTo>
                <a:cubicBezTo>
                  <a:pt x="136" y="292"/>
                  <a:pt x="127" y="291"/>
                  <a:pt x="118" y="289"/>
                </a:cubicBezTo>
                <a:cubicBezTo>
                  <a:pt x="108" y="288"/>
                  <a:pt x="99" y="285"/>
                  <a:pt x="90" y="281"/>
                </a:cubicBezTo>
                <a:cubicBezTo>
                  <a:pt x="81" y="277"/>
                  <a:pt x="73" y="273"/>
                  <a:pt x="65" y="268"/>
                </a:cubicBezTo>
                <a:cubicBezTo>
                  <a:pt x="57" y="262"/>
                  <a:pt x="50" y="256"/>
                  <a:pt x="43" y="250"/>
                </a:cubicBezTo>
                <a:cubicBezTo>
                  <a:pt x="36" y="243"/>
                  <a:pt x="30" y="235"/>
                  <a:pt x="25" y="227"/>
                </a:cubicBezTo>
                <a:cubicBezTo>
                  <a:pt x="20" y="220"/>
                  <a:pt x="15" y="211"/>
                  <a:pt x="12" y="202"/>
                </a:cubicBezTo>
                <a:cubicBezTo>
                  <a:pt x="8" y="193"/>
                  <a:pt x="5" y="183"/>
                  <a:pt x="3" y="174"/>
                </a:cubicBezTo>
                <a:cubicBezTo>
                  <a:pt x="1" y="165"/>
                  <a:pt x="0" y="155"/>
                  <a:pt x="0" y="146"/>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19"/>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19"/>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33" name=""/>
          <p:cNvSpPr txBox="1"/>
          <p:nvPr/>
        </p:nvSpPr>
        <p:spPr>
          <a:xfrm>
            <a:off x="1638360" y="3247920"/>
            <a:ext cx="606924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訓練コストは、競争力のあるモデルの</a:t>
            </a:r>
            <a:r>
              <a:rPr lang="ja-JP" sz="2170" b="1" u="none" strike="noStrike">
                <a:solidFill>
                  <a:srgbClr val="111111"/>
                </a:solidFill>
                <a:effectLst/>
                <a:uFillTx/>
                <a:latin typeface="NotoSansJPThin"/>
                <a:ea typeface="NotoSansJPThin"/>
              </a:rPr>
              <a:t>数分の一</a:t>
            </a:r>
            <a:r>
              <a:rPr lang="ja-JP" sz="2170" b="0" u="none" strike="noStrike">
                <a:solidFill>
                  <a:srgbClr val="111111"/>
                </a:solidFill>
                <a:effectLst/>
                <a:uFillTx/>
                <a:latin typeface="NotoSansJP"/>
                <a:ea typeface="NotoSansJP"/>
              </a:rPr>
              <a:t>。</a:t>
            </a:r>
            <a:endParaRPr lang="en-US" sz="2170" b="0" u="none" strike="noStrike">
              <a:solidFill>
                <a:srgbClr val="000000"/>
              </a:solidFill>
              <a:effectLst/>
              <a:uFillTx/>
              <a:latin typeface="Noto Serif JP"/>
            </a:endParaRPr>
          </a:p>
        </p:txBody>
      </p:sp>
      <p:sp>
        <p:nvSpPr>
          <p:cNvPr id="334" name=""/>
          <p:cNvSpPr/>
          <p:nvPr/>
        </p:nvSpPr>
        <p:spPr>
          <a:xfrm>
            <a:off x="1361880" y="4276440"/>
            <a:ext cx="105120" cy="105120"/>
          </a:xfrm>
          <a:custGeom>
            <a:avLst/>
            <a:gdLst/>
            <a:ahLst/>
            <a:rect l="0" t="0" r="r" b="b"/>
            <a:pathLst>
              <a:path w="292" h="292">
                <a:moveTo>
                  <a:pt x="292" y="146"/>
                </a:moveTo>
                <a:cubicBezTo>
                  <a:pt x="292" y="155"/>
                  <a:pt x="291" y="165"/>
                  <a:pt x="289" y="174"/>
                </a:cubicBezTo>
                <a:cubicBezTo>
                  <a:pt x="287" y="184"/>
                  <a:pt x="285" y="193"/>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3"/>
                  <a:pt x="5" y="184"/>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35" name=""/>
          <p:cNvSpPr txBox="1"/>
          <p:nvPr/>
        </p:nvSpPr>
        <p:spPr>
          <a:xfrm>
            <a:off x="1085760" y="3733920"/>
            <a:ext cx="2403000" cy="331200"/>
          </a:xfrm>
          <a:prstGeom prst="rect">
            <a:avLst/>
          </a:prstGeom>
          <a:noFill/>
          <a:ln w="0">
            <a:noFill/>
          </a:ln>
        </p:spPr>
        <p:txBody>
          <a:bodyPr wrap="none" lIns="0" tIns="0" rIns="0" bIns="0" anchor="t">
            <a:spAutoFit/>
          </a:bodyPr>
          <a:p>
            <a:pPr/>
            <a:r>
              <a:rPr lang="en-US" sz="2170" b="1" u="none" strike="noStrike">
                <a:solidFill>
                  <a:srgbClr val="111111"/>
                </a:solidFill>
                <a:effectLst/>
                <a:uFillTx/>
                <a:latin typeface="NotoSansJPThin"/>
                <a:ea typeface="NotoSansJPThin"/>
              </a:rPr>
              <a:t>WMT 2014 </a:t>
            </a:r>
            <a:r>
              <a:rPr lang="ja-JP" sz="2170" b="1" u="none" strike="noStrike">
                <a:solidFill>
                  <a:srgbClr val="111111"/>
                </a:solidFill>
                <a:effectLst/>
                <a:uFillTx/>
                <a:latin typeface="NotoSansJPThin"/>
                <a:ea typeface="NotoSansJPThin"/>
              </a:rPr>
              <a:t>英仏翻訳</a:t>
            </a:r>
            <a:endParaRPr lang="en-US" sz="2170" b="0" u="none" strike="noStrike">
              <a:solidFill>
                <a:srgbClr val="000000"/>
              </a:solidFill>
              <a:effectLst/>
              <a:uFillTx/>
              <a:latin typeface="Noto Serif JP"/>
            </a:endParaRPr>
          </a:p>
        </p:txBody>
      </p:sp>
      <p:sp>
        <p:nvSpPr>
          <p:cNvPr id="336" name=""/>
          <p:cNvSpPr/>
          <p:nvPr/>
        </p:nvSpPr>
        <p:spPr>
          <a:xfrm>
            <a:off x="1361880" y="4752720"/>
            <a:ext cx="105120" cy="105120"/>
          </a:xfrm>
          <a:custGeom>
            <a:avLst/>
            <a:gdLst/>
            <a:ahLst/>
            <a:rect l="0" t="0" r="r" b="b"/>
            <a:pathLst>
              <a:path w="292" h="292">
                <a:moveTo>
                  <a:pt x="292" y="147"/>
                </a:moveTo>
                <a:cubicBezTo>
                  <a:pt x="292" y="156"/>
                  <a:pt x="291" y="166"/>
                  <a:pt x="289" y="175"/>
                </a:cubicBezTo>
                <a:cubicBezTo>
                  <a:pt x="287" y="184"/>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89"/>
                </a:cubicBezTo>
                <a:cubicBezTo>
                  <a:pt x="166" y="291"/>
                  <a:pt x="156" y="292"/>
                  <a:pt x="147" y="292"/>
                </a:cubicBezTo>
                <a:cubicBezTo>
                  <a:pt x="136" y="292"/>
                  <a:pt x="127" y="291"/>
                  <a:pt x="117" y="289"/>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4"/>
                  <a:pt x="3" y="175"/>
                </a:cubicBezTo>
                <a:cubicBezTo>
                  <a:pt x="1" y="166"/>
                  <a:pt x="0" y="156"/>
                  <a:pt x="0" y="147"/>
                </a:cubicBezTo>
                <a:cubicBezTo>
                  <a:pt x="0" y="137"/>
                  <a:pt x="1" y="128"/>
                  <a:pt x="3" y="118"/>
                </a:cubicBezTo>
                <a:cubicBezTo>
                  <a:pt x="5" y="109"/>
                  <a:pt x="7" y="100"/>
                  <a:pt x="11" y="91"/>
                </a:cubicBezTo>
                <a:cubicBezTo>
                  <a:pt x="15" y="82"/>
                  <a:pt x="19" y="74"/>
                  <a:pt x="25" y="66"/>
                </a:cubicBezTo>
                <a:cubicBezTo>
                  <a:pt x="30" y="58"/>
                  <a:pt x="36" y="51"/>
                  <a:pt x="43" y="44"/>
                </a:cubicBezTo>
                <a:cubicBezTo>
                  <a:pt x="49" y="36"/>
                  <a:pt x="57" y="30"/>
                  <a:pt x="65" y="25"/>
                </a:cubicBezTo>
                <a:cubicBezTo>
                  <a:pt x="73" y="19"/>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19"/>
                  <a:pt x="227" y="25"/>
                </a:cubicBezTo>
                <a:cubicBezTo>
                  <a:pt x="235" y="30"/>
                  <a:pt x="243" y="36"/>
                  <a:pt x="249" y="44"/>
                </a:cubicBezTo>
                <a:cubicBezTo>
                  <a:pt x="256" y="51"/>
                  <a:pt x="262" y="58"/>
                  <a:pt x="268" y="66"/>
                </a:cubicBezTo>
                <a:cubicBezTo>
                  <a:pt x="273" y="74"/>
                  <a:pt x="277" y="82"/>
                  <a:pt x="281" y="91"/>
                </a:cubicBezTo>
                <a:cubicBezTo>
                  <a:pt x="285" y="100"/>
                  <a:pt x="287" y="109"/>
                  <a:pt x="289" y="118"/>
                </a:cubicBezTo>
                <a:cubicBezTo>
                  <a:pt x="291" y="128"/>
                  <a:pt x="292" y="137"/>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37" name=""/>
          <p:cNvSpPr txBox="1"/>
          <p:nvPr/>
        </p:nvSpPr>
        <p:spPr>
          <a:xfrm>
            <a:off x="1638360" y="4152960"/>
            <a:ext cx="676584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Transformer (big): </a:t>
            </a:r>
            <a:r>
              <a:rPr lang="en-US" sz="2170" b="1" u="none" strike="noStrike">
                <a:solidFill>
                  <a:srgbClr val="111111"/>
                </a:solidFill>
                <a:effectLst/>
                <a:uFillTx/>
                <a:latin typeface="NotoSansJPThin"/>
                <a:ea typeface="NotoSansJPThin"/>
              </a:rPr>
              <a:t>41.8 BLEU </a:t>
            </a:r>
            <a:r>
              <a:rPr lang="en-US" sz="2170" b="0" u="none" strike="noStrike">
                <a:solidFill>
                  <a:srgbClr val="111111"/>
                </a:solidFill>
                <a:effectLst/>
                <a:uFillTx/>
                <a:latin typeface="NotoSansJP"/>
                <a:ea typeface="NotoSansJP"/>
              </a:rPr>
              <a:t>(</a:t>
            </a:r>
            <a:r>
              <a:rPr lang="ja-JP" sz="2170" b="0" u="none" strike="noStrike">
                <a:solidFill>
                  <a:srgbClr val="111111"/>
                </a:solidFill>
                <a:effectLst/>
                <a:uFillTx/>
                <a:latin typeface="NotoSansJP"/>
                <a:ea typeface="NotoSansJP"/>
              </a:rPr>
              <a:t>単一モデルの新</a:t>
            </a:r>
            <a:r>
              <a:rPr lang="en-US" sz="2170" b="0" u="none" strike="noStrike">
                <a:solidFill>
                  <a:srgbClr val="111111"/>
                </a:solidFill>
                <a:effectLst/>
                <a:uFillTx/>
                <a:latin typeface="NotoSansJP"/>
                <a:ea typeface="NotoSansJP"/>
              </a:rPr>
              <a:t>SOTA)</a:t>
            </a:r>
            <a:r>
              <a:rPr lang="ja-JP" sz="2170" b="0" u="none" strike="noStrike">
                <a:solidFill>
                  <a:srgbClr val="111111"/>
                </a:solidFill>
                <a:effectLst/>
                <a:uFillTx/>
                <a:latin typeface="NotoSansJP"/>
                <a:ea typeface="NotoSansJP"/>
              </a:rPr>
              <a:t>。</a:t>
            </a:r>
            <a:endParaRPr lang="en-US" sz="2170" b="0" u="none" strike="noStrike">
              <a:solidFill>
                <a:srgbClr val="000000"/>
              </a:solidFill>
              <a:effectLst/>
              <a:uFillTx/>
              <a:latin typeface="Noto Serif JP"/>
            </a:endParaRPr>
          </a:p>
        </p:txBody>
      </p:sp>
      <p:sp>
        <p:nvSpPr>
          <p:cNvPr id="338" name=""/>
          <p:cNvSpPr/>
          <p:nvPr/>
        </p:nvSpPr>
        <p:spPr>
          <a:xfrm>
            <a:off x="809280" y="52387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6"/>
                  <a:pt x="1" y="126"/>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6"/>
                  <a:pt x="292" y="136"/>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39" name=""/>
          <p:cNvSpPr txBox="1"/>
          <p:nvPr/>
        </p:nvSpPr>
        <p:spPr>
          <a:xfrm>
            <a:off x="1638360" y="4629240"/>
            <a:ext cx="606420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既存</a:t>
            </a:r>
            <a:r>
              <a:rPr lang="en-US" sz="2170" b="0" u="none" strike="noStrike">
                <a:solidFill>
                  <a:srgbClr val="111111"/>
                </a:solidFill>
                <a:effectLst/>
                <a:uFillTx/>
                <a:latin typeface="NotoSansJP"/>
                <a:ea typeface="NotoSansJP"/>
              </a:rPr>
              <a:t>SOTA</a:t>
            </a:r>
            <a:r>
              <a:rPr lang="ja-JP" sz="2170" b="0" u="none" strike="noStrike">
                <a:solidFill>
                  <a:srgbClr val="111111"/>
                </a:solidFill>
                <a:effectLst/>
                <a:uFillTx/>
                <a:latin typeface="NotoSansJP"/>
                <a:ea typeface="NotoSansJP"/>
              </a:rPr>
              <a:t>モデルの訓練コストの</a:t>
            </a:r>
            <a:r>
              <a:rPr lang="en-US" sz="2170" b="1" u="none" strike="noStrike">
                <a:solidFill>
                  <a:srgbClr val="111111"/>
                </a:solidFill>
                <a:effectLst/>
                <a:uFillTx/>
                <a:latin typeface="NotoSansJPThin"/>
                <a:ea typeface="NotoSansJPThin"/>
              </a:rPr>
              <a:t>1/4</a:t>
            </a:r>
            <a:r>
              <a:rPr lang="ja-JP" sz="2170" b="1" u="none" strike="noStrike">
                <a:solidFill>
                  <a:srgbClr val="111111"/>
                </a:solidFill>
                <a:effectLst/>
                <a:uFillTx/>
                <a:latin typeface="NotoSansJPThin"/>
                <a:ea typeface="NotoSansJPThin"/>
              </a:rPr>
              <a:t>未満</a:t>
            </a:r>
            <a:r>
              <a:rPr lang="ja-JP" sz="2170" b="0" u="none" strike="noStrike">
                <a:solidFill>
                  <a:srgbClr val="111111"/>
                </a:solidFill>
                <a:effectLst/>
                <a:uFillTx/>
                <a:latin typeface="NotoSansJP"/>
                <a:ea typeface="NotoSansJP"/>
              </a:rPr>
              <a:t>で達成。</a:t>
            </a:r>
            <a:endParaRPr lang="en-US" sz="2170" b="0" u="none" strike="noStrike">
              <a:solidFill>
                <a:srgbClr val="000000"/>
              </a:solidFill>
              <a:effectLst/>
              <a:uFillTx/>
              <a:latin typeface="Noto Serif JP"/>
            </a:endParaRPr>
          </a:p>
        </p:txBody>
      </p:sp>
      <p:sp>
        <p:nvSpPr>
          <p:cNvPr id="340" name=""/>
          <p:cNvSpPr txBox="1"/>
          <p:nvPr/>
        </p:nvSpPr>
        <p:spPr>
          <a:xfrm>
            <a:off x="1085760" y="5114880"/>
            <a:ext cx="9697680" cy="331200"/>
          </a:xfrm>
          <a:prstGeom prst="rect">
            <a:avLst/>
          </a:prstGeom>
          <a:noFill/>
          <a:ln w="0">
            <a:noFill/>
          </a:ln>
        </p:spPr>
        <p:txBody>
          <a:bodyPr wrap="none" lIns="0" tIns="0" rIns="0" bIns="0" anchor="t">
            <a:spAutoFit/>
          </a:bodyPr>
          <a:p>
            <a:pPr/>
            <a:r>
              <a:rPr lang="en-US" sz="2170" b="1" u="none" strike="noStrike">
                <a:solidFill>
                  <a:srgbClr val="111111"/>
                </a:solidFill>
                <a:effectLst/>
                <a:uFillTx/>
                <a:latin typeface="NotoSansJPThin"/>
                <a:ea typeface="NotoSansJPThin"/>
              </a:rPr>
              <a:t>[</a:t>
            </a:r>
            <a:r>
              <a:rPr lang="ja-JP" sz="2170" b="1" u="none" strike="noStrike">
                <a:solidFill>
                  <a:srgbClr val="111111"/>
                </a:solidFill>
                <a:effectLst/>
                <a:uFillTx/>
                <a:latin typeface="NotoSansJPThin"/>
                <a:ea typeface="NotoSansJPThin"/>
              </a:rPr>
              <a:t>表</a:t>
            </a:r>
            <a:r>
              <a:rPr lang="en-US" sz="2170" b="1" u="none" strike="noStrike">
                <a:solidFill>
                  <a:srgbClr val="111111"/>
                </a:solidFill>
                <a:effectLst/>
                <a:uFillTx/>
                <a:latin typeface="NotoSansJPThin"/>
                <a:ea typeface="NotoSansJPThin"/>
              </a:rPr>
              <a:t>: WMT 2014 </a:t>
            </a:r>
            <a:r>
              <a:rPr lang="ja-JP" sz="2170" b="1" u="none" strike="noStrike">
                <a:solidFill>
                  <a:srgbClr val="111111"/>
                </a:solidFill>
                <a:effectLst/>
                <a:uFillTx/>
                <a:latin typeface="NotoSansJPThin"/>
                <a:ea typeface="NotoSansJPThin"/>
              </a:rPr>
              <a:t>英独‧英仏翻訳タスクにおける</a:t>
            </a:r>
            <a:r>
              <a:rPr lang="en-US" sz="2170" b="1" u="none" strike="noStrike">
                <a:solidFill>
                  <a:srgbClr val="111111"/>
                </a:solidFill>
                <a:effectLst/>
                <a:uFillTx/>
                <a:latin typeface="NotoSansJPThin"/>
                <a:ea typeface="NotoSansJPThin"/>
              </a:rPr>
              <a:t>BLEU</a:t>
            </a:r>
            <a:r>
              <a:rPr lang="ja-JP" sz="2170" b="1" u="none" strike="noStrike">
                <a:solidFill>
                  <a:srgbClr val="111111"/>
                </a:solidFill>
                <a:effectLst/>
                <a:uFillTx/>
                <a:latin typeface="NotoSansJPThin"/>
                <a:ea typeface="NotoSansJPThin"/>
              </a:rPr>
              <a:t>スコアと訓練コストの比較</a:t>
            </a:r>
            <a:r>
              <a:rPr lang="en-US" sz="2170" b="1" u="none" strike="noStrike">
                <a:solidFill>
                  <a:srgbClr val="111111"/>
                </a:solidFill>
                <a:effectLst/>
                <a:uFillTx/>
                <a:latin typeface="NotoSansJPThin"/>
                <a:ea typeface="NotoSansJPThin"/>
              </a:rPr>
              <a:t>]</a:t>
            </a:r>
            <a:endParaRPr lang="en-US" sz="2170" b="0" u="none" strike="noStrike">
              <a:solidFill>
                <a:srgbClr val="000000"/>
              </a:solidFill>
              <a:effectLst/>
              <a:uFillTx/>
              <a:latin typeface="Noto Serif JP"/>
            </a:endParaRPr>
          </a:p>
        </p:txBody>
      </p:sp>
      <p:sp>
        <p:nvSpPr>
          <p:cNvPr id="341"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42" name=""/>
          <p:cNvSpPr txBox="1"/>
          <p:nvPr/>
        </p:nvSpPr>
        <p:spPr>
          <a:xfrm>
            <a:off x="914400" y="409680"/>
            <a:ext cx="2733120" cy="299160"/>
          </a:xfrm>
          <a:prstGeom prst="rect">
            <a:avLst/>
          </a:prstGeom>
          <a:noFill/>
          <a:ln w="0">
            <a:noFill/>
          </a:ln>
        </p:spPr>
        <p:txBody>
          <a:bodyPr wrap="none" lIns="0" tIns="0" rIns="0" bIns="0" anchor="t">
            <a:spAutoFit/>
          </a:bodyPr>
          <a:p>
            <a:pPr/>
            <a:r>
              <a:rPr lang="ja-JP" sz="1950" b="1" u="none" strike="noStrike">
                <a:solidFill>
                  <a:srgbClr val="111111"/>
                </a:solidFill>
                <a:effectLst/>
                <a:uFillTx/>
                <a:latin typeface="NotoSansJPThin"/>
                <a:ea typeface="NotoSansJPThin"/>
              </a:rPr>
              <a:t>実験結果：機械翻訳性能</a:t>
            </a:r>
            <a:endParaRPr lang="en-US" sz="1950" b="0" u="none" strike="noStrike">
              <a:solidFill>
                <a:srgbClr val="000000"/>
              </a:solidFill>
              <a:effectLst/>
              <a:uFillTx/>
              <a:latin typeface="Noto Serif JP"/>
            </a:endParaRPr>
          </a:p>
        </p:txBody>
      </p:sp>
      <p:sp>
        <p:nvSpPr>
          <p:cNvPr id="343" name=""/>
          <p:cNvSpPr txBox="1"/>
          <p:nvPr/>
        </p:nvSpPr>
        <p:spPr>
          <a:xfrm>
            <a:off x="11777400" y="6458040"/>
            <a:ext cx="339120" cy="366120"/>
          </a:xfrm>
          <a:prstGeom prst="rect">
            <a:avLst/>
          </a:prstGeom>
          <a:noFill/>
          <a:ln w="0">
            <a:noFill/>
          </a:ln>
        </p:spPr>
        <p:txBody>
          <a:bodyPr wrap="none" lIns="0" tIns="0" rIns="0" bIns="0" anchor="t">
            <a:spAutoFit/>
          </a:bodyPr>
          <a:p>
            <a:pPr/>
            <a:r>
              <a:rPr lang="en-US" sz="2400" b="0" u="none" strike="noStrike">
                <a:solidFill>
                  <a:srgbClr val="111111"/>
                </a:solidFill>
                <a:effectLst/>
                <a:uFillTx/>
                <a:latin typeface="NotoSansJP"/>
                <a:ea typeface="NotoSansJP"/>
              </a:rPr>
              <a:t>11</a:t>
            </a:r>
            <a:endParaRPr lang="en-US" sz="2400" b="0" u="none" strike="noStrike">
              <a:solidFill>
                <a:srgbClr val="000000"/>
              </a:solidFill>
              <a:effectLst/>
              <a:uFillTx/>
              <a:latin typeface="Noto Serif JP"/>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4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46"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47"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0"/>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48"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49" name=""/>
          <p:cNvSpPr txBox="1"/>
          <p:nvPr/>
        </p:nvSpPr>
        <p:spPr>
          <a:xfrm>
            <a:off x="533520" y="942840"/>
            <a:ext cx="1070784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Transformer</a:t>
            </a:r>
            <a:r>
              <a:rPr lang="ja-JP" sz="2170" b="0" u="none" strike="noStrike">
                <a:solidFill>
                  <a:srgbClr val="111111"/>
                </a:solidFill>
                <a:effectLst/>
                <a:uFillTx/>
                <a:latin typeface="NotoSansJP"/>
                <a:ea typeface="NotoSansJP"/>
              </a:rPr>
              <a:t>の各コンポーネントの重要性を評価するためのアブレーション研究です。</a:t>
            </a:r>
            <a:endParaRPr lang="en-US" sz="2170" b="0" u="none" strike="noStrike">
              <a:solidFill>
                <a:srgbClr val="000000"/>
              </a:solidFill>
              <a:effectLst/>
              <a:uFillTx/>
              <a:latin typeface="Noto Serif JP"/>
            </a:endParaRPr>
          </a:p>
        </p:txBody>
      </p:sp>
      <p:sp>
        <p:nvSpPr>
          <p:cNvPr id="350" name=""/>
          <p:cNvSpPr/>
          <p:nvPr/>
        </p:nvSpPr>
        <p:spPr>
          <a:xfrm>
            <a:off x="1361880" y="1990440"/>
            <a:ext cx="105120" cy="105120"/>
          </a:xfrm>
          <a:custGeom>
            <a:avLst/>
            <a:gdLst/>
            <a:ahLst/>
            <a:rect l="0" t="0" r="r" b="b"/>
            <a:pathLst>
              <a:path w="292" h="292">
                <a:moveTo>
                  <a:pt x="292" y="147"/>
                </a:moveTo>
                <a:cubicBezTo>
                  <a:pt x="292" y="156"/>
                  <a:pt x="291" y="166"/>
                  <a:pt x="289" y="175"/>
                </a:cubicBezTo>
                <a:cubicBezTo>
                  <a:pt x="287" y="185"/>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5"/>
                  <a:pt x="3" y="175"/>
                </a:cubicBezTo>
                <a:cubicBezTo>
                  <a:pt x="1" y="166"/>
                  <a:pt x="0" y="156"/>
                  <a:pt x="0" y="147"/>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51" name=""/>
          <p:cNvSpPr txBox="1"/>
          <p:nvPr/>
        </p:nvSpPr>
        <p:spPr>
          <a:xfrm>
            <a:off x="1085760" y="1457280"/>
            <a:ext cx="2233440" cy="331200"/>
          </a:xfrm>
          <a:prstGeom prst="rect">
            <a:avLst/>
          </a:prstGeom>
          <a:noFill/>
          <a:ln w="0">
            <a:noFill/>
          </a:ln>
        </p:spPr>
        <p:txBody>
          <a:bodyPr wrap="none" lIns="0" tIns="0" rIns="0" bIns="0" anchor="t">
            <a:spAutoFit/>
          </a:bodyPr>
          <a:p>
            <a:pPr/>
            <a:r>
              <a:rPr lang="en-US" sz="2170" b="1" u="none" strike="noStrike">
                <a:solidFill>
                  <a:srgbClr val="111111"/>
                </a:solidFill>
                <a:effectLst/>
                <a:uFillTx/>
                <a:latin typeface="NotoSansJPThin"/>
                <a:ea typeface="NotoSansJPThin"/>
              </a:rPr>
              <a:t>Attention</a:t>
            </a:r>
            <a:r>
              <a:rPr lang="ja-JP" sz="2170" b="1" u="none" strike="noStrike">
                <a:solidFill>
                  <a:srgbClr val="111111"/>
                </a:solidFill>
                <a:effectLst/>
                <a:uFillTx/>
                <a:latin typeface="NotoSansJPThin"/>
                <a:ea typeface="NotoSansJPThin"/>
              </a:rPr>
              <a:t>ヘッド数</a:t>
            </a:r>
            <a:endParaRPr lang="en-US" sz="2170" b="0" u="none" strike="noStrike">
              <a:solidFill>
                <a:srgbClr val="000000"/>
              </a:solidFill>
              <a:effectLst/>
              <a:uFillTx/>
              <a:latin typeface="Noto Serif JP"/>
            </a:endParaRPr>
          </a:p>
        </p:txBody>
      </p:sp>
      <p:sp>
        <p:nvSpPr>
          <p:cNvPr id="352" name=""/>
          <p:cNvSpPr/>
          <p:nvPr/>
        </p:nvSpPr>
        <p:spPr>
          <a:xfrm>
            <a:off x="1361880" y="247644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7"/>
                  <a:pt x="7" y="98"/>
                  <a:pt x="11" y="89"/>
                </a:cubicBezTo>
                <a:cubicBezTo>
                  <a:pt x="15" y="81"/>
                  <a:pt x="19" y="72"/>
                  <a:pt x="25" y="64"/>
                </a:cubicBezTo>
                <a:cubicBezTo>
                  <a:pt x="30" y="56"/>
                  <a:pt x="36" y="49"/>
                  <a:pt x="43" y="42"/>
                </a:cubicBezTo>
                <a:cubicBezTo>
                  <a:pt x="49" y="36"/>
                  <a:pt x="57" y="29"/>
                  <a:pt x="65" y="24"/>
                </a:cubicBezTo>
                <a:cubicBezTo>
                  <a:pt x="73" y="19"/>
                  <a:pt x="81" y="14"/>
                  <a:pt x="90" y="11"/>
                </a:cubicBezTo>
                <a:cubicBezTo>
                  <a:pt x="99" y="7"/>
                  <a:pt x="108" y="4"/>
                  <a:pt x="117" y="2"/>
                </a:cubicBezTo>
                <a:cubicBezTo>
                  <a:pt x="127" y="1"/>
                  <a:pt x="136" y="0"/>
                  <a:pt x="147" y="0"/>
                </a:cubicBezTo>
                <a:cubicBezTo>
                  <a:pt x="156" y="0"/>
                  <a:pt x="166" y="1"/>
                  <a:pt x="175" y="2"/>
                </a:cubicBezTo>
                <a:cubicBezTo>
                  <a:pt x="184" y="4"/>
                  <a:pt x="193" y="7"/>
                  <a:pt x="202" y="11"/>
                </a:cubicBezTo>
                <a:cubicBezTo>
                  <a:pt x="211" y="14"/>
                  <a:pt x="219" y="19"/>
                  <a:pt x="227" y="24"/>
                </a:cubicBezTo>
                <a:cubicBezTo>
                  <a:pt x="235" y="29"/>
                  <a:pt x="243" y="36"/>
                  <a:pt x="249" y="42"/>
                </a:cubicBezTo>
                <a:cubicBezTo>
                  <a:pt x="256" y="49"/>
                  <a:pt x="262" y="56"/>
                  <a:pt x="268" y="64"/>
                </a:cubicBezTo>
                <a:cubicBezTo>
                  <a:pt x="273" y="72"/>
                  <a:pt x="277" y="81"/>
                  <a:pt x="281" y="89"/>
                </a:cubicBezTo>
                <a:cubicBezTo>
                  <a:pt x="285" y="98"/>
                  <a:pt x="287" y="107"/>
                  <a:pt x="289" y="117"/>
                </a:cubicBezTo>
                <a:cubicBezTo>
                  <a:pt x="291" y="126"/>
                  <a:pt x="292" y="136"/>
                  <a:pt x="292" y="145"/>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53" name=""/>
          <p:cNvSpPr txBox="1"/>
          <p:nvPr/>
        </p:nvSpPr>
        <p:spPr>
          <a:xfrm>
            <a:off x="1638360" y="1866960"/>
            <a:ext cx="472356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単一ヘッドでは性能が</a:t>
            </a:r>
            <a:r>
              <a:rPr lang="en-US" sz="2170" b="0" u="none" strike="noStrike">
                <a:solidFill>
                  <a:srgbClr val="111111"/>
                </a:solidFill>
                <a:effectLst/>
                <a:uFillTx/>
                <a:latin typeface="NotoSansJP"/>
                <a:ea typeface="NotoSansJP"/>
              </a:rPr>
              <a:t>0.9 BLEU</a:t>
            </a:r>
            <a:r>
              <a:rPr lang="ja-JP" sz="2170" b="0" u="none" strike="noStrike">
                <a:solidFill>
                  <a:srgbClr val="111111"/>
                </a:solidFill>
                <a:effectLst/>
                <a:uFillTx/>
                <a:latin typeface="NotoSansJP"/>
                <a:ea typeface="NotoSansJP"/>
              </a:rPr>
              <a:t>低下。</a:t>
            </a:r>
            <a:endParaRPr lang="en-US" sz="2170" b="0" u="none" strike="noStrike">
              <a:solidFill>
                <a:srgbClr val="000000"/>
              </a:solidFill>
              <a:effectLst/>
              <a:uFillTx/>
              <a:latin typeface="Noto Serif JP"/>
            </a:endParaRPr>
          </a:p>
        </p:txBody>
      </p:sp>
      <p:sp>
        <p:nvSpPr>
          <p:cNvPr id="354" name=""/>
          <p:cNvSpPr/>
          <p:nvPr/>
        </p:nvSpPr>
        <p:spPr>
          <a:xfrm>
            <a:off x="809280" y="2962080"/>
            <a:ext cx="105120" cy="105120"/>
          </a:xfrm>
          <a:custGeom>
            <a:avLst/>
            <a:gdLst/>
            <a:ahLst/>
            <a:rect l="0" t="0" r="r" b="b"/>
            <a:pathLst>
              <a:path w="292" h="292">
                <a:moveTo>
                  <a:pt x="292" y="147"/>
                </a:moveTo>
                <a:cubicBezTo>
                  <a:pt x="292" y="156"/>
                  <a:pt x="292" y="166"/>
                  <a:pt x="290" y="175"/>
                </a:cubicBezTo>
                <a:cubicBezTo>
                  <a:pt x="288" y="184"/>
                  <a:pt x="285" y="193"/>
                  <a:pt x="281" y="202"/>
                </a:cubicBezTo>
                <a:cubicBezTo>
                  <a:pt x="278" y="211"/>
                  <a:pt x="273" y="219"/>
                  <a:pt x="268" y="227"/>
                </a:cubicBezTo>
                <a:cubicBezTo>
                  <a:pt x="263" y="235"/>
                  <a:pt x="257" y="243"/>
                  <a:pt x="250" y="249"/>
                </a:cubicBezTo>
                <a:cubicBezTo>
                  <a:pt x="243" y="256"/>
                  <a:pt x="236" y="262"/>
                  <a:pt x="228" y="268"/>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8"/>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6"/>
                  <a:pt x="0" y="156"/>
                  <a:pt x="0" y="147"/>
                </a:cubicBezTo>
                <a:cubicBezTo>
                  <a:pt x="0" y="137"/>
                  <a:pt x="1" y="128"/>
                  <a:pt x="3" y="118"/>
                </a:cubicBezTo>
                <a:cubicBezTo>
                  <a:pt x="5" y="109"/>
                  <a:pt x="8" y="100"/>
                  <a:pt x="12" y="91"/>
                </a:cubicBezTo>
                <a:cubicBezTo>
                  <a:pt x="15" y="82"/>
                  <a:pt x="20" y="74"/>
                  <a:pt x="25" y="65"/>
                </a:cubicBezTo>
                <a:cubicBezTo>
                  <a:pt x="30" y="57"/>
                  <a:pt x="36" y="49"/>
                  <a:pt x="43" y="43"/>
                </a:cubicBezTo>
                <a:cubicBezTo>
                  <a:pt x="50" y="36"/>
                  <a:pt x="57" y="30"/>
                  <a:pt x="65" y="25"/>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5"/>
                </a:cubicBezTo>
                <a:cubicBezTo>
                  <a:pt x="236" y="30"/>
                  <a:pt x="243" y="36"/>
                  <a:pt x="250" y="43"/>
                </a:cubicBezTo>
                <a:cubicBezTo>
                  <a:pt x="257" y="49"/>
                  <a:pt x="263" y="57"/>
                  <a:pt x="268" y="65"/>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55" name=""/>
          <p:cNvSpPr txBox="1"/>
          <p:nvPr/>
        </p:nvSpPr>
        <p:spPr>
          <a:xfrm>
            <a:off x="1638360" y="2352600"/>
            <a:ext cx="469008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ヘッドが多すぎても品質が低下する。</a:t>
            </a:r>
            <a:endParaRPr lang="en-US" sz="2170" b="0" u="none" strike="noStrike">
              <a:solidFill>
                <a:srgbClr val="000000"/>
              </a:solidFill>
              <a:effectLst/>
              <a:uFillTx/>
              <a:latin typeface="Noto Serif JP"/>
            </a:endParaRPr>
          </a:p>
        </p:txBody>
      </p:sp>
      <p:sp>
        <p:nvSpPr>
          <p:cNvPr id="356" name=""/>
          <p:cNvSpPr txBox="1"/>
          <p:nvPr/>
        </p:nvSpPr>
        <p:spPr>
          <a:xfrm>
            <a:off x="1085760" y="2838600"/>
            <a:ext cx="2652480" cy="331200"/>
          </a:xfrm>
          <a:prstGeom prst="rect">
            <a:avLst/>
          </a:prstGeom>
          <a:noFill/>
          <a:ln w="0">
            <a:noFill/>
          </a:ln>
        </p:spPr>
        <p:txBody>
          <a:bodyPr wrap="none" lIns="0" tIns="0" rIns="0" bIns="0" anchor="t">
            <a:spAutoFit/>
          </a:bodyPr>
          <a:p>
            <a:pPr/>
            <a:r>
              <a:rPr lang="en-US" sz="2170" b="1" u="none" strike="noStrike">
                <a:solidFill>
                  <a:srgbClr val="111111"/>
                </a:solidFill>
                <a:effectLst/>
                <a:uFillTx/>
                <a:latin typeface="NotoSansJPThin"/>
                <a:ea typeface="NotoSansJPThin"/>
              </a:rPr>
              <a:t>Attention</a:t>
            </a:r>
            <a:r>
              <a:rPr lang="ja-JP" sz="2170" b="1" u="none" strike="noStrike">
                <a:solidFill>
                  <a:srgbClr val="111111"/>
                </a:solidFill>
                <a:effectLst/>
                <a:uFillTx/>
                <a:latin typeface="NotoSansJPThin"/>
                <a:ea typeface="NotoSansJPThin"/>
              </a:rPr>
              <a:t>キーの次元 </a:t>
            </a:r>
            <a:r>
              <a:rPr lang="en-US" sz="2170" b="1" u="none" strike="noStrike">
                <a:solidFill>
                  <a:srgbClr val="111111"/>
                </a:solidFill>
                <a:effectLst/>
                <a:uFillTx/>
                <a:latin typeface="NotoSansJPThin"/>
                <a:ea typeface="NotoSansJPThin"/>
              </a:rPr>
              <a:t>(</a:t>
            </a:r>
            <a:endParaRPr lang="en-US" sz="2170" b="0" u="none" strike="noStrike">
              <a:solidFill>
                <a:srgbClr val="000000"/>
              </a:solidFill>
              <a:effectLst/>
              <a:uFillTx/>
              <a:latin typeface="Noto Serif JP"/>
            </a:endParaRPr>
          </a:p>
        </p:txBody>
      </p:sp>
      <p:sp>
        <p:nvSpPr>
          <p:cNvPr id="357" name=""/>
          <p:cNvSpPr/>
          <p:nvPr/>
        </p:nvSpPr>
        <p:spPr>
          <a:xfrm>
            <a:off x="1361880" y="337176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2"/>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9"/>
                  <a:pt x="7" y="99"/>
                  <a:pt x="11" y="90"/>
                </a:cubicBezTo>
                <a:cubicBezTo>
                  <a:pt x="15" y="81"/>
                  <a:pt x="19" y="72"/>
                  <a:pt x="25" y="64"/>
                </a:cubicBezTo>
                <a:cubicBezTo>
                  <a:pt x="30" y="56"/>
                  <a:pt x="36" y="49"/>
                  <a:pt x="43" y="42"/>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2"/>
                </a:cubicBezTo>
                <a:cubicBezTo>
                  <a:pt x="256" y="49"/>
                  <a:pt x="262" y="56"/>
                  <a:pt x="268" y="64"/>
                </a:cubicBezTo>
                <a:cubicBezTo>
                  <a:pt x="273" y="72"/>
                  <a:pt x="277" y="81"/>
                  <a:pt x="281" y="90"/>
                </a:cubicBezTo>
                <a:cubicBezTo>
                  <a:pt x="285" y="99"/>
                  <a:pt x="287" y="109"/>
                  <a:pt x="289" y="118"/>
                </a:cubicBezTo>
                <a:cubicBezTo>
                  <a:pt x="291" y="127"/>
                  <a:pt x="292" y="137"/>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58" name=""/>
          <p:cNvSpPr txBox="1"/>
          <p:nvPr/>
        </p:nvSpPr>
        <p:spPr>
          <a:xfrm>
            <a:off x="4213800" y="2838600"/>
            <a:ext cx="275760" cy="331200"/>
          </a:xfrm>
          <a:prstGeom prst="rect">
            <a:avLst/>
          </a:prstGeom>
          <a:noFill/>
          <a:ln w="0">
            <a:noFill/>
          </a:ln>
        </p:spPr>
        <p:txBody>
          <a:bodyPr wrap="none" lIns="0" tIns="0" rIns="0" bIns="0" anchor="t">
            <a:spAutoFit/>
          </a:bodyPr>
          <a:p>
            <a:pPr/>
            <a:r>
              <a:rPr lang="en-US" sz="2170" b="1" u="none" strike="noStrike">
                <a:solidFill>
                  <a:srgbClr val="111111"/>
                </a:solidFill>
                <a:effectLst/>
                <a:uFillTx/>
                <a:latin typeface="NotoSansJPThin"/>
                <a:ea typeface="NotoSansJPThin"/>
              </a:rPr>
              <a:t>)</a:t>
            </a:r>
            <a:endParaRPr lang="en-US" sz="2170" b="0" u="none" strike="noStrike">
              <a:solidFill>
                <a:srgbClr val="000000"/>
              </a:solidFill>
              <a:effectLst/>
              <a:uFillTx/>
              <a:latin typeface="Noto Serif JP"/>
            </a:endParaRPr>
          </a:p>
        </p:txBody>
      </p:sp>
      <p:sp>
        <p:nvSpPr>
          <p:cNvPr id="359" name=""/>
          <p:cNvSpPr/>
          <p:nvPr/>
        </p:nvSpPr>
        <p:spPr>
          <a:xfrm>
            <a:off x="1361880" y="3857400"/>
            <a:ext cx="105120" cy="105120"/>
          </a:xfrm>
          <a:custGeom>
            <a:avLst/>
            <a:gdLst/>
            <a:ahLst/>
            <a:rect l="0" t="0" r="r" b="b"/>
            <a:pathLst>
              <a:path w="292" h="292">
                <a:moveTo>
                  <a:pt x="292" y="146"/>
                </a:moveTo>
                <a:cubicBezTo>
                  <a:pt x="292" y="155"/>
                  <a:pt x="291" y="165"/>
                  <a:pt x="289" y="174"/>
                </a:cubicBezTo>
                <a:cubicBezTo>
                  <a:pt x="287" y="183"/>
                  <a:pt x="285" y="193"/>
                  <a:pt x="281" y="202"/>
                </a:cubicBezTo>
                <a:cubicBezTo>
                  <a:pt x="277" y="211"/>
                  <a:pt x="273" y="220"/>
                  <a:pt x="268" y="227"/>
                </a:cubicBezTo>
                <a:cubicBezTo>
                  <a:pt x="262" y="235"/>
                  <a:pt x="256" y="243"/>
                  <a:pt x="249" y="250"/>
                </a:cubicBezTo>
                <a:cubicBezTo>
                  <a:pt x="243" y="256"/>
                  <a:pt x="235" y="262"/>
                  <a:pt x="227" y="268"/>
                </a:cubicBezTo>
                <a:cubicBezTo>
                  <a:pt x="219" y="273"/>
                  <a:pt x="211" y="277"/>
                  <a:pt x="202" y="281"/>
                </a:cubicBezTo>
                <a:cubicBezTo>
                  <a:pt x="193" y="285"/>
                  <a:pt x="184" y="288"/>
                  <a:pt x="175" y="289"/>
                </a:cubicBezTo>
                <a:cubicBezTo>
                  <a:pt x="166" y="291"/>
                  <a:pt x="156" y="292"/>
                  <a:pt x="147" y="292"/>
                </a:cubicBezTo>
                <a:cubicBezTo>
                  <a:pt x="136" y="292"/>
                  <a:pt x="127" y="291"/>
                  <a:pt x="117" y="289"/>
                </a:cubicBezTo>
                <a:cubicBezTo>
                  <a:pt x="108" y="288"/>
                  <a:pt x="99" y="285"/>
                  <a:pt x="90" y="281"/>
                </a:cubicBezTo>
                <a:cubicBezTo>
                  <a:pt x="81" y="277"/>
                  <a:pt x="73" y="273"/>
                  <a:pt x="65" y="268"/>
                </a:cubicBezTo>
                <a:cubicBezTo>
                  <a:pt x="57" y="262"/>
                  <a:pt x="49" y="256"/>
                  <a:pt x="43" y="250"/>
                </a:cubicBezTo>
                <a:cubicBezTo>
                  <a:pt x="36" y="243"/>
                  <a:pt x="30" y="235"/>
                  <a:pt x="25" y="227"/>
                </a:cubicBezTo>
                <a:cubicBezTo>
                  <a:pt x="19" y="220"/>
                  <a:pt x="15" y="211"/>
                  <a:pt x="11" y="202"/>
                </a:cubicBezTo>
                <a:cubicBezTo>
                  <a:pt x="7" y="193"/>
                  <a:pt x="5" y="183"/>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19"/>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19"/>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60" name=""/>
          <p:cNvSpPr txBox="1"/>
          <p:nvPr/>
        </p:nvSpPr>
        <p:spPr>
          <a:xfrm>
            <a:off x="1942200" y="3247920"/>
            <a:ext cx="392436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を減らすとモデル品質が低下。</a:t>
            </a:r>
            <a:endParaRPr lang="en-US" sz="2170" b="0" u="none" strike="noStrike">
              <a:solidFill>
                <a:srgbClr val="000000"/>
              </a:solidFill>
              <a:effectLst/>
              <a:uFillTx/>
              <a:latin typeface="Noto Serif JP"/>
            </a:endParaRPr>
          </a:p>
        </p:txBody>
      </p:sp>
      <p:sp>
        <p:nvSpPr>
          <p:cNvPr id="361" name=""/>
          <p:cNvSpPr/>
          <p:nvPr/>
        </p:nvSpPr>
        <p:spPr>
          <a:xfrm>
            <a:off x="809280" y="4343040"/>
            <a:ext cx="105120" cy="105480"/>
          </a:xfrm>
          <a:custGeom>
            <a:avLst/>
            <a:gdLst/>
            <a:ahLst/>
            <a:rect l="0" t="0" r="r" b="b"/>
            <a:pathLst>
              <a:path w="292" h="293">
                <a:moveTo>
                  <a:pt x="292" y="147"/>
                </a:moveTo>
                <a:cubicBezTo>
                  <a:pt x="292" y="157"/>
                  <a:pt x="292" y="166"/>
                  <a:pt x="290" y="175"/>
                </a:cubicBezTo>
                <a:cubicBezTo>
                  <a:pt x="288" y="185"/>
                  <a:pt x="285" y="194"/>
                  <a:pt x="281" y="203"/>
                </a:cubicBezTo>
                <a:cubicBezTo>
                  <a:pt x="278" y="212"/>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3"/>
                  <a:pt x="146" y="293"/>
                </a:cubicBezTo>
                <a:cubicBezTo>
                  <a:pt x="136" y="293"/>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2"/>
                  <a:pt x="12" y="203"/>
                </a:cubicBezTo>
                <a:cubicBezTo>
                  <a:pt x="8" y="194"/>
                  <a:pt x="5" y="185"/>
                  <a:pt x="3" y="175"/>
                </a:cubicBezTo>
                <a:cubicBezTo>
                  <a:pt x="1" y="166"/>
                  <a:pt x="0" y="157"/>
                  <a:pt x="0" y="147"/>
                </a:cubicBezTo>
                <a:cubicBezTo>
                  <a:pt x="0" y="137"/>
                  <a:pt x="1" y="128"/>
                  <a:pt x="3" y="119"/>
                </a:cubicBezTo>
                <a:cubicBezTo>
                  <a:pt x="5" y="109"/>
                  <a:pt x="8" y="100"/>
                  <a:pt x="12" y="91"/>
                </a:cubicBezTo>
                <a:cubicBezTo>
                  <a:pt x="15" y="83"/>
                  <a:pt x="20" y="74"/>
                  <a:pt x="25" y="66"/>
                </a:cubicBezTo>
                <a:cubicBezTo>
                  <a:pt x="30" y="58"/>
                  <a:pt x="36" y="51"/>
                  <a:pt x="43" y="44"/>
                </a:cubicBezTo>
                <a:cubicBezTo>
                  <a:pt x="50" y="37"/>
                  <a:pt x="57" y="31"/>
                  <a:pt x="65" y="26"/>
                </a:cubicBezTo>
                <a:cubicBezTo>
                  <a:pt x="73" y="21"/>
                  <a:pt x="81" y="16"/>
                  <a:pt x="90" y="12"/>
                </a:cubicBezTo>
                <a:cubicBezTo>
                  <a:pt x="99" y="8"/>
                  <a:pt x="108" y="5"/>
                  <a:pt x="118" y="3"/>
                </a:cubicBezTo>
                <a:cubicBezTo>
                  <a:pt x="127" y="1"/>
                  <a:pt x="136" y="0"/>
                  <a:pt x="146" y="0"/>
                </a:cubicBezTo>
                <a:cubicBezTo>
                  <a:pt x="156" y="0"/>
                  <a:pt x="165" y="1"/>
                  <a:pt x="174" y="3"/>
                </a:cubicBezTo>
                <a:cubicBezTo>
                  <a:pt x="184" y="5"/>
                  <a:pt x="193" y="8"/>
                  <a:pt x="202" y="12"/>
                </a:cubicBezTo>
                <a:cubicBezTo>
                  <a:pt x="210" y="16"/>
                  <a:pt x="219" y="21"/>
                  <a:pt x="228" y="26"/>
                </a:cubicBezTo>
                <a:cubicBezTo>
                  <a:pt x="236" y="31"/>
                  <a:pt x="243" y="37"/>
                  <a:pt x="250" y="44"/>
                </a:cubicBezTo>
                <a:cubicBezTo>
                  <a:pt x="257" y="51"/>
                  <a:pt x="263" y="58"/>
                  <a:pt x="268" y="66"/>
                </a:cubicBezTo>
                <a:cubicBezTo>
                  <a:pt x="273" y="74"/>
                  <a:pt x="278" y="83"/>
                  <a:pt x="281" y="91"/>
                </a:cubicBezTo>
                <a:cubicBezTo>
                  <a:pt x="285" y="100"/>
                  <a:pt x="288" y="109"/>
                  <a:pt x="290" y="119"/>
                </a:cubicBezTo>
                <a:cubicBezTo>
                  <a:pt x="292" y="128"/>
                  <a:pt x="292" y="137"/>
                  <a:pt x="292" y="147"/>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62" name=""/>
          <p:cNvSpPr txBox="1"/>
          <p:nvPr/>
        </p:nvSpPr>
        <p:spPr>
          <a:xfrm>
            <a:off x="1638360" y="3733920"/>
            <a:ext cx="551772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互換性関数の洗練が重要であることを示唆。</a:t>
            </a:r>
            <a:endParaRPr lang="en-US" sz="2170" b="0" u="none" strike="noStrike">
              <a:solidFill>
                <a:srgbClr val="000000"/>
              </a:solidFill>
              <a:effectLst/>
              <a:uFillTx/>
              <a:latin typeface="Noto Serif JP"/>
            </a:endParaRPr>
          </a:p>
        </p:txBody>
      </p:sp>
      <p:sp>
        <p:nvSpPr>
          <p:cNvPr id="363" name=""/>
          <p:cNvSpPr/>
          <p:nvPr/>
        </p:nvSpPr>
        <p:spPr>
          <a:xfrm>
            <a:off x="1361880" y="4752720"/>
            <a:ext cx="105120" cy="105120"/>
          </a:xfrm>
          <a:custGeom>
            <a:avLst/>
            <a:gdLst/>
            <a:ahLst/>
            <a:rect l="0" t="0" r="r" b="b"/>
            <a:pathLst>
              <a:path w="292" h="292">
                <a:moveTo>
                  <a:pt x="292" y="147"/>
                </a:moveTo>
                <a:cubicBezTo>
                  <a:pt x="292" y="156"/>
                  <a:pt x="291" y="166"/>
                  <a:pt x="289" y="175"/>
                </a:cubicBezTo>
                <a:cubicBezTo>
                  <a:pt x="287" y="184"/>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89"/>
                </a:cubicBezTo>
                <a:cubicBezTo>
                  <a:pt x="166" y="291"/>
                  <a:pt x="156" y="292"/>
                  <a:pt x="147" y="292"/>
                </a:cubicBezTo>
                <a:cubicBezTo>
                  <a:pt x="136" y="292"/>
                  <a:pt x="127" y="291"/>
                  <a:pt x="117" y="289"/>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4"/>
                  <a:pt x="3" y="175"/>
                </a:cubicBezTo>
                <a:cubicBezTo>
                  <a:pt x="1" y="166"/>
                  <a:pt x="0" y="156"/>
                  <a:pt x="0" y="147"/>
                </a:cubicBezTo>
                <a:cubicBezTo>
                  <a:pt x="0" y="137"/>
                  <a:pt x="1" y="128"/>
                  <a:pt x="3" y="118"/>
                </a:cubicBezTo>
                <a:cubicBezTo>
                  <a:pt x="5" y="109"/>
                  <a:pt x="7" y="100"/>
                  <a:pt x="11" y="91"/>
                </a:cubicBezTo>
                <a:cubicBezTo>
                  <a:pt x="15" y="82"/>
                  <a:pt x="19" y="74"/>
                  <a:pt x="25" y="66"/>
                </a:cubicBezTo>
                <a:cubicBezTo>
                  <a:pt x="30" y="58"/>
                  <a:pt x="36" y="51"/>
                  <a:pt x="43" y="44"/>
                </a:cubicBezTo>
                <a:cubicBezTo>
                  <a:pt x="49" y="36"/>
                  <a:pt x="57" y="30"/>
                  <a:pt x="65" y="25"/>
                </a:cubicBezTo>
                <a:cubicBezTo>
                  <a:pt x="73" y="19"/>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19"/>
                  <a:pt x="227" y="25"/>
                </a:cubicBezTo>
                <a:cubicBezTo>
                  <a:pt x="235" y="30"/>
                  <a:pt x="243" y="36"/>
                  <a:pt x="249" y="44"/>
                </a:cubicBezTo>
                <a:cubicBezTo>
                  <a:pt x="256" y="51"/>
                  <a:pt x="262" y="58"/>
                  <a:pt x="268" y="66"/>
                </a:cubicBezTo>
                <a:cubicBezTo>
                  <a:pt x="273" y="74"/>
                  <a:pt x="277" y="82"/>
                  <a:pt x="281" y="91"/>
                </a:cubicBezTo>
                <a:cubicBezTo>
                  <a:pt x="285" y="100"/>
                  <a:pt x="287" y="109"/>
                  <a:pt x="289" y="118"/>
                </a:cubicBezTo>
                <a:cubicBezTo>
                  <a:pt x="291" y="128"/>
                  <a:pt x="292" y="137"/>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64" name=""/>
          <p:cNvSpPr txBox="1"/>
          <p:nvPr/>
        </p:nvSpPr>
        <p:spPr>
          <a:xfrm>
            <a:off x="1085760" y="4219560"/>
            <a:ext cx="1931760" cy="331200"/>
          </a:xfrm>
          <a:prstGeom prst="rect">
            <a:avLst/>
          </a:prstGeom>
          <a:noFill/>
          <a:ln w="0">
            <a:noFill/>
          </a:ln>
        </p:spPr>
        <p:txBody>
          <a:bodyPr wrap="none" lIns="0" tIns="0" rIns="0" bIns="0" anchor="t">
            <a:spAutoFit/>
          </a:bodyPr>
          <a:p>
            <a:pPr/>
            <a:r>
              <a:rPr lang="ja-JP" sz="2170" b="1" u="none" strike="noStrike">
                <a:solidFill>
                  <a:srgbClr val="111111"/>
                </a:solidFill>
                <a:effectLst/>
                <a:uFillTx/>
                <a:latin typeface="NotoSansJPThin"/>
                <a:ea typeface="NotoSansJPThin"/>
              </a:rPr>
              <a:t>モデルの大きさ</a:t>
            </a:r>
            <a:endParaRPr lang="en-US" sz="2170" b="0" u="none" strike="noStrike">
              <a:solidFill>
                <a:srgbClr val="000000"/>
              </a:solidFill>
              <a:effectLst/>
              <a:uFillTx/>
              <a:latin typeface="Noto Serif JP"/>
            </a:endParaRPr>
          </a:p>
        </p:txBody>
      </p:sp>
      <p:sp>
        <p:nvSpPr>
          <p:cNvPr id="365" name=""/>
          <p:cNvSpPr/>
          <p:nvPr/>
        </p:nvSpPr>
        <p:spPr>
          <a:xfrm>
            <a:off x="809280" y="52387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6"/>
                  <a:pt x="1" y="126"/>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6"/>
                  <a:pt x="292" y="136"/>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66" name=""/>
          <p:cNvSpPr txBox="1"/>
          <p:nvPr/>
        </p:nvSpPr>
        <p:spPr>
          <a:xfrm>
            <a:off x="1638360" y="4629240"/>
            <a:ext cx="634500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大きいモデルとドロップアウトが性能向上に寄与。</a:t>
            </a:r>
            <a:endParaRPr lang="en-US" sz="2170" b="0" u="none" strike="noStrike">
              <a:solidFill>
                <a:srgbClr val="000000"/>
              </a:solidFill>
              <a:effectLst/>
              <a:uFillTx/>
              <a:latin typeface="Noto Serif JP"/>
            </a:endParaRPr>
          </a:p>
        </p:txBody>
      </p:sp>
      <p:sp>
        <p:nvSpPr>
          <p:cNvPr id="367" name=""/>
          <p:cNvSpPr/>
          <p:nvPr/>
        </p:nvSpPr>
        <p:spPr>
          <a:xfrm>
            <a:off x="1361880" y="565776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2"/>
                  <a:pt x="30" y="235"/>
                  <a:pt x="25" y="227"/>
                </a:cubicBezTo>
                <a:cubicBezTo>
                  <a:pt x="19" y="219"/>
                  <a:pt x="15" y="211"/>
                  <a:pt x="11" y="202"/>
                </a:cubicBezTo>
                <a:cubicBezTo>
                  <a:pt x="7" y="193"/>
                  <a:pt x="5" y="184"/>
                  <a:pt x="3" y="175"/>
                </a:cubicBezTo>
                <a:cubicBezTo>
                  <a:pt x="1" y="165"/>
                  <a:pt x="0" y="156"/>
                  <a:pt x="0" y="146"/>
                </a:cubicBezTo>
                <a:cubicBezTo>
                  <a:pt x="0" y="136"/>
                  <a:pt x="1" y="126"/>
                  <a:pt x="3" y="117"/>
                </a:cubicBezTo>
                <a:cubicBezTo>
                  <a:pt x="5" y="108"/>
                  <a:pt x="7" y="98"/>
                  <a:pt x="11" y="90"/>
                </a:cubicBezTo>
                <a:cubicBezTo>
                  <a:pt x="15" y="81"/>
                  <a:pt x="19" y="72"/>
                  <a:pt x="25" y="64"/>
                </a:cubicBezTo>
                <a:cubicBezTo>
                  <a:pt x="30" y="56"/>
                  <a:pt x="36" y="49"/>
                  <a:pt x="43" y="42"/>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2"/>
                </a:cubicBezTo>
                <a:cubicBezTo>
                  <a:pt x="256" y="49"/>
                  <a:pt x="262" y="56"/>
                  <a:pt x="268" y="64"/>
                </a:cubicBezTo>
                <a:cubicBezTo>
                  <a:pt x="273" y="72"/>
                  <a:pt x="277" y="81"/>
                  <a:pt x="281" y="90"/>
                </a:cubicBezTo>
                <a:cubicBezTo>
                  <a:pt x="285" y="98"/>
                  <a:pt x="287" y="108"/>
                  <a:pt x="289" y="117"/>
                </a:cubicBezTo>
                <a:cubicBezTo>
                  <a:pt x="291" y="126"/>
                  <a:pt x="292" y="136"/>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68" name=""/>
          <p:cNvSpPr txBox="1"/>
          <p:nvPr/>
        </p:nvSpPr>
        <p:spPr>
          <a:xfrm>
            <a:off x="1085760" y="5114880"/>
            <a:ext cx="2759040" cy="331200"/>
          </a:xfrm>
          <a:prstGeom prst="rect">
            <a:avLst/>
          </a:prstGeom>
          <a:noFill/>
          <a:ln w="0">
            <a:noFill/>
          </a:ln>
        </p:spPr>
        <p:txBody>
          <a:bodyPr wrap="none" lIns="0" tIns="0" rIns="0" bIns="0" anchor="t">
            <a:spAutoFit/>
          </a:bodyPr>
          <a:p>
            <a:pPr/>
            <a:r>
              <a:rPr lang="ja-JP" sz="2170" b="1" u="none" strike="noStrike">
                <a:solidFill>
                  <a:srgbClr val="111111"/>
                </a:solidFill>
                <a:effectLst/>
                <a:uFillTx/>
                <a:latin typeface="NotoSansJPThin"/>
                <a:ea typeface="NotoSansJPThin"/>
              </a:rPr>
              <a:t>位置エンコーディング</a:t>
            </a:r>
            <a:endParaRPr lang="en-US" sz="2170" b="0" u="none" strike="noStrike">
              <a:solidFill>
                <a:srgbClr val="000000"/>
              </a:solidFill>
              <a:effectLst/>
              <a:uFillTx/>
              <a:latin typeface="Noto Serif JP"/>
            </a:endParaRPr>
          </a:p>
        </p:txBody>
      </p:sp>
      <p:sp>
        <p:nvSpPr>
          <p:cNvPr id="369" name=""/>
          <p:cNvSpPr txBox="1"/>
          <p:nvPr/>
        </p:nvSpPr>
        <p:spPr>
          <a:xfrm>
            <a:off x="1638360" y="5533920"/>
            <a:ext cx="993096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サイン‧コサイン関数による位置エンコーディングと、学習済みエンコーディン</a:t>
            </a:r>
            <a:endParaRPr lang="en-US" sz="2170" b="0" u="none" strike="noStrike">
              <a:solidFill>
                <a:srgbClr val="000000"/>
              </a:solidFill>
              <a:effectLst/>
              <a:uFillTx/>
              <a:latin typeface="Noto Serif JP"/>
            </a:endParaRPr>
          </a:p>
        </p:txBody>
      </p:sp>
      <p:sp>
        <p:nvSpPr>
          <p:cNvPr id="370" name=""/>
          <p:cNvSpPr/>
          <p:nvPr/>
        </p:nvSpPr>
        <p:spPr>
          <a:xfrm>
            <a:off x="1361880" y="655308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5"/>
                  <a:pt x="235" y="261"/>
                  <a:pt x="227" y="266"/>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6"/>
                </a:cubicBezTo>
                <a:cubicBezTo>
                  <a:pt x="57" y="261"/>
                  <a:pt x="49" y="255"/>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8"/>
                  <a:pt x="7" y="98"/>
                  <a:pt x="11" y="90"/>
                </a:cubicBezTo>
                <a:cubicBezTo>
                  <a:pt x="15" y="81"/>
                  <a:pt x="19" y="72"/>
                  <a:pt x="25" y="65"/>
                </a:cubicBezTo>
                <a:cubicBezTo>
                  <a:pt x="30" y="57"/>
                  <a:pt x="36" y="49"/>
                  <a:pt x="43" y="42"/>
                </a:cubicBezTo>
                <a:cubicBezTo>
                  <a:pt x="49" y="36"/>
                  <a:pt x="57" y="30"/>
                  <a:pt x="65" y="24"/>
                </a:cubicBezTo>
                <a:cubicBezTo>
                  <a:pt x="73" y="19"/>
                  <a:pt x="81" y="15"/>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5"/>
                  <a:pt x="219" y="19"/>
                  <a:pt x="227" y="24"/>
                </a:cubicBezTo>
                <a:cubicBezTo>
                  <a:pt x="235" y="30"/>
                  <a:pt x="243" y="36"/>
                  <a:pt x="249" y="42"/>
                </a:cubicBezTo>
                <a:cubicBezTo>
                  <a:pt x="256" y="49"/>
                  <a:pt x="262" y="57"/>
                  <a:pt x="268" y="65"/>
                </a:cubicBezTo>
                <a:cubicBezTo>
                  <a:pt x="273" y="72"/>
                  <a:pt x="277" y="81"/>
                  <a:pt x="281" y="90"/>
                </a:cubicBezTo>
                <a:cubicBezTo>
                  <a:pt x="285" y="98"/>
                  <a:pt x="287" y="108"/>
                  <a:pt x="289" y="117"/>
                </a:cubicBezTo>
                <a:cubicBezTo>
                  <a:pt x="291" y="126"/>
                  <a:pt x="292" y="136"/>
                  <a:pt x="292" y="145"/>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71" name=""/>
          <p:cNvSpPr txBox="1"/>
          <p:nvPr/>
        </p:nvSpPr>
        <p:spPr>
          <a:xfrm>
            <a:off x="1638360" y="5943600"/>
            <a:ext cx="275904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グはほぼ同等の結果。</a:t>
            </a:r>
            <a:endParaRPr lang="en-US" sz="2170" b="0" u="none" strike="noStrike">
              <a:solidFill>
                <a:srgbClr val="000000"/>
              </a:solidFill>
              <a:effectLst/>
              <a:uFillTx/>
              <a:latin typeface="Noto Serif JP"/>
            </a:endParaRPr>
          </a:p>
        </p:txBody>
      </p:sp>
      <p:sp>
        <p:nvSpPr>
          <p:cNvPr id="372" name=""/>
          <p:cNvSpPr txBox="1"/>
          <p:nvPr/>
        </p:nvSpPr>
        <p:spPr>
          <a:xfrm>
            <a:off x="1638360" y="6429240"/>
            <a:ext cx="910368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サイン‧コサイン関数は長いシーケンス長への外挿可能性が期待される。</a:t>
            </a:r>
            <a:endParaRPr lang="en-US" sz="2170" b="0" u="none" strike="noStrike">
              <a:solidFill>
                <a:srgbClr val="000000"/>
              </a:solidFill>
              <a:effectLst/>
              <a:uFillTx/>
              <a:latin typeface="Noto Serif JP"/>
            </a:endParaRPr>
          </a:p>
        </p:txBody>
      </p:sp>
      <p:sp>
        <p:nvSpPr>
          <p:cNvPr id="373"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74" name=""/>
          <p:cNvSpPr txBox="1"/>
          <p:nvPr/>
        </p:nvSpPr>
        <p:spPr>
          <a:xfrm>
            <a:off x="914400" y="409680"/>
            <a:ext cx="4472280" cy="299160"/>
          </a:xfrm>
          <a:prstGeom prst="rect">
            <a:avLst/>
          </a:prstGeom>
          <a:noFill/>
          <a:ln w="0">
            <a:noFill/>
          </a:ln>
        </p:spPr>
        <p:txBody>
          <a:bodyPr wrap="none" lIns="0" tIns="0" rIns="0" bIns="0" anchor="t">
            <a:spAutoFit/>
          </a:bodyPr>
          <a:p>
            <a:pPr/>
            <a:r>
              <a:rPr lang="ja-JP" sz="1950" b="1" u="none" strike="noStrike">
                <a:solidFill>
                  <a:srgbClr val="111111"/>
                </a:solidFill>
                <a:effectLst/>
                <a:uFillTx/>
                <a:latin typeface="NotoSansJPThin"/>
                <a:ea typeface="NotoSansJPThin"/>
              </a:rPr>
              <a:t>実験結果：モデル構成のバリエーション</a:t>
            </a:r>
            <a:endParaRPr lang="en-US" sz="1950" b="0" u="none" strike="noStrike">
              <a:solidFill>
                <a:srgbClr val="000000"/>
              </a:solidFill>
              <a:effectLst/>
              <a:uFillTx/>
              <a:latin typeface="Noto Serif JP"/>
            </a:endParaRPr>
          </a:p>
        </p:txBody>
      </p:sp>
      <p:sp>
        <p:nvSpPr>
          <p:cNvPr id="375" name=""/>
          <p:cNvSpPr txBox="1"/>
          <p:nvPr/>
        </p:nvSpPr>
        <p:spPr>
          <a:xfrm>
            <a:off x="3909960" y="283284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d</a:t>
            </a:r>
            <a:endParaRPr lang="en-US" sz="2220" b="0" u="none" strike="noStrike">
              <a:solidFill>
                <a:srgbClr val="000000"/>
              </a:solidFill>
              <a:effectLst/>
              <a:uFillTx/>
              <a:latin typeface="Noto Serif JP"/>
            </a:endParaRPr>
          </a:p>
        </p:txBody>
      </p:sp>
      <p:sp>
        <p:nvSpPr>
          <p:cNvPr id="376" name=""/>
          <p:cNvSpPr txBox="1"/>
          <p:nvPr/>
        </p:nvSpPr>
        <p:spPr>
          <a:xfrm>
            <a:off x="4084560" y="295560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k</a:t>
            </a:r>
            <a:endParaRPr lang="en-US" sz="1560" b="0" u="none" strike="noStrike">
              <a:solidFill>
                <a:srgbClr val="000000"/>
              </a:solidFill>
              <a:effectLst/>
              <a:uFillTx/>
              <a:latin typeface="Noto Serif JP"/>
            </a:endParaRPr>
          </a:p>
        </p:txBody>
      </p:sp>
      <p:sp>
        <p:nvSpPr>
          <p:cNvPr id="377" name=""/>
          <p:cNvSpPr txBox="1"/>
          <p:nvPr/>
        </p:nvSpPr>
        <p:spPr>
          <a:xfrm>
            <a:off x="1638360" y="324252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d</a:t>
            </a:r>
            <a:endParaRPr lang="en-US" sz="2220" b="0" u="none" strike="noStrike">
              <a:solidFill>
                <a:srgbClr val="000000"/>
              </a:solidFill>
              <a:effectLst/>
              <a:uFillTx/>
              <a:latin typeface="Noto Serif JP"/>
            </a:endParaRPr>
          </a:p>
        </p:txBody>
      </p:sp>
      <p:sp>
        <p:nvSpPr>
          <p:cNvPr id="378" name=""/>
          <p:cNvSpPr txBox="1"/>
          <p:nvPr/>
        </p:nvSpPr>
        <p:spPr>
          <a:xfrm>
            <a:off x="1812960" y="3374640"/>
            <a:ext cx="196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k</a:t>
            </a:r>
            <a:endParaRPr lang="en-US" sz="1560" b="0" u="none" strike="noStrike">
              <a:solidFill>
                <a:srgbClr val="000000"/>
              </a:solidFill>
              <a:effectLst/>
              <a:uFillTx/>
              <a:latin typeface="Noto Serif JP"/>
            </a:endParaRPr>
          </a:p>
        </p:txBody>
      </p:sp>
      <p:sp>
        <p:nvSpPr>
          <p:cNvPr id="379" name=""/>
          <p:cNvSpPr txBox="1"/>
          <p:nvPr/>
        </p:nvSpPr>
        <p:spPr>
          <a:xfrm>
            <a:off x="11777400" y="6458040"/>
            <a:ext cx="339120" cy="366120"/>
          </a:xfrm>
          <a:prstGeom prst="rect">
            <a:avLst/>
          </a:prstGeom>
          <a:noFill/>
          <a:ln w="0">
            <a:noFill/>
          </a:ln>
        </p:spPr>
        <p:txBody>
          <a:bodyPr wrap="none" lIns="0" tIns="0" rIns="0" bIns="0" anchor="t">
            <a:spAutoFit/>
          </a:bodyPr>
          <a:p>
            <a:pPr/>
            <a:r>
              <a:rPr lang="en-US" sz="2400" b="0" u="none" strike="noStrike">
                <a:solidFill>
                  <a:srgbClr val="111111"/>
                </a:solidFill>
                <a:effectLst/>
                <a:uFillTx/>
                <a:latin typeface="NotoSansJP"/>
                <a:ea typeface="NotoSansJP"/>
              </a:rPr>
              <a:t>12</a:t>
            </a:r>
            <a:endParaRPr lang="en-US" sz="2400" b="0" u="none" strike="noStrike">
              <a:solidFill>
                <a:srgbClr val="000000"/>
              </a:solidFill>
              <a:effectLst/>
              <a:uFillTx/>
              <a:latin typeface="Noto Serif JP"/>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81"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82"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83"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0"/>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384" name=""/>
          <p:cNvSpPr/>
          <p:nvPr/>
        </p:nvSpPr>
        <p:spPr>
          <a:xfrm>
            <a:off x="809280" y="1581120"/>
            <a:ext cx="105120" cy="105120"/>
          </a:xfrm>
          <a:custGeom>
            <a:avLst/>
            <a:gdLst/>
            <a:ahLst/>
            <a:rect l="0" t="0" r="r" b="b"/>
            <a:pathLst>
              <a:path w="292" h="292">
                <a:moveTo>
                  <a:pt x="292" y="146"/>
                </a:moveTo>
                <a:cubicBezTo>
                  <a:pt x="292" y="156"/>
                  <a:pt x="292" y="165"/>
                  <a:pt x="290" y="174"/>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4"/>
                </a:cubicBezTo>
                <a:cubicBezTo>
                  <a:pt x="1" y="165"/>
                  <a:pt x="0" y="156"/>
                  <a:pt x="0" y="146"/>
                </a:cubicBezTo>
                <a:cubicBezTo>
                  <a:pt x="0" y="137"/>
                  <a:pt x="1" y="127"/>
                  <a:pt x="3" y="117"/>
                </a:cubicBezTo>
                <a:cubicBezTo>
                  <a:pt x="5" y="107"/>
                  <a:pt x="8" y="98"/>
                  <a:pt x="12" y="89"/>
                </a:cubicBezTo>
                <a:cubicBezTo>
                  <a:pt x="15" y="81"/>
                  <a:pt x="20" y="72"/>
                  <a:pt x="25" y="64"/>
                </a:cubicBezTo>
                <a:cubicBezTo>
                  <a:pt x="30" y="56"/>
                  <a:pt x="36" y="49"/>
                  <a:pt x="43" y="42"/>
                </a:cubicBezTo>
                <a:cubicBezTo>
                  <a:pt x="50" y="35"/>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5"/>
                  <a:pt x="250" y="42"/>
                </a:cubicBezTo>
                <a:cubicBezTo>
                  <a:pt x="257" y="49"/>
                  <a:pt x="263" y="56"/>
                  <a:pt x="268" y="64"/>
                </a:cubicBezTo>
                <a:cubicBezTo>
                  <a:pt x="273" y="72"/>
                  <a:pt x="278" y="81"/>
                  <a:pt x="281" y="89"/>
                </a:cubicBezTo>
                <a:cubicBezTo>
                  <a:pt x="285" y="98"/>
                  <a:pt x="288" y="107"/>
                  <a:pt x="290" y="117"/>
                </a:cubicBezTo>
                <a:cubicBezTo>
                  <a:pt x="292" y="127"/>
                  <a:pt x="292" y="137"/>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85" name=""/>
          <p:cNvSpPr txBox="1"/>
          <p:nvPr/>
        </p:nvSpPr>
        <p:spPr>
          <a:xfrm>
            <a:off x="533520" y="942840"/>
            <a:ext cx="1070784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Transformer</a:t>
            </a:r>
            <a:r>
              <a:rPr lang="ja-JP" sz="2170" b="0" u="none" strike="noStrike">
                <a:solidFill>
                  <a:srgbClr val="111111"/>
                </a:solidFill>
                <a:effectLst/>
                <a:uFillTx/>
                <a:latin typeface="NotoSansJP"/>
                <a:ea typeface="NotoSansJP"/>
              </a:rPr>
              <a:t>が機械翻訳以外のタスクにも汎用的に適用可能であることを示しました。</a:t>
            </a:r>
            <a:endParaRPr lang="en-US" sz="2170" b="0" u="none" strike="noStrike">
              <a:solidFill>
                <a:srgbClr val="000000"/>
              </a:solidFill>
              <a:effectLst/>
              <a:uFillTx/>
              <a:latin typeface="Noto Serif JP"/>
            </a:endParaRPr>
          </a:p>
        </p:txBody>
      </p:sp>
      <p:sp>
        <p:nvSpPr>
          <p:cNvPr id="386" name=""/>
          <p:cNvSpPr/>
          <p:nvPr/>
        </p:nvSpPr>
        <p:spPr>
          <a:xfrm>
            <a:off x="1361880" y="1990440"/>
            <a:ext cx="105120" cy="105120"/>
          </a:xfrm>
          <a:custGeom>
            <a:avLst/>
            <a:gdLst/>
            <a:ahLst/>
            <a:rect l="0" t="0" r="r" b="b"/>
            <a:pathLst>
              <a:path w="292" h="292">
                <a:moveTo>
                  <a:pt x="292" y="147"/>
                </a:moveTo>
                <a:cubicBezTo>
                  <a:pt x="292" y="156"/>
                  <a:pt x="291" y="166"/>
                  <a:pt x="289" y="175"/>
                </a:cubicBezTo>
                <a:cubicBezTo>
                  <a:pt x="287" y="185"/>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90"/>
                </a:cubicBezTo>
                <a:cubicBezTo>
                  <a:pt x="166" y="291"/>
                  <a:pt x="156" y="292"/>
                  <a:pt x="147" y="292"/>
                </a:cubicBezTo>
                <a:cubicBezTo>
                  <a:pt x="136" y="292"/>
                  <a:pt x="127" y="291"/>
                  <a:pt x="117" y="290"/>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5"/>
                  <a:pt x="3" y="175"/>
                </a:cubicBezTo>
                <a:cubicBezTo>
                  <a:pt x="1" y="166"/>
                  <a:pt x="0" y="156"/>
                  <a:pt x="0" y="147"/>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20"/>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87" name=""/>
          <p:cNvSpPr txBox="1"/>
          <p:nvPr/>
        </p:nvSpPr>
        <p:spPr>
          <a:xfrm>
            <a:off x="1085760" y="1457280"/>
            <a:ext cx="828360" cy="331200"/>
          </a:xfrm>
          <a:prstGeom prst="rect">
            <a:avLst/>
          </a:prstGeom>
          <a:noFill/>
          <a:ln w="0">
            <a:noFill/>
          </a:ln>
        </p:spPr>
        <p:txBody>
          <a:bodyPr wrap="none" lIns="0" tIns="0" rIns="0" bIns="0" anchor="t">
            <a:spAutoFit/>
          </a:bodyPr>
          <a:p>
            <a:pPr/>
            <a:r>
              <a:rPr lang="ja-JP" sz="2170" b="1" u="none" strike="noStrike">
                <a:solidFill>
                  <a:srgbClr val="111111"/>
                </a:solidFill>
                <a:effectLst/>
                <a:uFillTx/>
                <a:latin typeface="NotoSansJPThin"/>
                <a:ea typeface="NotoSansJPThin"/>
              </a:rPr>
              <a:t>タスク</a:t>
            </a:r>
            <a:endParaRPr lang="en-US" sz="2170" b="0" u="none" strike="noStrike">
              <a:solidFill>
                <a:srgbClr val="000000"/>
              </a:solidFill>
              <a:effectLst/>
              <a:uFillTx/>
              <a:latin typeface="Noto Serif JP"/>
            </a:endParaRPr>
          </a:p>
        </p:txBody>
      </p:sp>
      <p:sp>
        <p:nvSpPr>
          <p:cNvPr id="388" name=""/>
          <p:cNvSpPr/>
          <p:nvPr/>
        </p:nvSpPr>
        <p:spPr>
          <a:xfrm>
            <a:off x="1361880" y="2476440"/>
            <a:ext cx="105120" cy="105120"/>
          </a:xfrm>
          <a:custGeom>
            <a:avLst/>
            <a:gdLst/>
            <a:ahLst/>
            <a:rect l="0" t="0" r="r" b="b"/>
            <a:pathLst>
              <a:path w="292" h="292">
                <a:moveTo>
                  <a:pt x="292" y="145"/>
                </a:moveTo>
                <a:cubicBezTo>
                  <a:pt x="292" y="155"/>
                  <a:pt x="291" y="164"/>
                  <a:pt x="289" y="174"/>
                </a:cubicBezTo>
                <a:cubicBezTo>
                  <a:pt x="287" y="183"/>
                  <a:pt x="285" y="192"/>
                  <a:pt x="281" y="201"/>
                </a:cubicBezTo>
                <a:cubicBezTo>
                  <a:pt x="277" y="210"/>
                  <a:pt x="273" y="218"/>
                  <a:pt x="268" y="226"/>
                </a:cubicBezTo>
                <a:cubicBezTo>
                  <a:pt x="262" y="234"/>
                  <a:pt x="256" y="241"/>
                  <a:pt x="249" y="248"/>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8"/>
                </a:cubicBezTo>
                <a:cubicBezTo>
                  <a:pt x="36" y="241"/>
                  <a:pt x="30" y="234"/>
                  <a:pt x="25" y="226"/>
                </a:cubicBezTo>
                <a:cubicBezTo>
                  <a:pt x="19" y="218"/>
                  <a:pt x="15" y="210"/>
                  <a:pt x="11" y="201"/>
                </a:cubicBezTo>
                <a:cubicBezTo>
                  <a:pt x="7" y="192"/>
                  <a:pt x="5" y="183"/>
                  <a:pt x="3" y="174"/>
                </a:cubicBezTo>
                <a:cubicBezTo>
                  <a:pt x="1" y="164"/>
                  <a:pt x="0" y="155"/>
                  <a:pt x="0" y="145"/>
                </a:cubicBezTo>
                <a:cubicBezTo>
                  <a:pt x="0" y="136"/>
                  <a:pt x="1" y="126"/>
                  <a:pt x="3" y="117"/>
                </a:cubicBezTo>
                <a:cubicBezTo>
                  <a:pt x="5" y="107"/>
                  <a:pt x="7" y="98"/>
                  <a:pt x="11" y="89"/>
                </a:cubicBezTo>
                <a:cubicBezTo>
                  <a:pt x="15" y="81"/>
                  <a:pt x="19" y="72"/>
                  <a:pt x="25" y="64"/>
                </a:cubicBezTo>
                <a:cubicBezTo>
                  <a:pt x="30" y="56"/>
                  <a:pt x="36" y="49"/>
                  <a:pt x="43" y="42"/>
                </a:cubicBezTo>
                <a:cubicBezTo>
                  <a:pt x="49" y="36"/>
                  <a:pt x="57" y="29"/>
                  <a:pt x="65" y="24"/>
                </a:cubicBezTo>
                <a:cubicBezTo>
                  <a:pt x="73" y="19"/>
                  <a:pt x="81" y="14"/>
                  <a:pt x="90" y="11"/>
                </a:cubicBezTo>
                <a:cubicBezTo>
                  <a:pt x="99" y="7"/>
                  <a:pt x="108" y="4"/>
                  <a:pt x="117" y="2"/>
                </a:cubicBezTo>
                <a:cubicBezTo>
                  <a:pt x="127" y="1"/>
                  <a:pt x="136" y="0"/>
                  <a:pt x="147" y="0"/>
                </a:cubicBezTo>
                <a:cubicBezTo>
                  <a:pt x="156" y="0"/>
                  <a:pt x="166" y="1"/>
                  <a:pt x="175" y="2"/>
                </a:cubicBezTo>
                <a:cubicBezTo>
                  <a:pt x="184" y="4"/>
                  <a:pt x="193" y="7"/>
                  <a:pt x="202" y="11"/>
                </a:cubicBezTo>
                <a:cubicBezTo>
                  <a:pt x="211" y="14"/>
                  <a:pt x="219" y="19"/>
                  <a:pt x="227" y="24"/>
                </a:cubicBezTo>
                <a:cubicBezTo>
                  <a:pt x="235" y="29"/>
                  <a:pt x="243" y="36"/>
                  <a:pt x="249" y="42"/>
                </a:cubicBezTo>
                <a:cubicBezTo>
                  <a:pt x="256" y="49"/>
                  <a:pt x="262" y="56"/>
                  <a:pt x="268" y="64"/>
                </a:cubicBezTo>
                <a:cubicBezTo>
                  <a:pt x="273" y="72"/>
                  <a:pt x="277" y="81"/>
                  <a:pt x="281" y="89"/>
                </a:cubicBezTo>
                <a:cubicBezTo>
                  <a:pt x="285" y="98"/>
                  <a:pt x="287" y="107"/>
                  <a:pt x="289" y="117"/>
                </a:cubicBezTo>
                <a:cubicBezTo>
                  <a:pt x="291" y="126"/>
                  <a:pt x="292" y="136"/>
                  <a:pt x="292" y="145"/>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89" name=""/>
          <p:cNvSpPr txBox="1"/>
          <p:nvPr/>
        </p:nvSpPr>
        <p:spPr>
          <a:xfrm>
            <a:off x="1638360" y="1866960"/>
            <a:ext cx="700668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英語の構成素構文解析 </a:t>
            </a:r>
            <a:r>
              <a:rPr lang="en-US" sz="2170" b="0" u="none" strike="noStrike">
                <a:solidFill>
                  <a:srgbClr val="111111"/>
                </a:solidFill>
                <a:effectLst/>
                <a:uFillTx/>
                <a:latin typeface="NotoSansJP"/>
                <a:ea typeface="NotoSansJP"/>
              </a:rPr>
              <a:t>(English Constituency Parsing)</a:t>
            </a:r>
            <a:r>
              <a:rPr lang="ja-JP" sz="2170" b="0" u="none" strike="noStrike">
                <a:solidFill>
                  <a:srgbClr val="111111"/>
                </a:solidFill>
                <a:effectLst/>
                <a:uFillTx/>
                <a:latin typeface="NotoSansJP"/>
                <a:ea typeface="NotoSansJP"/>
              </a:rPr>
              <a:t>。</a:t>
            </a:r>
            <a:endParaRPr lang="en-US" sz="2170" b="0" u="none" strike="noStrike">
              <a:solidFill>
                <a:srgbClr val="000000"/>
              </a:solidFill>
              <a:effectLst/>
              <a:uFillTx/>
              <a:latin typeface="Noto Serif JP"/>
            </a:endParaRPr>
          </a:p>
        </p:txBody>
      </p:sp>
      <p:sp>
        <p:nvSpPr>
          <p:cNvPr id="390" name=""/>
          <p:cNvSpPr/>
          <p:nvPr/>
        </p:nvSpPr>
        <p:spPr>
          <a:xfrm>
            <a:off x="809280" y="2962080"/>
            <a:ext cx="105120" cy="105120"/>
          </a:xfrm>
          <a:custGeom>
            <a:avLst/>
            <a:gdLst/>
            <a:ahLst/>
            <a:rect l="0" t="0" r="r" b="b"/>
            <a:pathLst>
              <a:path w="292" h="292">
                <a:moveTo>
                  <a:pt x="292" y="147"/>
                </a:moveTo>
                <a:cubicBezTo>
                  <a:pt x="292" y="156"/>
                  <a:pt x="292" y="166"/>
                  <a:pt x="290" y="175"/>
                </a:cubicBezTo>
                <a:cubicBezTo>
                  <a:pt x="288" y="184"/>
                  <a:pt x="285" y="193"/>
                  <a:pt x="281" y="202"/>
                </a:cubicBezTo>
                <a:cubicBezTo>
                  <a:pt x="278" y="211"/>
                  <a:pt x="273" y="219"/>
                  <a:pt x="268" y="227"/>
                </a:cubicBezTo>
                <a:cubicBezTo>
                  <a:pt x="263" y="235"/>
                  <a:pt x="257" y="243"/>
                  <a:pt x="250" y="249"/>
                </a:cubicBezTo>
                <a:cubicBezTo>
                  <a:pt x="243" y="256"/>
                  <a:pt x="236" y="262"/>
                  <a:pt x="228" y="268"/>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8"/>
                </a:cubicBezTo>
                <a:cubicBezTo>
                  <a:pt x="57" y="262"/>
                  <a:pt x="50" y="256"/>
                  <a:pt x="43" y="249"/>
                </a:cubicBezTo>
                <a:cubicBezTo>
                  <a:pt x="36" y="243"/>
                  <a:pt x="30" y="235"/>
                  <a:pt x="25" y="227"/>
                </a:cubicBezTo>
                <a:cubicBezTo>
                  <a:pt x="20" y="219"/>
                  <a:pt x="15" y="211"/>
                  <a:pt x="12" y="202"/>
                </a:cubicBezTo>
                <a:cubicBezTo>
                  <a:pt x="8" y="193"/>
                  <a:pt x="5" y="184"/>
                  <a:pt x="3" y="175"/>
                </a:cubicBezTo>
                <a:cubicBezTo>
                  <a:pt x="1" y="166"/>
                  <a:pt x="0" y="156"/>
                  <a:pt x="0" y="147"/>
                </a:cubicBezTo>
                <a:cubicBezTo>
                  <a:pt x="0" y="137"/>
                  <a:pt x="1" y="128"/>
                  <a:pt x="3" y="118"/>
                </a:cubicBezTo>
                <a:cubicBezTo>
                  <a:pt x="5" y="109"/>
                  <a:pt x="8" y="100"/>
                  <a:pt x="12" y="91"/>
                </a:cubicBezTo>
                <a:cubicBezTo>
                  <a:pt x="15" y="82"/>
                  <a:pt x="20" y="74"/>
                  <a:pt x="25" y="65"/>
                </a:cubicBezTo>
                <a:cubicBezTo>
                  <a:pt x="30" y="57"/>
                  <a:pt x="36" y="49"/>
                  <a:pt x="43" y="43"/>
                </a:cubicBezTo>
                <a:cubicBezTo>
                  <a:pt x="50" y="36"/>
                  <a:pt x="57" y="30"/>
                  <a:pt x="65" y="25"/>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5"/>
                </a:cubicBezTo>
                <a:cubicBezTo>
                  <a:pt x="236" y="30"/>
                  <a:pt x="243" y="36"/>
                  <a:pt x="250" y="43"/>
                </a:cubicBezTo>
                <a:cubicBezTo>
                  <a:pt x="257" y="49"/>
                  <a:pt x="263" y="57"/>
                  <a:pt x="268" y="65"/>
                </a:cubicBezTo>
                <a:cubicBezTo>
                  <a:pt x="273" y="74"/>
                  <a:pt x="278" y="82"/>
                  <a:pt x="281" y="91"/>
                </a:cubicBezTo>
                <a:cubicBezTo>
                  <a:pt x="285" y="100"/>
                  <a:pt x="288" y="109"/>
                  <a:pt x="290" y="118"/>
                </a:cubicBezTo>
                <a:cubicBezTo>
                  <a:pt x="292" y="128"/>
                  <a:pt x="292" y="137"/>
                  <a:pt x="292" y="147"/>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91" name=""/>
          <p:cNvSpPr txBox="1"/>
          <p:nvPr/>
        </p:nvSpPr>
        <p:spPr>
          <a:xfrm>
            <a:off x="1638360" y="2352600"/>
            <a:ext cx="982800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出力に強い構造的制約があり、</a:t>
            </a:r>
            <a:r>
              <a:rPr lang="en-US" sz="2170" b="0" u="none" strike="noStrike">
                <a:solidFill>
                  <a:srgbClr val="111111"/>
                </a:solidFill>
                <a:effectLst/>
                <a:uFillTx/>
                <a:latin typeface="NotoSansJP"/>
                <a:ea typeface="NotoSansJP"/>
              </a:rPr>
              <a:t>RNN</a:t>
            </a:r>
            <a:r>
              <a:rPr lang="ja-JP" sz="2170" b="0" u="none" strike="noStrike">
                <a:solidFill>
                  <a:srgbClr val="111111"/>
                </a:solidFill>
                <a:effectLst/>
                <a:uFillTx/>
                <a:latin typeface="NotoSansJP"/>
                <a:ea typeface="NotoSansJP"/>
              </a:rPr>
              <a:t>モデルでは</a:t>
            </a:r>
            <a:r>
              <a:rPr lang="en-US" sz="2170" b="0" u="none" strike="noStrike">
                <a:solidFill>
                  <a:srgbClr val="111111"/>
                </a:solidFill>
                <a:effectLst/>
                <a:uFillTx/>
                <a:latin typeface="NotoSansJP"/>
                <a:ea typeface="NotoSansJP"/>
              </a:rPr>
              <a:t>SOTA</a:t>
            </a:r>
            <a:r>
              <a:rPr lang="ja-JP" sz="2170" b="0" u="none" strike="noStrike">
                <a:solidFill>
                  <a:srgbClr val="111111"/>
                </a:solidFill>
                <a:effectLst/>
                <a:uFillTx/>
                <a:latin typeface="NotoSansJP"/>
                <a:ea typeface="NotoSansJP"/>
              </a:rPr>
              <a:t>を達成困難だったタスク。</a:t>
            </a:r>
            <a:endParaRPr lang="en-US" sz="2170" b="0" u="none" strike="noStrike">
              <a:solidFill>
                <a:srgbClr val="000000"/>
              </a:solidFill>
              <a:effectLst/>
              <a:uFillTx/>
              <a:latin typeface="Noto Serif JP"/>
            </a:endParaRPr>
          </a:p>
        </p:txBody>
      </p:sp>
      <p:sp>
        <p:nvSpPr>
          <p:cNvPr id="392" name=""/>
          <p:cNvSpPr/>
          <p:nvPr/>
        </p:nvSpPr>
        <p:spPr>
          <a:xfrm>
            <a:off x="1361880" y="3371760"/>
            <a:ext cx="105120" cy="105120"/>
          </a:xfrm>
          <a:custGeom>
            <a:avLst/>
            <a:gdLst/>
            <a:ahLst/>
            <a:rect l="0" t="0" r="r" b="b"/>
            <a:pathLst>
              <a:path w="292" h="292">
                <a:moveTo>
                  <a:pt x="292" y="146"/>
                </a:moveTo>
                <a:cubicBezTo>
                  <a:pt x="292" y="156"/>
                  <a:pt x="291" y="165"/>
                  <a:pt x="289" y="175"/>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3"/>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3"/>
                  <a:pt x="65" y="267"/>
                </a:cubicBezTo>
                <a:cubicBezTo>
                  <a:pt x="57" y="262"/>
                  <a:pt x="49" y="256"/>
                  <a:pt x="43" y="249"/>
                </a:cubicBezTo>
                <a:cubicBezTo>
                  <a:pt x="36" y="242"/>
                  <a:pt x="30" y="235"/>
                  <a:pt x="25" y="227"/>
                </a:cubicBezTo>
                <a:cubicBezTo>
                  <a:pt x="19" y="219"/>
                  <a:pt x="15" y="211"/>
                  <a:pt x="11" y="202"/>
                </a:cubicBezTo>
                <a:cubicBezTo>
                  <a:pt x="7" y="193"/>
                  <a:pt x="5" y="184"/>
                  <a:pt x="3" y="175"/>
                </a:cubicBezTo>
                <a:cubicBezTo>
                  <a:pt x="1" y="165"/>
                  <a:pt x="0" y="156"/>
                  <a:pt x="0" y="146"/>
                </a:cubicBezTo>
                <a:cubicBezTo>
                  <a:pt x="0" y="137"/>
                  <a:pt x="1" y="127"/>
                  <a:pt x="3" y="118"/>
                </a:cubicBezTo>
                <a:cubicBezTo>
                  <a:pt x="5" y="109"/>
                  <a:pt x="7" y="99"/>
                  <a:pt x="11" y="90"/>
                </a:cubicBezTo>
                <a:cubicBezTo>
                  <a:pt x="15" y="81"/>
                  <a:pt x="19" y="72"/>
                  <a:pt x="25" y="64"/>
                </a:cubicBezTo>
                <a:cubicBezTo>
                  <a:pt x="30" y="56"/>
                  <a:pt x="36" y="49"/>
                  <a:pt x="43" y="42"/>
                </a:cubicBezTo>
                <a:cubicBezTo>
                  <a:pt x="49" y="36"/>
                  <a:pt x="57" y="30"/>
                  <a:pt x="65" y="24"/>
                </a:cubicBezTo>
                <a:cubicBezTo>
                  <a:pt x="73" y="19"/>
                  <a:pt x="81" y="14"/>
                  <a:pt x="90" y="11"/>
                </a:cubicBezTo>
                <a:cubicBezTo>
                  <a:pt x="99" y="7"/>
                  <a:pt x="108" y="4"/>
                  <a:pt x="117" y="3"/>
                </a:cubicBezTo>
                <a:cubicBezTo>
                  <a:pt x="127" y="1"/>
                  <a:pt x="136" y="0"/>
                  <a:pt x="147" y="0"/>
                </a:cubicBezTo>
                <a:cubicBezTo>
                  <a:pt x="156" y="0"/>
                  <a:pt x="166" y="1"/>
                  <a:pt x="175" y="3"/>
                </a:cubicBezTo>
                <a:cubicBezTo>
                  <a:pt x="184" y="4"/>
                  <a:pt x="193" y="7"/>
                  <a:pt x="202" y="11"/>
                </a:cubicBezTo>
                <a:cubicBezTo>
                  <a:pt x="211" y="14"/>
                  <a:pt x="219" y="19"/>
                  <a:pt x="227" y="24"/>
                </a:cubicBezTo>
                <a:cubicBezTo>
                  <a:pt x="235" y="30"/>
                  <a:pt x="243" y="36"/>
                  <a:pt x="249" y="42"/>
                </a:cubicBezTo>
                <a:cubicBezTo>
                  <a:pt x="256" y="49"/>
                  <a:pt x="262" y="56"/>
                  <a:pt x="268" y="64"/>
                </a:cubicBezTo>
                <a:cubicBezTo>
                  <a:pt x="273" y="72"/>
                  <a:pt x="277" y="81"/>
                  <a:pt x="281" y="90"/>
                </a:cubicBezTo>
                <a:cubicBezTo>
                  <a:pt x="285" y="99"/>
                  <a:pt x="287" y="109"/>
                  <a:pt x="289" y="118"/>
                </a:cubicBezTo>
                <a:cubicBezTo>
                  <a:pt x="291" y="127"/>
                  <a:pt x="292" y="137"/>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93" name=""/>
          <p:cNvSpPr txBox="1"/>
          <p:nvPr/>
        </p:nvSpPr>
        <p:spPr>
          <a:xfrm>
            <a:off x="1085760" y="2838600"/>
            <a:ext cx="552240" cy="331200"/>
          </a:xfrm>
          <a:prstGeom prst="rect">
            <a:avLst/>
          </a:prstGeom>
          <a:noFill/>
          <a:ln w="0">
            <a:noFill/>
          </a:ln>
        </p:spPr>
        <p:txBody>
          <a:bodyPr wrap="none" lIns="0" tIns="0" rIns="0" bIns="0" anchor="t">
            <a:spAutoFit/>
          </a:bodyPr>
          <a:p>
            <a:pPr/>
            <a:r>
              <a:rPr lang="ja-JP" sz="2170" b="1" u="none" strike="noStrike">
                <a:solidFill>
                  <a:srgbClr val="111111"/>
                </a:solidFill>
                <a:effectLst/>
                <a:uFillTx/>
                <a:latin typeface="NotoSansJPThin"/>
                <a:ea typeface="NotoSansJPThin"/>
              </a:rPr>
              <a:t>設定</a:t>
            </a:r>
            <a:endParaRPr lang="en-US" sz="2170" b="0" u="none" strike="noStrike">
              <a:solidFill>
                <a:srgbClr val="000000"/>
              </a:solidFill>
              <a:effectLst/>
              <a:uFillTx/>
              <a:latin typeface="Noto Serif JP"/>
            </a:endParaRPr>
          </a:p>
        </p:txBody>
      </p:sp>
      <p:sp>
        <p:nvSpPr>
          <p:cNvPr id="394" name=""/>
          <p:cNvSpPr txBox="1"/>
          <p:nvPr/>
        </p:nvSpPr>
        <p:spPr>
          <a:xfrm>
            <a:off x="1638360" y="3247920"/>
            <a:ext cx="246420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4</a:t>
            </a:r>
            <a:r>
              <a:rPr lang="ja-JP" sz="2170" b="0" u="none" strike="noStrike">
                <a:solidFill>
                  <a:srgbClr val="111111"/>
                </a:solidFill>
                <a:effectLst/>
                <a:uFillTx/>
                <a:latin typeface="NotoSansJP"/>
                <a:ea typeface="NotoSansJP"/>
              </a:rPr>
              <a:t>層の</a:t>
            </a:r>
            <a:r>
              <a:rPr lang="en-US" sz="2170" b="0" u="none" strike="noStrike">
                <a:solidFill>
                  <a:srgbClr val="111111"/>
                </a:solidFill>
                <a:effectLst/>
                <a:uFillTx/>
                <a:latin typeface="NotoSansJP"/>
                <a:ea typeface="NotoSansJP"/>
              </a:rPr>
              <a:t>Transformer (</a:t>
            </a:r>
            <a:endParaRPr lang="en-US" sz="2170" b="0" u="none" strike="noStrike">
              <a:solidFill>
                <a:srgbClr val="000000"/>
              </a:solidFill>
              <a:effectLst/>
              <a:uFillTx/>
              <a:latin typeface="Noto Serif JP"/>
            </a:endParaRPr>
          </a:p>
        </p:txBody>
      </p:sp>
      <p:sp>
        <p:nvSpPr>
          <p:cNvPr id="395" name=""/>
          <p:cNvSpPr/>
          <p:nvPr/>
        </p:nvSpPr>
        <p:spPr>
          <a:xfrm>
            <a:off x="1361880" y="3857400"/>
            <a:ext cx="105120" cy="105120"/>
          </a:xfrm>
          <a:custGeom>
            <a:avLst/>
            <a:gdLst/>
            <a:ahLst/>
            <a:rect l="0" t="0" r="r" b="b"/>
            <a:pathLst>
              <a:path w="292" h="292">
                <a:moveTo>
                  <a:pt x="292" y="146"/>
                </a:moveTo>
                <a:cubicBezTo>
                  <a:pt x="292" y="155"/>
                  <a:pt x="291" y="165"/>
                  <a:pt x="289" y="174"/>
                </a:cubicBezTo>
                <a:cubicBezTo>
                  <a:pt x="287" y="183"/>
                  <a:pt x="285" y="193"/>
                  <a:pt x="281" y="202"/>
                </a:cubicBezTo>
                <a:cubicBezTo>
                  <a:pt x="277" y="211"/>
                  <a:pt x="273" y="220"/>
                  <a:pt x="268" y="227"/>
                </a:cubicBezTo>
                <a:cubicBezTo>
                  <a:pt x="262" y="235"/>
                  <a:pt x="256" y="243"/>
                  <a:pt x="249" y="250"/>
                </a:cubicBezTo>
                <a:cubicBezTo>
                  <a:pt x="243" y="256"/>
                  <a:pt x="235" y="262"/>
                  <a:pt x="227" y="268"/>
                </a:cubicBezTo>
                <a:cubicBezTo>
                  <a:pt x="219" y="273"/>
                  <a:pt x="211" y="277"/>
                  <a:pt x="202" y="281"/>
                </a:cubicBezTo>
                <a:cubicBezTo>
                  <a:pt x="193" y="285"/>
                  <a:pt x="184" y="288"/>
                  <a:pt x="175" y="289"/>
                </a:cubicBezTo>
                <a:cubicBezTo>
                  <a:pt x="166" y="291"/>
                  <a:pt x="156" y="292"/>
                  <a:pt x="147" y="292"/>
                </a:cubicBezTo>
                <a:cubicBezTo>
                  <a:pt x="136" y="292"/>
                  <a:pt x="127" y="291"/>
                  <a:pt x="117" y="289"/>
                </a:cubicBezTo>
                <a:cubicBezTo>
                  <a:pt x="108" y="288"/>
                  <a:pt x="99" y="285"/>
                  <a:pt x="90" y="281"/>
                </a:cubicBezTo>
                <a:cubicBezTo>
                  <a:pt x="81" y="277"/>
                  <a:pt x="73" y="273"/>
                  <a:pt x="65" y="268"/>
                </a:cubicBezTo>
                <a:cubicBezTo>
                  <a:pt x="57" y="262"/>
                  <a:pt x="49" y="256"/>
                  <a:pt x="43" y="250"/>
                </a:cubicBezTo>
                <a:cubicBezTo>
                  <a:pt x="36" y="243"/>
                  <a:pt x="30" y="235"/>
                  <a:pt x="25" y="227"/>
                </a:cubicBezTo>
                <a:cubicBezTo>
                  <a:pt x="19" y="220"/>
                  <a:pt x="15" y="211"/>
                  <a:pt x="11" y="202"/>
                </a:cubicBezTo>
                <a:cubicBezTo>
                  <a:pt x="7" y="193"/>
                  <a:pt x="5" y="183"/>
                  <a:pt x="3" y="174"/>
                </a:cubicBezTo>
                <a:cubicBezTo>
                  <a:pt x="1" y="165"/>
                  <a:pt x="0" y="155"/>
                  <a:pt x="0" y="146"/>
                </a:cubicBezTo>
                <a:cubicBezTo>
                  <a:pt x="0" y="136"/>
                  <a:pt x="1" y="127"/>
                  <a:pt x="3" y="117"/>
                </a:cubicBezTo>
                <a:cubicBezTo>
                  <a:pt x="5" y="108"/>
                  <a:pt x="7" y="99"/>
                  <a:pt x="11" y="90"/>
                </a:cubicBezTo>
                <a:cubicBezTo>
                  <a:pt x="15" y="81"/>
                  <a:pt x="19" y="73"/>
                  <a:pt x="25" y="65"/>
                </a:cubicBezTo>
                <a:cubicBezTo>
                  <a:pt x="30" y="57"/>
                  <a:pt x="36" y="50"/>
                  <a:pt x="43" y="43"/>
                </a:cubicBezTo>
                <a:cubicBezTo>
                  <a:pt x="49" y="36"/>
                  <a:pt x="57" y="30"/>
                  <a:pt x="65" y="25"/>
                </a:cubicBezTo>
                <a:cubicBezTo>
                  <a:pt x="73" y="19"/>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19"/>
                  <a:pt x="227" y="25"/>
                </a:cubicBezTo>
                <a:cubicBezTo>
                  <a:pt x="235" y="30"/>
                  <a:pt x="243" y="36"/>
                  <a:pt x="249" y="43"/>
                </a:cubicBezTo>
                <a:cubicBezTo>
                  <a:pt x="256" y="50"/>
                  <a:pt x="262" y="57"/>
                  <a:pt x="268" y="65"/>
                </a:cubicBezTo>
                <a:cubicBezTo>
                  <a:pt x="273" y="73"/>
                  <a:pt x="277" y="81"/>
                  <a:pt x="281" y="90"/>
                </a:cubicBezTo>
                <a:cubicBezTo>
                  <a:pt x="285" y="99"/>
                  <a:pt x="287" y="108"/>
                  <a:pt x="289" y="117"/>
                </a:cubicBezTo>
                <a:cubicBezTo>
                  <a:pt x="291" y="127"/>
                  <a:pt x="292" y="136"/>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396" name=""/>
          <p:cNvSpPr txBox="1"/>
          <p:nvPr/>
        </p:nvSpPr>
        <p:spPr>
          <a:xfrm>
            <a:off x="5799240" y="3247920"/>
            <a:ext cx="125928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 </a:t>
            </a:r>
            <a:r>
              <a:rPr lang="ja-JP" sz="2170" b="0" u="none" strike="noStrike">
                <a:solidFill>
                  <a:srgbClr val="111111"/>
                </a:solidFill>
                <a:effectLst/>
                <a:uFillTx/>
                <a:latin typeface="NotoSansJP"/>
                <a:ea typeface="NotoSansJP"/>
              </a:rPr>
              <a:t>を使用。</a:t>
            </a:r>
            <a:endParaRPr lang="en-US" sz="2170" b="0" u="none" strike="noStrike">
              <a:solidFill>
                <a:srgbClr val="000000"/>
              </a:solidFill>
              <a:effectLst/>
              <a:uFillTx/>
              <a:latin typeface="Noto Serif JP"/>
            </a:endParaRPr>
          </a:p>
        </p:txBody>
      </p:sp>
      <p:sp>
        <p:nvSpPr>
          <p:cNvPr id="397" name=""/>
          <p:cNvSpPr/>
          <p:nvPr/>
        </p:nvSpPr>
        <p:spPr>
          <a:xfrm>
            <a:off x="809280" y="4343040"/>
            <a:ext cx="105120" cy="105480"/>
          </a:xfrm>
          <a:custGeom>
            <a:avLst/>
            <a:gdLst/>
            <a:ahLst/>
            <a:rect l="0" t="0" r="r" b="b"/>
            <a:pathLst>
              <a:path w="292" h="293">
                <a:moveTo>
                  <a:pt x="292" y="147"/>
                </a:moveTo>
                <a:cubicBezTo>
                  <a:pt x="292" y="157"/>
                  <a:pt x="292" y="166"/>
                  <a:pt x="290" y="175"/>
                </a:cubicBezTo>
                <a:cubicBezTo>
                  <a:pt x="288" y="185"/>
                  <a:pt x="285" y="194"/>
                  <a:pt x="281" y="203"/>
                </a:cubicBezTo>
                <a:cubicBezTo>
                  <a:pt x="278" y="212"/>
                  <a:pt x="273" y="220"/>
                  <a:pt x="268" y="228"/>
                </a:cubicBezTo>
                <a:cubicBezTo>
                  <a:pt x="263" y="236"/>
                  <a:pt x="257" y="243"/>
                  <a:pt x="250" y="250"/>
                </a:cubicBezTo>
                <a:cubicBezTo>
                  <a:pt x="243" y="257"/>
                  <a:pt x="236" y="263"/>
                  <a:pt x="228" y="268"/>
                </a:cubicBezTo>
                <a:cubicBezTo>
                  <a:pt x="219" y="273"/>
                  <a:pt x="210" y="278"/>
                  <a:pt x="202" y="281"/>
                </a:cubicBezTo>
                <a:cubicBezTo>
                  <a:pt x="193" y="285"/>
                  <a:pt x="184" y="288"/>
                  <a:pt x="174" y="290"/>
                </a:cubicBezTo>
                <a:cubicBezTo>
                  <a:pt x="165" y="292"/>
                  <a:pt x="156" y="293"/>
                  <a:pt x="146" y="293"/>
                </a:cubicBezTo>
                <a:cubicBezTo>
                  <a:pt x="136" y="293"/>
                  <a:pt x="127" y="292"/>
                  <a:pt x="118" y="290"/>
                </a:cubicBezTo>
                <a:cubicBezTo>
                  <a:pt x="108" y="288"/>
                  <a:pt x="99" y="285"/>
                  <a:pt x="90" y="281"/>
                </a:cubicBezTo>
                <a:cubicBezTo>
                  <a:pt x="81" y="278"/>
                  <a:pt x="73" y="273"/>
                  <a:pt x="65" y="268"/>
                </a:cubicBezTo>
                <a:cubicBezTo>
                  <a:pt x="57" y="263"/>
                  <a:pt x="50" y="257"/>
                  <a:pt x="43" y="250"/>
                </a:cubicBezTo>
                <a:cubicBezTo>
                  <a:pt x="36" y="243"/>
                  <a:pt x="30" y="236"/>
                  <a:pt x="25" y="228"/>
                </a:cubicBezTo>
                <a:cubicBezTo>
                  <a:pt x="20" y="220"/>
                  <a:pt x="15" y="212"/>
                  <a:pt x="12" y="203"/>
                </a:cubicBezTo>
                <a:cubicBezTo>
                  <a:pt x="8" y="194"/>
                  <a:pt x="5" y="185"/>
                  <a:pt x="3" y="175"/>
                </a:cubicBezTo>
                <a:cubicBezTo>
                  <a:pt x="1" y="166"/>
                  <a:pt x="0" y="157"/>
                  <a:pt x="0" y="147"/>
                </a:cubicBezTo>
                <a:cubicBezTo>
                  <a:pt x="0" y="137"/>
                  <a:pt x="1" y="128"/>
                  <a:pt x="3" y="119"/>
                </a:cubicBezTo>
                <a:cubicBezTo>
                  <a:pt x="5" y="109"/>
                  <a:pt x="8" y="100"/>
                  <a:pt x="12" y="91"/>
                </a:cubicBezTo>
                <a:cubicBezTo>
                  <a:pt x="15" y="83"/>
                  <a:pt x="20" y="74"/>
                  <a:pt x="25" y="66"/>
                </a:cubicBezTo>
                <a:cubicBezTo>
                  <a:pt x="30" y="58"/>
                  <a:pt x="36" y="51"/>
                  <a:pt x="43" y="44"/>
                </a:cubicBezTo>
                <a:cubicBezTo>
                  <a:pt x="50" y="37"/>
                  <a:pt x="57" y="31"/>
                  <a:pt x="65" y="26"/>
                </a:cubicBezTo>
                <a:cubicBezTo>
                  <a:pt x="73" y="21"/>
                  <a:pt x="81" y="16"/>
                  <a:pt x="90" y="12"/>
                </a:cubicBezTo>
                <a:cubicBezTo>
                  <a:pt x="99" y="8"/>
                  <a:pt x="108" y="5"/>
                  <a:pt x="118" y="3"/>
                </a:cubicBezTo>
                <a:cubicBezTo>
                  <a:pt x="127" y="1"/>
                  <a:pt x="136" y="0"/>
                  <a:pt x="146" y="0"/>
                </a:cubicBezTo>
                <a:cubicBezTo>
                  <a:pt x="156" y="0"/>
                  <a:pt x="165" y="1"/>
                  <a:pt x="174" y="3"/>
                </a:cubicBezTo>
                <a:cubicBezTo>
                  <a:pt x="184" y="5"/>
                  <a:pt x="193" y="8"/>
                  <a:pt x="202" y="12"/>
                </a:cubicBezTo>
                <a:cubicBezTo>
                  <a:pt x="210" y="16"/>
                  <a:pt x="219" y="21"/>
                  <a:pt x="228" y="26"/>
                </a:cubicBezTo>
                <a:cubicBezTo>
                  <a:pt x="236" y="31"/>
                  <a:pt x="243" y="37"/>
                  <a:pt x="250" y="44"/>
                </a:cubicBezTo>
                <a:cubicBezTo>
                  <a:pt x="257" y="51"/>
                  <a:pt x="263" y="58"/>
                  <a:pt x="268" y="66"/>
                </a:cubicBezTo>
                <a:cubicBezTo>
                  <a:pt x="273" y="74"/>
                  <a:pt x="278" y="83"/>
                  <a:pt x="281" y="91"/>
                </a:cubicBezTo>
                <a:cubicBezTo>
                  <a:pt x="285" y="100"/>
                  <a:pt x="288" y="109"/>
                  <a:pt x="290" y="119"/>
                </a:cubicBezTo>
                <a:cubicBezTo>
                  <a:pt x="292" y="128"/>
                  <a:pt x="292" y="137"/>
                  <a:pt x="292" y="147"/>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398" name=""/>
          <p:cNvSpPr txBox="1"/>
          <p:nvPr/>
        </p:nvSpPr>
        <p:spPr>
          <a:xfrm>
            <a:off x="1638360" y="3733920"/>
            <a:ext cx="879732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WSJ</a:t>
            </a:r>
            <a:r>
              <a:rPr lang="ja-JP" sz="2170" b="0" u="none" strike="noStrike">
                <a:solidFill>
                  <a:srgbClr val="111111"/>
                </a:solidFill>
                <a:effectLst/>
                <a:uFillTx/>
                <a:latin typeface="NotoSansJP"/>
                <a:ea typeface="NotoSansJP"/>
              </a:rPr>
              <a:t>のみの訓練データ </a:t>
            </a:r>
            <a:r>
              <a:rPr lang="en-US" sz="2170" b="0" u="none" strike="noStrike">
                <a:solidFill>
                  <a:srgbClr val="111111"/>
                </a:solidFill>
                <a:effectLst/>
                <a:uFillTx/>
                <a:latin typeface="NotoSansJP"/>
                <a:ea typeface="NotoSansJP"/>
              </a:rPr>
              <a:t>(</a:t>
            </a:r>
            <a:r>
              <a:rPr lang="ja-JP" sz="2170" b="0" u="none" strike="noStrike">
                <a:solidFill>
                  <a:srgbClr val="111111"/>
                </a:solidFill>
                <a:effectLst/>
                <a:uFillTx/>
                <a:latin typeface="NotoSansJP"/>
                <a:ea typeface="NotoSansJP"/>
              </a:rPr>
              <a:t>約</a:t>
            </a:r>
            <a:r>
              <a:rPr lang="en-US" sz="2170" b="0" u="none" strike="noStrike">
                <a:solidFill>
                  <a:srgbClr val="111111"/>
                </a:solidFill>
                <a:effectLst/>
                <a:uFillTx/>
                <a:latin typeface="NotoSansJP"/>
                <a:ea typeface="NotoSansJP"/>
              </a:rPr>
              <a:t>40K</a:t>
            </a:r>
            <a:r>
              <a:rPr lang="ja-JP" sz="2170" b="0" u="none" strike="noStrike">
                <a:solidFill>
                  <a:srgbClr val="111111"/>
                </a:solidFill>
                <a:effectLst/>
                <a:uFillTx/>
                <a:latin typeface="NotoSansJP"/>
                <a:ea typeface="NotoSansJP"/>
              </a:rPr>
              <a:t>文</a:t>
            </a:r>
            <a:r>
              <a:rPr lang="en-US" sz="2170" b="0" u="none" strike="noStrike">
                <a:solidFill>
                  <a:srgbClr val="111111"/>
                </a:solidFill>
                <a:effectLst/>
                <a:uFillTx/>
                <a:latin typeface="NotoSansJP"/>
                <a:ea typeface="NotoSansJP"/>
              </a:rPr>
              <a:t>) </a:t>
            </a:r>
            <a:r>
              <a:rPr lang="ja-JP" sz="2170" b="0" u="none" strike="noStrike">
                <a:solidFill>
                  <a:srgbClr val="111111"/>
                </a:solidFill>
                <a:effectLst/>
                <a:uFillTx/>
                <a:latin typeface="NotoSansJP"/>
                <a:ea typeface="NotoSansJP"/>
              </a:rPr>
              <a:t>と、大規模半教師ありデータで評価。</a:t>
            </a:r>
            <a:endParaRPr lang="en-US" sz="2170" b="0" u="none" strike="noStrike">
              <a:solidFill>
                <a:srgbClr val="000000"/>
              </a:solidFill>
              <a:effectLst/>
              <a:uFillTx/>
              <a:latin typeface="Noto Serif JP"/>
            </a:endParaRPr>
          </a:p>
        </p:txBody>
      </p:sp>
      <p:sp>
        <p:nvSpPr>
          <p:cNvPr id="399" name=""/>
          <p:cNvSpPr/>
          <p:nvPr/>
        </p:nvSpPr>
        <p:spPr>
          <a:xfrm>
            <a:off x="1361880" y="4752720"/>
            <a:ext cx="105120" cy="105120"/>
          </a:xfrm>
          <a:custGeom>
            <a:avLst/>
            <a:gdLst/>
            <a:ahLst/>
            <a:rect l="0" t="0" r="r" b="b"/>
            <a:pathLst>
              <a:path w="292" h="292">
                <a:moveTo>
                  <a:pt x="292" y="147"/>
                </a:moveTo>
                <a:cubicBezTo>
                  <a:pt x="292" y="156"/>
                  <a:pt x="291" y="166"/>
                  <a:pt x="289" y="175"/>
                </a:cubicBezTo>
                <a:cubicBezTo>
                  <a:pt x="287" y="184"/>
                  <a:pt x="285" y="194"/>
                  <a:pt x="281" y="202"/>
                </a:cubicBezTo>
                <a:cubicBezTo>
                  <a:pt x="277" y="211"/>
                  <a:pt x="273" y="220"/>
                  <a:pt x="268" y="228"/>
                </a:cubicBezTo>
                <a:cubicBezTo>
                  <a:pt x="262" y="236"/>
                  <a:pt x="256" y="243"/>
                  <a:pt x="249" y="250"/>
                </a:cubicBezTo>
                <a:cubicBezTo>
                  <a:pt x="243" y="256"/>
                  <a:pt x="235" y="262"/>
                  <a:pt x="227" y="268"/>
                </a:cubicBezTo>
                <a:cubicBezTo>
                  <a:pt x="219" y="273"/>
                  <a:pt x="211" y="278"/>
                  <a:pt x="202" y="281"/>
                </a:cubicBezTo>
                <a:cubicBezTo>
                  <a:pt x="193" y="285"/>
                  <a:pt x="184" y="288"/>
                  <a:pt x="175" y="289"/>
                </a:cubicBezTo>
                <a:cubicBezTo>
                  <a:pt x="166" y="291"/>
                  <a:pt x="156" y="292"/>
                  <a:pt x="147" y="292"/>
                </a:cubicBezTo>
                <a:cubicBezTo>
                  <a:pt x="136" y="292"/>
                  <a:pt x="127" y="291"/>
                  <a:pt x="117" y="289"/>
                </a:cubicBezTo>
                <a:cubicBezTo>
                  <a:pt x="108" y="288"/>
                  <a:pt x="99" y="285"/>
                  <a:pt x="90" y="281"/>
                </a:cubicBezTo>
                <a:cubicBezTo>
                  <a:pt x="81" y="278"/>
                  <a:pt x="73" y="273"/>
                  <a:pt x="65" y="268"/>
                </a:cubicBezTo>
                <a:cubicBezTo>
                  <a:pt x="57" y="262"/>
                  <a:pt x="49" y="256"/>
                  <a:pt x="43" y="250"/>
                </a:cubicBezTo>
                <a:cubicBezTo>
                  <a:pt x="36" y="243"/>
                  <a:pt x="30" y="236"/>
                  <a:pt x="25" y="228"/>
                </a:cubicBezTo>
                <a:cubicBezTo>
                  <a:pt x="19" y="220"/>
                  <a:pt x="15" y="211"/>
                  <a:pt x="11" y="202"/>
                </a:cubicBezTo>
                <a:cubicBezTo>
                  <a:pt x="7" y="194"/>
                  <a:pt x="5" y="184"/>
                  <a:pt x="3" y="175"/>
                </a:cubicBezTo>
                <a:cubicBezTo>
                  <a:pt x="1" y="166"/>
                  <a:pt x="0" y="156"/>
                  <a:pt x="0" y="147"/>
                </a:cubicBezTo>
                <a:cubicBezTo>
                  <a:pt x="0" y="137"/>
                  <a:pt x="1" y="128"/>
                  <a:pt x="3" y="118"/>
                </a:cubicBezTo>
                <a:cubicBezTo>
                  <a:pt x="5" y="109"/>
                  <a:pt x="7" y="100"/>
                  <a:pt x="11" y="91"/>
                </a:cubicBezTo>
                <a:cubicBezTo>
                  <a:pt x="15" y="82"/>
                  <a:pt x="19" y="74"/>
                  <a:pt x="25" y="66"/>
                </a:cubicBezTo>
                <a:cubicBezTo>
                  <a:pt x="30" y="58"/>
                  <a:pt x="36" y="51"/>
                  <a:pt x="43" y="44"/>
                </a:cubicBezTo>
                <a:cubicBezTo>
                  <a:pt x="49" y="36"/>
                  <a:pt x="57" y="30"/>
                  <a:pt x="65" y="25"/>
                </a:cubicBezTo>
                <a:cubicBezTo>
                  <a:pt x="73" y="19"/>
                  <a:pt x="81" y="15"/>
                  <a:pt x="90" y="11"/>
                </a:cubicBezTo>
                <a:cubicBezTo>
                  <a:pt x="99" y="8"/>
                  <a:pt x="108" y="5"/>
                  <a:pt x="117" y="3"/>
                </a:cubicBezTo>
                <a:cubicBezTo>
                  <a:pt x="127" y="1"/>
                  <a:pt x="136" y="0"/>
                  <a:pt x="147" y="0"/>
                </a:cubicBezTo>
                <a:cubicBezTo>
                  <a:pt x="156" y="0"/>
                  <a:pt x="166" y="1"/>
                  <a:pt x="175" y="3"/>
                </a:cubicBezTo>
                <a:cubicBezTo>
                  <a:pt x="184" y="5"/>
                  <a:pt x="193" y="8"/>
                  <a:pt x="202" y="11"/>
                </a:cubicBezTo>
                <a:cubicBezTo>
                  <a:pt x="211" y="15"/>
                  <a:pt x="219" y="19"/>
                  <a:pt x="227" y="25"/>
                </a:cubicBezTo>
                <a:cubicBezTo>
                  <a:pt x="235" y="30"/>
                  <a:pt x="243" y="36"/>
                  <a:pt x="249" y="44"/>
                </a:cubicBezTo>
                <a:cubicBezTo>
                  <a:pt x="256" y="51"/>
                  <a:pt x="262" y="58"/>
                  <a:pt x="268" y="66"/>
                </a:cubicBezTo>
                <a:cubicBezTo>
                  <a:pt x="273" y="74"/>
                  <a:pt x="277" y="82"/>
                  <a:pt x="281" y="91"/>
                </a:cubicBezTo>
                <a:cubicBezTo>
                  <a:pt x="285" y="100"/>
                  <a:pt x="287" y="109"/>
                  <a:pt x="289" y="118"/>
                </a:cubicBezTo>
                <a:cubicBezTo>
                  <a:pt x="291" y="128"/>
                  <a:pt x="292" y="137"/>
                  <a:pt x="292" y="147"/>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400" name=""/>
          <p:cNvSpPr txBox="1"/>
          <p:nvPr/>
        </p:nvSpPr>
        <p:spPr>
          <a:xfrm>
            <a:off x="1085760" y="4219560"/>
            <a:ext cx="552240" cy="331200"/>
          </a:xfrm>
          <a:prstGeom prst="rect">
            <a:avLst/>
          </a:prstGeom>
          <a:noFill/>
          <a:ln w="0">
            <a:noFill/>
          </a:ln>
        </p:spPr>
        <p:txBody>
          <a:bodyPr wrap="none" lIns="0" tIns="0" rIns="0" bIns="0" anchor="t">
            <a:spAutoFit/>
          </a:bodyPr>
          <a:p>
            <a:pPr/>
            <a:r>
              <a:rPr lang="ja-JP" sz="2170" b="1" u="none" strike="noStrike">
                <a:solidFill>
                  <a:srgbClr val="111111"/>
                </a:solidFill>
                <a:effectLst/>
                <a:uFillTx/>
                <a:latin typeface="NotoSansJPThin"/>
                <a:ea typeface="NotoSansJPThin"/>
              </a:rPr>
              <a:t>性能</a:t>
            </a:r>
            <a:endParaRPr lang="en-US" sz="2170" b="0" u="none" strike="noStrike">
              <a:solidFill>
                <a:srgbClr val="000000"/>
              </a:solidFill>
              <a:effectLst/>
              <a:uFillTx/>
              <a:latin typeface="Noto Serif JP"/>
            </a:endParaRPr>
          </a:p>
        </p:txBody>
      </p:sp>
      <p:sp>
        <p:nvSpPr>
          <p:cNvPr id="401" name=""/>
          <p:cNvSpPr/>
          <p:nvPr/>
        </p:nvSpPr>
        <p:spPr>
          <a:xfrm>
            <a:off x="1361880" y="5238720"/>
            <a:ext cx="105120" cy="105120"/>
          </a:xfrm>
          <a:custGeom>
            <a:avLst/>
            <a:gdLst/>
            <a:ahLst/>
            <a:rect l="0" t="0" r="r" b="b"/>
            <a:pathLst>
              <a:path w="292" h="292">
                <a:moveTo>
                  <a:pt x="292" y="146"/>
                </a:moveTo>
                <a:cubicBezTo>
                  <a:pt x="292" y="156"/>
                  <a:pt x="291" y="165"/>
                  <a:pt x="289" y="174"/>
                </a:cubicBezTo>
                <a:cubicBezTo>
                  <a:pt x="287" y="184"/>
                  <a:pt x="285" y="193"/>
                  <a:pt x="281" y="202"/>
                </a:cubicBezTo>
                <a:cubicBezTo>
                  <a:pt x="277" y="211"/>
                  <a:pt x="273" y="219"/>
                  <a:pt x="268" y="227"/>
                </a:cubicBezTo>
                <a:cubicBezTo>
                  <a:pt x="262" y="235"/>
                  <a:pt x="256" y="242"/>
                  <a:pt x="249" y="249"/>
                </a:cubicBezTo>
                <a:cubicBezTo>
                  <a:pt x="243" y="256"/>
                  <a:pt x="235" y="262"/>
                  <a:pt x="227" y="267"/>
                </a:cubicBezTo>
                <a:cubicBezTo>
                  <a:pt x="219" y="272"/>
                  <a:pt x="211" y="277"/>
                  <a:pt x="202" y="281"/>
                </a:cubicBezTo>
                <a:cubicBezTo>
                  <a:pt x="193" y="284"/>
                  <a:pt x="184" y="287"/>
                  <a:pt x="175" y="289"/>
                </a:cubicBezTo>
                <a:cubicBezTo>
                  <a:pt x="166" y="291"/>
                  <a:pt x="156" y="292"/>
                  <a:pt x="147" y="292"/>
                </a:cubicBezTo>
                <a:cubicBezTo>
                  <a:pt x="136" y="292"/>
                  <a:pt x="127" y="291"/>
                  <a:pt x="117" y="289"/>
                </a:cubicBezTo>
                <a:cubicBezTo>
                  <a:pt x="108" y="287"/>
                  <a:pt x="99" y="284"/>
                  <a:pt x="90" y="281"/>
                </a:cubicBezTo>
                <a:cubicBezTo>
                  <a:pt x="81" y="277"/>
                  <a:pt x="73" y="272"/>
                  <a:pt x="65" y="267"/>
                </a:cubicBezTo>
                <a:cubicBezTo>
                  <a:pt x="57" y="262"/>
                  <a:pt x="49" y="256"/>
                  <a:pt x="43" y="249"/>
                </a:cubicBezTo>
                <a:cubicBezTo>
                  <a:pt x="36" y="242"/>
                  <a:pt x="30" y="235"/>
                  <a:pt x="25" y="227"/>
                </a:cubicBezTo>
                <a:cubicBezTo>
                  <a:pt x="19" y="219"/>
                  <a:pt x="15" y="211"/>
                  <a:pt x="11" y="202"/>
                </a:cubicBezTo>
                <a:cubicBezTo>
                  <a:pt x="7" y="193"/>
                  <a:pt x="5" y="184"/>
                  <a:pt x="3" y="174"/>
                </a:cubicBezTo>
                <a:cubicBezTo>
                  <a:pt x="1" y="165"/>
                  <a:pt x="0" y="156"/>
                  <a:pt x="0" y="146"/>
                </a:cubicBezTo>
                <a:cubicBezTo>
                  <a:pt x="0" y="136"/>
                  <a:pt x="1" y="126"/>
                  <a:pt x="3" y="117"/>
                </a:cubicBezTo>
                <a:cubicBezTo>
                  <a:pt x="5" y="107"/>
                  <a:pt x="7" y="98"/>
                  <a:pt x="11" y="89"/>
                </a:cubicBezTo>
                <a:cubicBezTo>
                  <a:pt x="15" y="81"/>
                  <a:pt x="19" y="72"/>
                  <a:pt x="25" y="64"/>
                </a:cubicBezTo>
                <a:cubicBezTo>
                  <a:pt x="30" y="56"/>
                  <a:pt x="36" y="49"/>
                  <a:pt x="43" y="42"/>
                </a:cubicBezTo>
                <a:cubicBezTo>
                  <a:pt x="49" y="35"/>
                  <a:pt x="57" y="29"/>
                  <a:pt x="65" y="24"/>
                </a:cubicBezTo>
                <a:cubicBezTo>
                  <a:pt x="73" y="19"/>
                  <a:pt x="81" y="14"/>
                  <a:pt x="90" y="11"/>
                </a:cubicBezTo>
                <a:cubicBezTo>
                  <a:pt x="99" y="7"/>
                  <a:pt x="108" y="4"/>
                  <a:pt x="117" y="2"/>
                </a:cubicBezTo>
                <a:cubicBezTo>
                  <a:pt x="127" y="1"/>
                  <a:pt x="136" y="0"/>
                  <a:pt x="147" y="0"/>
                </a:cubicBezTo>
                <a:cubicBezTo>
                  <a:pt x="156" y="0"/>
                  <a:pt x="166" y="1"/>
                  <a:pt x="175" y="2"/>
                </a:cubicBezTo>
                <a:cubicBezTo>
                  <a:pt x="184" y="4"/>
                  <a:pt x="193" y="7"/>
                  <a:pt x="202" y="11"/>
                </a:cubicBezTo>
                <a:cubicBezTo>
                  <a:pt x="211" y="14"/>
                  <a:pt x="219" y="19"/>
                  <a:pt x="227" y="24"/>
                </a:cubicBezTo>
                <a:cubicBezTo>
                  <a:pt x="235" y="29"/>
                  <a:pt x="243" y="35"/>
                  <a:pt x="249" y="42"/>
                </a:cubicBezTo>
                <a:cubicBezTo>
                  <a:pt x="256" y="49"/>
                  <a:pt x="262" y="56"/>
                  <a:pt x="268" y="64"/>
                </a:cubicBezTo>
                <a:cubicBezTo>
                  <a:pt x="273" y="72"/>
                  <a:pt x="277" y="81"/>
                  <a:pt x="281" y="89"/>
                </a:cubicBezTo>
                <a:cubicBezTo>
                  <a:pt x="285" y="98"/>
                  <a:pt x="287" y="107"/>
                  <a:pt x="289" y="117"/>
                </a:cubicBezTo>
                <a:cubicBezTo>
                  <a:pt x="291" y="126"/>
                  <a:pt x="292" y="136"/>
                  <a:pt x="292" y="146"/>
                </a:cubicBezTo>
                <a:close/>
              </a:path>
            </a:pathLst>
          </a:custGeom>
          <a:noFill/>
          <a:ln w="9360">
            <a:solidFill>
              <a:srgbClr val="111111"/>
            </a:solidFill>
            <a:miter/>
          </a:ln>
        </p:spPr>
        <p:txBody>
          <a:bodyPr lIns="4680" tIns="4680" rIns="4680" bIns="4680" anchor="t">
            <a:noAutofit/>
          </a:bodyPr>
          <a:p>
            <a:endParaRPr lang="en-US" sz="2400" b="0" u="none" strike="noStrike">
              <a:solidFill>
                <a:srgbClr val="000000"/>
              </a:solidFill>
              <a:effectLst/>
              <a:uFillTx/>
              <a:latin typeface="Noto Serif JP"/>
            </a:endParaRPr>
          </a:p>
        </p:txBody>
      </p:sp>
      <p:sp>
        <p:nvSpPr>
          <p:cNvPr id="402" name=""/>
          <p:cNvSpPr txBox="1"/>
          <p:nvPr/>
        </p:nvSpPr>
        <p:spPr>
          <a:xfrm>
            <a:off x="1638360" y="4629240"/>
            <a:ext cx="853056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WSJ</a:t>
            </a:r>
            <a:r>
              <a:rPr lang="ja-JP" sz="2170" b="0" u="none" strike="noStrike">
                <a:solidFill>
                  <a:srgbClr val="111111"/>
                </a:solidFill>
                <a:effectLst/>
                <a:uFillTx/>
                <a:latin typeface="NotoSansJP"/>
                <a:ea typeface="NotoSansJP"/>
              </a:rPr>
              <a:t>のみ</a:t>
            </a:r>
            <a:r>
              <a:rPr lang="en-US" sz="2170" b="0" u="none" strike="noStrike">
                <a:solidFill>
                  <a:srgbClr val="111111"/>
                </a:solidFill>
                <a:effectLst/>
                <a:uFillTx/>
                <a:latin typeface="NotoSansJP"/>
                <a:ea typeface="NotoSansJP"/>
              </a:rPr>
              <a:t>: </a:t>
            </a:r>
            <a:r>
              <a:rPr lang="en-US" sz="2170" b="1" u="none" strike="noStrike">
                <a:solidFill>
                  <a:srgbClr val="111111"/>
                </a:solidFill>
                <a:effectLst/>
                <a:uFillTx/>
                <a:latin typeface="NotoSansJPThin"/>
                <a:ea typeface="NotoSansJPThin"/>
              </a:rPr>
              <a:t>91.3 F1 </a:t>
            </a:r>
            <a:r>
              <a:rPr lang="ja-JP" sz="2170" b="0" u="none" strike="noStrike">
                <a:solidFill>
                  <a:srgbClr val="111111"/>
                </a:solidFill>
                <a:effectLst/>
                <a:uFillTx/>
                <a:latin typeface="NotoSansJP"/>
                <a:ea typeface="NotoSansJP"/>
              </a:rPr>
              <a:t>を達成。</a:t>
            </a:r>
            <a:r>
              <a:rPr lang="en-US" sz="2170" b="0" u="none" strike="noStrike">
                <a:solidFill>
                  <a:srgbClr val="111111"/>
                </a:solidFill>
                <a:effectLst/>
                <a:uFillTx/>
                <a:latin typeface="NotoSansJP"/>
                <a:ea typeface="NotoSansJP"/>
              </a:rPr>
              <a:t>RNN</a:t>
            </a:r>
            <a:r>
              <a:rPr lang="ja-JP" sz="2170" b="0" u="none" strike="noStrike">
                <a:solidFill>
                  <a:srgbClr val="111111"/>
                </a:solidFill>
                <a:effectLst/>
                <a:uFillTx/>
                <a:latin typeface="NotoSansJP"/>
                <a:ea typeface="NotoSansJP"/>
              </a:rPr>
              <a:t>系モデルや</a:t>
            </a:r>
            <a:r>
              <a:rPr lang="en-US" sz="2170" b="0" u="none" strike="noStrike">
                <a:solidFill>
                  <a:srgbClr val="111111"/>
                </a:solidFill>
                <a:effectLst/>
                <a:uFillTx/>
                <a:latin typeface="NotoSansJP"/>
                <a:ea typeface="NotoSansJP"/>
              </a:rPr>
              <a:t>BerkeleyParser</a:t>
            </a:r>
            <a:r>
              <a:rPr lang="ja-JP" sz="2170" b="0" u="none" strike="noStrike">
                <a:solidFill>
                  <a:srgbClr val="111111"/>
                </a:solidFill>
                <a:effectLst/>
                <a:uFillTx/>
                <a:latin typeface="NotoSansJP"/>
                <a:ea typeface="NotoSansJP"/>
              </a:rPr>
              <a:t>を上回る。</a:t>
            </a:r>
            <a:endParaRPr lang="en-US" sz="2170" b="0" u="none" strike="noStrike">
              <a:solidFill>
                <a:srgbClr val="000000"/>
              </a:solidFill>
              <a:effectLst/>
              <a:uFillTx/>
              <a:latin typeface="Noto Serif JP"/>
            </a:endParaRPr>
          </a:p>
        </p:txBody>
      </p:sp>
      <p:sp>
        <p:nvSpPr>
          <p:cNvPr id="403" name=""/>
          <p:cNvSpPr/>
          <p:nvPr/>
        </p:nvSpPr>
        <p:spPr>
          <a:xfrm>
            <a:off x="809280" y="5724360"/>
            <a:ext cx="105120" cy="105120"/>
          </a:xfrm>
          <a:custGeom>
            <a:avLst/>
            <a:gdLst/>
            <a:ahLst/>
            <a:rect l="0" t="0" r="r" b="b"/>
            <a:pathLst>
              <a:path w="292" h="292">
                <a:moveTo>
                  <a:pt x="292" y="145"/>
                </a:moveTo>
                <a:cubicBezTo>
                  <a:pt x="292" y="155"/>
                  <a:pt x="292" y="164"/>
                  <a:pt x="290" y="174"/>
                </a:cubicBezTo>
                <a:cubicBezTo>
                  <a:pt x="288" y="183"/>
                  <a:pt x="285" y="192"/>
                  <a:pt x="281" y="201"/>
                </a:cubicBezTo>
                <a:cubicBezTo>
                  <a:pt x="278" y="210"/>
                  <a:pt x="273" y="218"/>
                  <a:pt x="268" y="226"/>
                </a:cubicBezTo>
                <a:cubicBezTo>
                  <a:pt x="263" y="234"/>
                  <a:pt x="257" y="242"/>
                  <a:pt x="250" y="248"/>
                </a:cubicBezTo>
                <a:cubicBezTo>
                  <a:pt x="243" y="256"/>
                  <a:pt x="236" y="262"/>
                  <a:pt x="228" y="267"/>
                </a:cubicBezTo>
                <a:cubicBezTo>
                  <a:pt x="219" y="273"/>
                  <a:pt x="210" y="277"/>
                  <a:pt x="202" y="281"/>
                </a:cubicBezTo>
                <a:cubicBezTo>
                  <a:pt x="193" y="285"/>
                  <a:pt x="184" y="287"/>
                  <a:pt x="174" y="289"/>
                </a:cubicBezTo>
                <a:cubicBezTo>
                  <a:pt x="165" y="291"/>
                  <a:pt x="156" y="292"/>
                  <a:pt x="146" y="292"/>
                </a:cubicBezTo>
                <a:cubicBezTo>
                  <a:pt x="136" y="292"/>
                  <a:pt x="127" y="291"/>
                  <a:pt x="118" y="289"/>
                </a:cubicBezTo>
                <a:cubicBezTo>
                  <a:pt x="108" y="287"/>
                  <a:pt x="99" y="285"/>
                  <a:pt x="90" y="281"/>
                </a:cubicBezTo>
                <a:cubicBezTo>
                  <a:pt x="81" y="277"/>
                  <a:pt x="73" y="273"/>
                  <a:pt x="65" y="267"/>
                </a:cubicBezTo>
                <a:cubicBezTo>
                  <a:pt x="57" y="262"/>
                  <a:pt x="50" y="256"/>
                  <a:pt x="43" y="248"/>
                </a:cubicBezTo>
                <a:cubicBezTo>
                  <a:pt x="36" y="242"/>
                  <a:pt x="30" y="234"/>
                  <a:pt x="25" y="226"/>
                </a:cubicBezTo>
                <a:cubicBezTo>
                  <a:pt x="20" y="218"/>
                  <a:pt x="15" y="210"/>
                  <a:pt x="12" y="201"/>
                </a:cubicBezTo>
                <a:cubicBezTo>
                  <a:pt x="8" y="192"/>
                  <a:pt x="5" y="183"/>
                  <a:pt x="3" y="174"/>
                </a:cubicBezTo>
                <a:cubicBezTo>
                  <a:pt x="1" y="164"/>
                  <a:pt x="0" y="155"/>
                  <a:pt x="0" y="145"/>
                </a:cubicBezTo>
                <a:cubicBezTo>
                  <a:pt x="0" y="136"/>
                  <a:pt x="1" y="126"/>
                  <a:pt x="3" y="117"/>
                </a:cubicBezTo>
                <a:cubicBezTo>
                  <a:pt x="5" y="108"/>
                  <a:pt x="8" y="99"/>
                  <a:pt x="12" y="90"/>
                </a:cubicBezTo>
                <a:cubicBezTo>
                  <a:pt x="15" y="81"/>
                  <a:pt x="20" y="73"/>
                  <a:pt x="25" y="65"/>
                </a:cubicBezTo>
                <a:cubicBezTo>
                  <a:pt x="30" y="57"/>
                  <a:pt x="36" y="49"/>
                  <a:pt x="43" y="43"/>
                </a:cubicBezTo>
                <a:cubicBezTo>
                  <a:pt x="50" y="36"/>
                  <a:pt x="57" y="30"/>
                  <a:pt x="65" y="24"/>
                </a:cubicBezTo>
                <a:cubicBezTo>
                  <a:pt x="73" y="19"/>
                  <a:pt x="81" y="15"/>
                  <a:pt x="90" y="11"/>
                </a:cubicBezTo>
                <a:cubicBezTo>
                  <a:pt x="99" y="7"/>
                  <a:pt x="108" y="5"/>
                  <a:pt x="118" y="3"/>
                </a:cubicBezTo>
                <a:cubicBezTo>
                  <a:pt x="127" y="1"/>
                  <a:pt x="136" y="0"/>
                  <a:pt x="146" y="0"/>
                </a:cubicBezTo>
                <a:cubicBezTo>
                  <a:pt x="156" y="0"/>
                  <a:pt x="165" y="1"/>
                  <a:pt x="174" y="3"/>
                </a:cubicBezTo>
                <a:cubicBezTo>
                  <a:pt x="184" y="5"/>
                  <a:pt x="193" y="7"/>
                  <a:pt x="202" y="11"/>
                </a:cubicBezTo>
                <a:cubicBezTo>
                  <a:pt x="210" y="15"/>
                  <a:pt x="219" y="19"/>
                  <a:pt x="228" y="24"/>
                </a:cubicBezTo>
                <a:cubicBezTo>
                  <a:pt x="236" y="30"/>
                  <a:pt x="243" y="36"/>
                  <a:pt x="250" y="43"/>
                </a:cubicBezTo>
                <a:cubicBezTo>
                  <a:pt x="257" y="49"/>
                  <a:pt x="263" y="57"/>
                  <a:pt x="268" y="65"/>
                </a:cubicBezTo>
                <a:cubicBezTo>
                  <a:pt x="273" y="73"/>
                  <a:pt x="278" y="81"/>
                  <a:pt x="281" y="90"/>
                </a:cubicBezTo>
                <a:cubicBezTo>
                  <a:pt x="285" y="99"/>
                  <a:pt x="288" y="108"/>
                  <a:pt x="290" y="117"/>
                </a:cubicBezTo>
                <a:cubicBezTo>
                  <a:pt x="292" y="126"/>
                  <a:pt x="292" y="136"/>
                  <a:pt x="292" y="145"/>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404" name=""/>
          <p:cNvSpPr txBox="1"/>
          <p:nvPr/>
        </p:nvSpPr>
        <p:spPr>
          <a:xfrm>
            <a:off x="1638360" y="5114880"/>
            <a:ext cx="352476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半教師あり</a:t>
            </a:r>
            <a:r>
              <a:rPr lang="en-US" sz="2170" b="0" u="none" strike="noStrike">
                <a:solidFill>
                  <a:srgbClr val="111111"/>
                </a:solidFill>
                <a:effectLst/>
                <a:uFillTx/>
                <a:latin typeface="NotoSansJP"/>
                <a:ea typeface="NotoSansJP"/>
              </a:rPr>
              <a:t>: </a:t>
            </a:r>
            <a:r>
              <a:rPr lang="en-US" sz="2170" b="1" u="none" strike="noStrike">
                <a:solidFill>
                  <a:srgbClr val="111111"/>
                </a:solidFill>
                <a:effectLst/>
                <a:uFillTx/>
                <a:latin typeface="NotoSansJPThin"/>
                <a:ea typeface="NotoSansJPThin"/>
              </a:rPr>
              <a:t>92.7 F1 </a:t>
            </a:r>
            <a:r>
              <a:rPr lang="ja-JP" sz="2170" b="0" u="none" strike="noStrike">
                <a:solidFill>
                  <a:srgbClr val="111111"/>
                </a:solidFill>
                <a:effectLst/>
                <a:uFillTx/>
                <a:latin typeface="NotoSansJP"/>
                <a:ea typeface="NotoSansJP"/>
              </a:rPr>
              <a:t>を達成。</a:t>
            </a:r>
            <a:endParaRPr lang="en-US" sz="2170" b="0" u="none" strike="noStrike">
              <a:solidFill>
                <a:srgbClr val="000000"/>
              </a:solidFill>
              <a:effectLst/>
              <a:uFillTx/>
              <a:latin typeface="Noto Serif JP"/>
            </a:endParaRPr>
          </a:p>
        </p:txBody>
      </p:sp>
      <p:sp>
        <p:nvSpPr>
          <p:cNvPr id="405" name=""/>
          <p:cNvSpPr txBox="1"/>
          <p:nvPr/>
        </p:nvSpPr>
        <p:spPr>
          <a:xfrm>
            <a:off x="1085760" y="5600520"/>
            <a:ext cx="9507600" cy="331200"/>
          </a:xfrm>
          <a:prstGeom prst="rect">
            <a:avLst/>
          </a:prstGeom>
          <a:noFill/>
          <a:ln w="0">
            <a:noFill/>
          </a:ln>
        </p:spPr>
        <p:txBody>
          <a:bodyPr wrap="none" lIns="0" tIns="0" rIns="0" bIns="0" anchor="t">
            <a:spAutoFit/>
          </a:bodyPr>
          <a:p>
            <a:pPr/>
            <a:r>
              <a:rPr lang="en-US" sz="2170" b="1" u="none" strike="noStrike">
                <a:solidFill>
                  <a:srgbClr val="111111"/>
                </a:solidFill>
                <a:effectLst/>
                <a:uFillTx/>
                <a:latin typeface="NotoSansJPThin"/>
                <a:ea typeface="NotoSansJPThin"/>
              </a:rPr>
              <a:t>[</a:t>
            </a:r>
            <a:r>
              <a:rPr lang="ja-JP" sz="2170" b="1" u="none" strike="noStrike">
                <a:solidFill>
                  <a:srgbClr val="111111"/>
                </a:solidFill>
                <a:effectLst/>
                <a:uFillTx/>
                <a:latin typeface="NotoSansJPThin"/>
                <a:ea typeface="NotoSansJPThin"/>
              </a:rPr>
              <a:t>表</a:t>
            </a:r>
            <a:r>
              <a:rPr lang="en-US" sz="2170" b="1" u="none" strike="noStrike">
                <a:solidFill>
                  <a:srgbClr val="111111"/>
                </a:solidFill>
                <a:effectLst/>
                <a:uFillTx/>
                <a:latin typeface="NotoSansJPThin"/>
                <a:ea typeface="NotoSansJPThin"/>
              </a:rPr>
              <a:t>: </a:t>
            </a:r>
            <a:r>
              <a:rPr lang="ja-JP" sz="2170" b="1" u="none" strike="noStrike">
                <a:solidFill>
                  <a:srgbClr val="111111"/>
                </a:solidFill>
                <a:effectLst/>
                <a:uFillTx/>
                <a:latin typeface="NotoSansJPThin"/>
                <a:ea typeface="NotoSansJPThin"/>
              </a:rPr>
              <a:t>英語構文解析タスク（</a:t>
            </a:r>
            <a:r>
              <a:rPr lang="en-US" sz="2170" b="1" u="none" strike="noStrike">
                <a:solidFill>
                  <a:srgbClr val="111111"/>
                </a:solidFill>
                <a:effectLst/>
                <a:uFillTx/>
                <a:latin typeface="NotoSansJPThin"/>
                <a:ea typeface="NotoSansJPThin"/>
              </a:rPr>
              <a:t>WSJ Section 23 F1</a:t>
            </a:r>
            <a:r>
              <a:rPr lang="ja-JP" sz="2170" b="1" u="none" strike="noStrike">
                <a:solidFill>
                  <a:srgbClr val="111111"/>
                </a:solidFill>
                <a:effectLst/>
                <a:uFillTx/>
                <a:latin typeface="NotoSansJPThin"/>
                <a:ea typeface="NotoSansJPThin"/>
              </a:rPr>
              <a:t>スコア）での</a:t>
            </a:r>
            <a:r>
              <a:rPr lang="en-US" sz="2170" b="1" u="none" strike="noStrike">
                <a:solidFill>
                  <a:srgbClr val="111111"/>
                </a:solidFill>
                <a:effectLst/>
                <a:uFillTx/>
                <a:latin typeface="NotoSansJPThin"/>
                <a:ea typeface="NotoSansJPThin"/>
              </a:rPr>
              <a:t>Transformer</a:t>
            </a:r>
            <a:r>
              <a:rPr lang="ja-JP" sz="2170" b="1" u="none" strike="noStrike">
                <a:solidFill>
                  <a:srgbClr val="111111"/>
                </a:solidFill>
                <a:effectLst/>
                <a:uFillTx/>
                <a:latin typeface="NotoSansJPThin"/>
                <a:ea typeface="NotoSansJPThin"/>
              </a:rPr>
              <a:t>の性能</a:t>
            </a:r>
            <a:r>
              <a:rPr lang="en-US" sz="2170" b="1" u="none" strike="noStrike">
                <a:solidFill>
                  <a:srgbClr val="111111"/>
                </a:solidFill>
                <a:effectLst/>
                <a:uFillTx/>
                <a:latin typeface="NotoSansJPThin"/>
                <a:ea typeface="NotoSansJPThin"/>
              </a:rPr>
              <a:t>]</a:t>
            </a:r>
            <a:endParaRPr lang="en-US" sz="2170" b="0" u="none" strike="noStrike">
              <a:solidFill>
                <a:srgbClr val="000000"/>
              </a:solidFill>
              <a:effectLst/>
              <a:uFillTx/>
              <a:latin typeface="Noto Serif JP"/>
            </a:endParaRPr>
          </a:p>
        </p:txBody>
      </p:sp>
      <p:sp>
        <p:nvSpPr>
          <p:cNvPr id="406"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407" name=""/>
          <p:cNvSpPr txBox="1"/>
          <p:nvPr/>
        </p:nvSpPr>
        <p:spPr>
          <a:xfrm>
            <a:off x="914400" y="409680"/>
            <a:ext cx="2733120" cy="299160"/>
          </a:xfrm>
          <a:prstGeom prst="rect">
            <a:avLst/>
          </a:prstGeom>
          <a:noFill/>
          <a:ln w="0">
            <a:noFill/>
          </a:ln>
        </p:spPr>
        <p:txBody>
          <a:bodyPr wrap="none" lIns="0" tIns="0" rIns="0" bIns="0" anchor="t">
            <a:spAutoFit/>
          </a:bodyPr>
          <a:p>
            <a:pPr/>
            <a:r>
              <a:rPr lang="ja-JP" sz="1950" b="1" u="none" strike="noStrike">
                <a:solidFill>
                  <a:srgbClr val="111111"/>
                </a:solidFill>
                <a:effectLst/>
                <a:uFillTx/>
                <a:latin typeface="NotoSansJPThin"/>
                <a:ea typeface="NotoSansJPThin"/>
              </a:rPr>
              <a:t>実験結果：英語構文解析</a:t>
            </a:r>
            <a:endParaRPr lang="en-US" sz="1950" b="0" u="none" strike="noStrike">
              <a:solidFill>
                <a:srgbClr val="000000"/>
              </a:solidFill>
              <a:effectLst/>
              <a:uFillTx/>
              <a:latin typeface="Noto Serif JP"/>
            </a:endParaRPr>
          </a:p>
        </p:txBody>
      </p:sp>
      <p:sp>
        <p:nvSpPr>
          <p:cNvPr id="408" name=""/>
          <p:cNvSpPr txBox="1"/>
          <p:nvPr/>
        </p:nvSpPr>
        <p:spPr>
          <a:xfrm>
            <a:off x="4078800" y="324252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d</a:t>
            </a:r>
            <a:endParaRPr lang="en-US" sz="2220" b="0" u="none" strike="noStrike">
              <a:solidFill>
                <a:srgbClr val="000000"/>
              </a:solidFill>
              <a:effectLst/>
              <a:uFillTx/>
              <a:latin typeface="Noto Serif JP"/>
            </a:endParaRPr>
          </a:p>
        </p:txBody>
      </p:sp>
      <p:sp>
        <p:nvSpPr>
          <p:cNvPr id="409" name=""/>
          <p:cNvSpPr txBox="1"/>
          <p:nvPr/>
        </p:nvSpPr>
        <p:spPr>
          <a:xfrm>
            <a:off x="4939200" y="3242520"/>
            <a:ext cx="28152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a:t>
            </a:r>
            <a:endParaRPr lang="en-US" sz="2220" b="0" u="none" strike="noStrike">
              <a:solidFill>
                <a:srgbClr val="000000"/>
              </a:solidFill>
              <a:effectLst/>
              <a:uFillTx/>
              <a:latin typeface="Noto Serif JP"/>
            </a:endParaRPr>
          </a:p>
        </p:txBody>
      </p:sp>
      <p:sp>
        <p:nvSpPr>
          <p:cNvPr id="410" name=""/>
          <p:cNvSpPr txBox="1"/>
          <p:nvPr/>
        </p:nvSpPr>
        <p:spPr>
          <a:xfrm>
            <a:off x="4253400" y="3374640"/>
            <a:ext cx="592920" cy="237960"/>
          </a:xfrm>
          <a:prstGeom prst="rect">
            <a:avLst/>
          </a:prstGeom>
          <a:noFill/>
          <a:ln w="0">
            <a:noFill/>
          </a:ln>
        </p:spPr>
        <p:txBody>
          <a:bodyPr wrap="none" lIns="0" tIns="0" rIns="0" bIns="0" anchor="t">
            <a:spAutoFit/>
          </a:bodyPr>
          <a:p>
            <a:pPr/>
            <a:r>
              <a:rPr lang="en-US" sz="1560" b="0" u="none" strike="noStrike">
                <a:solidFill>
                  <a:srgbClr val="111111"/>
                </a:solidFill>
                <a:effectLst/>
                <a:uFillTx/>
                <a:latin typeface="NotoSansJP"/>
                <a:ea typeface="NotoSansJP"/>
              </a:rPr>
              <a:t>model</a:t>
            </a:r>
            <a:endParaRPr lang="en-US" sz="1560" b="0" u="none" strike="noStrike">
              <a:solidFill>
                <a:srgbClr val="000000"/>
              </a:solidFill>
              <a:effectLst/>
              <a:uFillTx/>
              <a:latin typeface="Noto Serif JP"/>
            </a:endParaRPr>
          </a:p>
        </p:txBody>
      </p:sp>
      <p:sp>
        <p:nvSpPr>
          <p:cNvPr id="411" name=""/>
          <p:cNvSpPr txBox="1"/>
          <p:nvPr/>
        </p:nvSpPr>
        <p:spPr>
          <a:xfrm>
            <a:off x="5173560" y="3242520"/>
            <a:ext cx="626760" cy="338760"/>
          </a:xfrm>
          <a:prstGeom prst="rect">
            <a:avLst/>
          </a:prstGeom>
          <a:noFill/>
          <a:ln w="0">
            <a:noFill/>
          </a:ln>
        </p:spPr>
        <p:txBody>
          <a:bodyPr wrap="none" lIns="0" tIns="0" rIns="0" bIns="0" anchor="t">
            <a:spAutoFit/>
          </a:bodyPr>
          <a:p>
            <a:pPr/>
            <a:r>
              <a:rPr lang="en-US" sz="2220" b="0" u="none" strike="noStrike">
                <a:solidFill>
                  <a:srgbClr val="111111"/>
                </a:solidFill>
                <a:effectLst/>
                <a:uFillTx/>
                <a:latin typeface="NotoSansJP"/>
                <a:ea typeface="NotoSansJP"/>
              </a:rPr>
              <a:t>1024</a:t>
            </a:r>
            <a:endParaRPr lang="en-US" sz="2220" b="0" u="none" strike="noStrike">
              <a:solidFill>
                <a:srgbClr val="000000"/>
              </a:solidFill>
              <a:effectLst/>
              <a:uFillTx/>
              <a:latin typeface="Noto Serif JP"/>
            </a:endParaRPr>
          </a:p>
        </p:txBody>
      </p:sp>
      <p:sp>
        <p:nvSpPr>
          <p:cNvPr id="412" name=""/>
          <p:cNvSpPr txBox="1"/>
          <p:nvPr/>
        </p:nvSpPr>
        <p:spPr>
          <a:xfrm>
            <a:off x="11777400" y="6458040"/>
            <a:ext cx="339120" cy="366120"/>
          </a:xfrm>
          <a:prstGeom prst="rect">
            <a:avLst/>
          </a:prstGeom>
          <a:noFill/>
          <a:ln w="0">
            <a:noFill/>
          </a:ln>
        </p:spPr>
        <p:txBody>
          <a:bodyPr wrap="none" lIns="0" tIns="0" rIns="0" bIns="0" anchor="t">
            <a:spAutoFit/>
          </a:bodyPr>
          <a:p>
            <a:pPr/>
            <a:r>
              <a:rPr lang="en-US" sz="2400" b="0" u="none" strike="noStrike">
                <a:solidFill>
                  <a:srgbClr val="111111"/>
                </a:solidFill>
                <a:effectLst/>
                <a:uFillTx/>
                <a:latin typeface="NotoSansJP"/>
                <a:ea typeface="NotoSansJP"/>
              </a:rPr>
              <a:t>13</a:t>
            </a:r>
            <a:endParaRPr lang="en-US" sz="2400" b="0" u="none" strike="noStrike">
              <a:solidFill>
                <a:srgbClr val="000000"/>
              </a:solidFill>
              <a:effectLst/>
              <a:uFillTx/>
              <a:latin typeface="Noto Serif JP"/>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414"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415" name=""/>
          <p:cNvSpPr/>
          <p:nvPr/>
        </p:nvSpPr>
        <p:spPr>
          <a:xfrm>
            <a:off x="0" y="0"/>
            <a:ext cx="12192120" cy="6858000"/>
          </a:xfrm>
          <a:custGeom>
            <a:avLst/>
            <a:gdLst/>
            <a:ahLst/>
            <a:rect l="0" t="0" r="r" b="b"/>
            <a:pathLst>
              <a:path w="33867" h="19050">
                <a:moveTo>
                  <a:pt x="0" y="0"/>
                </a:moveTo>
                <a:lnTo>
                  <a:pt x="33867" y="0"/>
                </a:lnTo>
                <a:lnTo>
                  <a:pt x="33867" y="19050"/>
                </a:lnTo>
                <a:lnTo>
                  <a:pt x="0" y="19050"/>
                </a:lnTo>
                <a:lnTo>
                  <a:pt x="0" y="0"/>
                </a:lnTo>
                <a:close/>
              </a:path>
            </a:pathLst>
          </a:custGeom>
          <a:solidFill>
            <a:srgbClr val="C9C9C9"/>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416" name=""/>
          <p:cNvSpPr/>
          <p:nvPr/>
        </p:nvSpPr>
        <p:spPr>
          <a:xfrm>
            <a:off x="228240" y="228240"/>
            <a:ext cx="11735280" cy="6401160"/>
          </a:xfrm>
          <a:custGeom>
            <a:avLst/>
            <a:gdLst/>
            <a:ahLst/>
            <a:rect l="0" t="0" r="r" b="b"/>
            <a:pathLst>
              <a:path w="32598" h="17781">
                <a:moveTo>
                  <a:pt x="530" y="0"/>
                </a:moveTo>
                <a:lnTo>
                  <a:pt x="32069" y="0"/>
                </a:lnTo>
                <a:cubicBezTo>
                  <a:pt x="32104" y="0"/>
                  <a:pt x="32138" y="4"/>
                  <a:pt x="32172" y="11"/>
                </a:cubicBezTo>
                <a:cubicBezTo>
                  <a:pt x="32206" y="17"/>
                  <a:pt x="32239" y="27"/>
                  <a:pt x="32271" y="41"/>
                </a:cubicBezTo>
                <a:cubicBezTo>
                  <a:pt x="32304" y="54"/>
                  <a:pt x="32334" y="70"/>
                  <a:pt x="32363" y="90"/>
                </a:cubicBezTo>
                <a:cubicBezTo>
                  <a:pt x="32392" y="109"/>
                  <a:pt x="32419" y="131"/>
                  <a:pt x="32443" y="155"/>
                </a:cubicBezTo>
                <a:cubicBezTo>
                  <a:pt x="32468" y="180"/>
                  <a:pt x="32490" y="207"/>
                  <a:pt x="32509" y="236"/>
                </a:cubicBezTo>
                <a:cubicBezTo>
                  <a:pt x="32528" y="265"/>
                  <a:pt x="32545" y="295"/>
                  <a:pt x="32558" y="327"/>
                </a:cubicBezTo>
                <a:cubicBezTo>
                  <a:pt x="32571" y="359"/>
                  <a:pt x="32581" y="392"/>
                  <a:pt x="32588" y="426"/>
                </a:cubicBezTo>
                <a:cubicBezTo>
                  <a:pt x="32595" y="460"/>
                  <a:pt x="32598" y="495"/>
                  <a:pt x="32598" y="530"/>
                </a:cubicBezTo>
                <a:lnTo>
                  <a:pt x="32598" y="17252"/>
                </a:lnTo>
                <a:cubicBezTo>
                  <a:pt x="32598" y="17287"/>
                  <a:pt x="32595" y="17321"/>
                  <a:pt x="32588" y="17356"/>
                </a:cubicBezTo>
                <a:cubicBezTo>
                  <a:pt x="32581" y="17390"/>
                  <a:pt x="32571" y="17423"/>
                  <a:pt x="32558" y="17455"/>
                </a:cubicBezTo>
                <a:cubicBezTo>
                  <a:pt x="32545" y="17487"/>
                  <a:pt x="32528" y="17517"/>
                  <a:pt x="32509" y="17546"/>
                </a:cubicBezTo>
                <a:cubicBezTo>
                  <a:pt x="32490" y="17575"/>
                  <a:pt x="32468" y="17602"/>
                  <a:pt x="32443" y="17627"/>
                </a:cubicBezTo>
                <a:cubicBezTo>
                  <a:pt x="32419" y="17651"/>
                  <a:pt x="32392" y="17673"/>
                  <a:pt x="32363" y="17692"/>
                </a:cubicBezTo>
                <a:cubicBezTo>
                  <a:pt x="32334" y="17712"/>
                  <a:pt x="32304" y="17728"/>
                  <a:pt x="32271" y="17741"/>
                </a:cubicBezTo>
                <a:cubicBezTo>
                  <a:pt x="32239" y="17755"/>
                  <a:pt x="32206" y="17765"/>
                  <a:pt x="32172" y="17771"/>
                </a:cubicBezTo>
                <a:cubicBezTo>
                  <a:pt x="32138" y="17778"/>
                  <a:pt x="32104" y="17781"/>
                  <a:pt x="32069" y="17781"/>
                </a:cubicBezTo>
                <a:lnTo>
                  <a:pt x="530" y="17781"/>
                </a:lnTo>
                <a:cubicBezTo>
                  <a:pt x="495" y="17781"/>
                  <a:pt x="461" y="17778"/>
                  <a:pt x="426" y="17771"/>
                </a:cubicBezTo>
                <a:cubicBezTo>
                  <a:pt x="392" y="17765"/>
                  <a:pt x="359" y="17755"/>
                  <a:pt x="327" y="17741"/>
                </a:cubicBezTo>
                <a:cubicBezTo>
                  <a:pt x="295" y="17728"/>
                  <a:pt x="265" y="17712"/>
                  <a:pt x="236" y="17692"/>
                </a:cubicBezTo>
                <a:cubicBezTo>
                  <a:pt x="207" y="17673"/>
                  <a:pt x="180" y="17651"/>
                  <a:pt x="155" y="17627"/>
                </a:cubicBezTo>
                <a:cubicBezTo>
                  <a:pt x="131" y="17602"/>
                  <a:pt x="109" y="17575"/>
                  <a:pt x="90" y="17546"/>
                </a:cubicBezTo>
                <a:cubicBezTo>
                  <a:pt x="70" y="17517"/>
                  <a:pt x="54" y="17487"/>
                  <a:pt x="41" y="17455"/>
                </a:cubicBezTo>
                <a:cubicBezTo>
                  <a:pt x="27" y="17423"/>
                  <a:pt x="17" y="17390"/>
                  <a:pt x="11" y="17356"/>
                </a:cubicBezTo>
                <a:cubicBezTo>
                  <a:pt x="4" y="17321"/>
                  <a:pt x="0" y="17287"/>
                  <a:pt x="0" y="17252"/>
                </a:cubicBezTo>
                <a:lnTo>
                  <a:pt x="0" y="530"/>
                </a:lnTo>
                <a:cubicBezTo>
                  <a:pt x="0" y="495"/>
                  <a:pt x="4" y="461"/>
                  <a:pt x="11" y="426"/>
                </a:cubicBezTo>
                <a:cubicBezTo>
                  <a:pt x="17" y="392"/>
                  <a:pt x="27" y="359"/>
                  <a:pt x="41" y="327"/>
                </a:cubicBezTo>
                <a:cubicBezTo>
                  <a:pt x="54" y="295"/>
                  <a:pt x="70" y="265"/>
                  <a:pt x="90" y="236"/>
                </a:cubicBezTo>
                <a:cubicBezTo>
                  <a:pt x="109" y="207"/>
                  <a:pt x="131" y="180"/>
                  <a:pt x="155" y="155"/>
                </a:cubicBezTo>
                <a:cubicBezTo>
                  <a:pt x="180" y="131"/>
                  <a:pt x="207" y="109"/>
                  <a:pt x="236" y="90"/>
                </a:cubicBezTo>
                <a:cubicBezTo>
                  <a:pt x="265" y="70"/>
                  <a:pt x="295" y="54"/>
                  <a:pt x="327" y="41"/>
                </a:cubicBezTo>
                <a:cubicBezTo>
                  <a:pt x="359" y="27"/>
                  <a:pt x="392" y="17"/>
                  <a:pt x="426" y="11"/>
                </a:cubicBezTo>
                <a:cubicBezTo>
                  <a:pt x="461" y="4"/>
                  <a:pt x="495" y="0"/>
                  <a:pt x="530" y="0"/>
                </a:cubicBezTo>
                <a:close/>
              </a:path>
            </a:pathLst>
          </a:custGeom>
          <a:solidFill>
            <a:srgbClr val="FFFFFF"/>
          </a:solidFill>
          <a:ln w="0">
            <a:noFill/>
          </a:ln>
        </p:spPr>
        <p:txBody>
          <a:bodyPr lIns="0" tIns="0" rIns="0" bIns="0" anchor="t">
            <a:noAutofit/>
          </a:bodyPr>
          <a:p>
            <a:endParaRPr lang="en-US" sz="2400" b="0" u="none" strike="noStrike">
              <a:solidFill>
                <a:srgbClr val="000000"/>
              </a:solidFill>
              <a:effectLst/>
              <a:uFillTx/>
              <a:latin typeface="Noto Serif JP"/>
            </a:endParaRPr>
          </a:p>
        </p:txBody>
      </p:sp>
      <p:sp>
        <p:nvSpPr>
          <p:cNvPr id="417" name=""/>
          <p:cNvSpPr txBox="1"/>
          <p:nvPr/>
        </p:nvSpPr>
        <p:spPr>
          <a:xfrm>
            <a:off x="533520" y="942840"/>
            <a:ext cx="1109196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本研究では、</a:t>
            </a:r>
            <a:r>
              <a:rPr lang="en-US" sz="2170" b="0" u="none" strike="noStrike">
                <a:solidFill>
                  <a:srgbClr val="111111"/>
                </a:solidFill>
                <a:effectLst/>
                <a:uFillTx/>
                <a:latin typeface="NotoSansJP"/>
                <a:ea typeface="NotoSansJP"/>
              </a:rPr>
              <a:t>Attention</a:t>
            </a:r>
            <a:r>
              <a:rPr lang="ja-JP" sz="2170" b="0" u="none" strike="noStrike">
                <a:solidFill>
                  <a:srgbClr val="111111"/>
                </a:solidFill>
                <a:effectLst/>
                <a:uFillTx/>
                <a:latin typeface="NotoSansJP"/>
                <a:ea typeface="NotoSansJP"/>
              </a:rPr>
              <a:t>機構のみに基づくシーケンス変換モデル</a:t>
            </a:r>
            <a:r>
              <a:rPr lang="en-US" sz="2170" b="0" u="none" strike="noStrike">
                <a:solidFill>
                  <a:srgbClr val="111111"/>
                </a:solidFill>
                <a:effectLst/>
                <a:uFillTx/>
                <a:latin typeface="NotoSansJP"/>
                <a:ea typeface="NotoSansJP"/>
              </a:rPr>
              <a:t>Transformer</a:t>
            </a:r>
            <a:r>
              <a:rPr lang="ja-JP" sz="2170" b="0" u="none" strike="noStrike">
                <a:solidFill>
                  <a:srgbClr val="111111"/>
                </a:solidFill>
                <a:effectLst/>
                <a:uFillTx/>
                <a:latin typeface="NotoSansJP"/>
                <a:ea typeface="NotoSansJP"/>
              </a:rPr>
              <a:t>を提案しまし</a:t>
            </a:r>
            <a:endParaRPr lang="en-US" sz="2170" b="0" u="none" strike="noStrike">
              <a:solidFill>
                <a:srgbClr val="000000"/>
              </a:solidFill>
              <a:effectLst/>
              <a:uFillTx/>
              <a:latin typeface="Noto Serif JP"/>
            </a:endParaRPr>
          </a:p>
        </p:txBody>
      </p:sp>
      <p:sp>
        <p:nvSpPr>
          <p:cNvPr id="418" name=""/>
          <p:cNvSpPr/>
          <p:nvPr/>
        </p:nvSpPr>
        <p:spPr>
          <a:xfrm>
            <a:off x="809280" y="1990440"/>
            <a:ext cx="105120" cy="105120"/>
          </a:xfrm>
          <a:custGeom>
            <a:avLst/>
            <a:gdLst/>
            <a:ahLst/>
            <a:rect l="0" t="0" r="r" b="b"/>
            <a:pathLst>
              <a:path w="292" h="292">
                <a:moveTo>
                  <a:pt x="292" y="147"/>
                </a:moveTo>
                <a:cubicBezTo>
                  <a:pt x="292" y="156"/>
                  <a:pt x="292" y="166"/>
                  <a:pt x="290" y="175"/>
                </a:cubicBezTo>
                <a:cubicBezTo>
                  <a:pt x="288" y="185"/>
                  <a:pt x="285" y="194"/>
                  <a:pt x="281" y="202"/>
                </a:cubicBezTo>
                <a:cubicBezTo>
                  <a:pt x="278" y="211"/>
                  <a:pt x="273" y="220"/>
                  <a:pt x="268" y="228"/>
                </a:cubicBezTo>
                <a:cubicBezTo>
                  <a:pt x="263" y="236"/>
                  <a:pt x="257" y="243"/>
                  <a:pt x="250" y="250"/>
                </a:cubicBezTo>
                <a:cubicBezTo>
                  <a:pt x="243" y="256"/>
                  <a:pt x="236" y="262"/>
                  <a:pt x="228" y="268"/>
                </a:cubicBezTo>
                <a:cubicBezTo>
                  <a:pt x="219" y="273"/>
                  <a:pt x="210" y="278"/>
                  <a:pt x="202" y="281"/>
                </a:cubicBezTo>
                <a:cubicBezTo>
                  <a:pt x="193" y="285"/>
                  <a:pt x="184" y="288"/>
                  <a:pt x="174" y="290"/>
                </a:cubicBezTo>
                <a:cubicBezTo>
                  <a:pt x="165" y="291"/>
                  <a:pt x="156" y="292"/>
                  <a:pt x="146" y="292"/>
                </a:cubicBezTo>
                <a:cubicBezTo>
                  <a:pt x="136" y="292"/>
                  <a:pt x="127" y="291"/>
                  <a:pt x="118" y="290"/>
                </a:cubicBezTo>
                <a:cubicBezTo>
                  <a:pt x="108" y="288"/>
                  <a:pt x="99" y="285"/>
                  <a:pt x="90" y="281"/>
                </a:cubicBezTo>
                <a:cubicBezTo>
                  <a:pt x="81" y="278"/>
                  <a:pt x="73" y="273"/>
                  <a:pt x="65" y="268"/>
                </a:cubicBezTo>
                <a:cubicBezTo>
                  <a:pt x="57" y="262"/>
                  <a:pt x="50" y="256"/>
                  <a:pt x="43" y="250"/>
                </a:cubicBezTo>
                <a:cubicBezTo>
                  <a:pt x="36" y="243"/>
                  <a:pt x="30" y="236"/>
                  <a:pt x="25" y="228"/>
                </a:cubicBezTo>
                <a:cubicBezTo>
                  <a:pt x="20" y="220"/>
                  <a:pt x="15" y="211"/>
                  <a:pt x="12" y="202"/>
                </a:cubicBezTo>
                <a:cubicBezTo>
                  <a:pt x="8" y="194"/>
                  <a:pt x="5" y="185"/>
                  <a:pt x="3" y="175"/>
                </a:cubicBezTo>
                <a:cubicBezTo>
                  <a:pt x="1" y="166"/>
                  <a:pt x="0" y="156"/>
                  <a:pt x="0" y="147"/>
                </a:cubicBezTo>
                <a:cubicBezTo>
                  <a:pt x="0" y="136"/>
                  <a:pt x="1" y="127"/>
                  <a:pt x="3" y="117"/>
                </a:cubicBezTo>
                <a:cubicBezTo>
                  <a:pt x="5" y="108"/>
                  <a:pt x="8" y="99"/>
                  <a:pt x="12" y="90"/>
                </a:cubicBezTo>
                <a:cubicBezTo>
                  <a:pt x="15" y="81"/>
                  <a:pt x="20" y="73"/>
                  <a:pt x="25" y="65"/>
                </a:cubicBezTo>
                <a:cubicBezTo>
                  <a:pt x="30" y="57"/>
                  <a:pt x="36" y="50"/>
                  <a:pt x="43" y="43"/>
                </a:cubicBezTo>
                <a:cubicBezTo>
                  <a:pt x="50" y="36"/>
                  <a:pt x="57" y="30"/>
                  <a:pt x="65" y="25"/>
                </a:cubicBezTo>
                <a:cubicBezTo>
                  <a:pt x="73" y="20"/>
                  <a:pt x="81" y="15"/>
                  <a:pt x="90" y="11"/>
                </a:cubicBezTo>
                <a:cubicBezTo>
                  <a:pt x="99" y="8"/>
                  <a:pt x="108" y="5"/>
                  <a:pt x="118" y="3"/>
                </a:cubicBezTo>
                <a:cubicBezTo>
                  <a:pt x="127" y="1"/>
                  <a:pt x="136" y="0"/>
                  <a:pt x="146" y="0"/>
                </a:cubicBezTo>
                <a:cubicBezTo>
                  <a:pt x="156" y="0"/>
                  <a:pt x="165" y="1"/>
                  <a:pt x="174" y="3"/>
                </a:cubicBezTo>
                <a:cubicBezTo>
                  <a:pt x="184" y="5"/>
                  <a:pt x="193" y="8"/>
                  <a:pt x="202" y="11"/>
                </a:cubicBezTo>
                <a:cubicBezTo>
                  <a:pt x="210" y="15"/>
                  <a:pt x="219" y="20"/>
                  <a:pt x="228" y="25"/>
                </a:cubicBezTo>
                <a:cubicBezTo>
                  <a:pt x="236" y="30"/>
                  <a:pt x="243" y="36"/>
                  <a:pt x="250" y="43"/>
                </a:cubicBezTo>
                <a:cubicBezTo>
                  <a:pt x="257" y="50"/>
                  <a:pt x="263" y="57"/>
                  <a:pt x="268" y="65"/>
                </a:cubicBezTo>
                <a:cubicBezTo>
                  <a:pt x="273" y="73"/>
                  <a:pt x="278" y="81"/>
                  <a:pt x="281" y="90"/>
                </a:cubicBezTo>
                <a:cubicBezTo>
                  <a:pt x="285" y="99"/>
                  <a:pt x="288" y="108"/>
                  <a:pt x="290" y="117"/>
                </a:cubicBezTo>
                <a:cubicBezTo>
                  <a:pt x="292" y="127"/>
                  <a:pt x="292" y="136"/>
                  <a:pt x="292" y="147"/>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419" name=""/>
          <p:cNvSpPr txBox="1"/>
          <p:nvPr/>
        </p:nvSpPr>
        <p:spPr>
          <a:xfrm>
            <a:off x="533520" y="1362240"/>
            <a:ext cx="55224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た。</a:t>
            </a:r>
            <a:endParaRPr lang="en-US" sz="2170" b="0" u="none" strike="noStrike">
              <a:solidFill>
                <a:srgbClr val="000000"/>
              </a:solidFill>
              <a:effectLst/>
              <a:uFillTx/>
              <a:latin typeface="Noto Serif JP"/>
            </a:endParaRPr>
          </a:p>
        </p:txBody>
      </p:sp>
      <p:sp>
        <p:nvSpPr>
          <p:cNvPr id="420" name=""/>
          <p:cNvSpPr txBox="1"/>
          <p:nvPr/>
        </p:nvSpPr>
        <p:spPr>
          <a:xfrm>
            <a:off x="1085760" y="1866960"/>
            <a:ext cx="1379880" cy="331200"/>
          </a:xfrm>
          <a:prstGeom prst="rect">
            <a:avLst/>
          </a:prstGeom>
          <a:noFill/>
          <a:ln w="0">
            <a:noFill/>
          </a:ln>
        </p:spPr>
        <p:txBody>
          <a:bodyPr wrap="none" lIns="0" tIns="0" rIns="0" bIns="0" anchor="t">
            <a:spAutoFit/>
          </a:bodyPr>
          <a:p>
            <a:pPr/>
            <a:r>
              <a:rPr lang="ja-JP" sz="2170" b="1" u="none" strike="noStrike">
                <a:solidFill>
                  <a:srgbClr val="111111"/>
                </a:solidFill>
                <a:effectLst/>
                <a:uFillTx/>
                <a:latin typeface="NotoSansJPThin"/>
                <a:ea typeface="NotoSansJPThin"/>
              </a:rPr>
              <a:t>主要な貢献</a:t>
            </a:r>
            <a:endParaRPr lang="en-US" sz="2170" b="0" u="none" strike="noStrike">
              <a:solidFill>
                <a:srgbClr val="000000"/>
              </a:solidFill>
              <a:effectLst/>
              <a:uFillTx/>
              <a:latin typeface="Noto Serif JP"/>
            </a:endParaRPr>
          </a:p>
        </p:txBody>
      </p:sp>
      <p:sp>
        <p:nvSpPr>
          <p:cNvPr id="421" name=""/>
          <p:cNvSpPr txBox="1"/>
          <p:nvPr/>
        </p:nvSpPr>
        <p:spPr>
          <a:xfrm>
            <a:off x="1423440" y="2381400"/>
            <a:ext cx="1025352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i. </a:t>
            </a:r>
            <a:r>
              <a:rPr lang="ja-JP" sz="2170" b="1" u="none" strike="noStrike">
                <a:solidFill>
                  <a:srgbClr val="111111"/>
                </a:solidFill>
                <a:effectLst/>
                <a:uFillTx/>
                <a:latin typeface="NotoSansJPThin"/>
                <a:ea typeface="NotoSansJPThin"/>
              </a:rPr>
              <a:t>新しいアーキテクチャ</a:t>
            </a:r>
            <a:r>
              <a:rPr lang="en-US" sz="2170" b="0" u="none" strike="noStrike">
                <a:solidFill>
                  <a:srgbClr val="111111"/>
                </a:solidFill>
                <a:effectLst/>
                <a:uFillTx/>
                <a:latin typeface="NotoSansJP"/>
                <a:ea typeface="NotoSansJP"/>
              </a:rPr>
              <a:t>: </a:t>
            </a:r>
            <a:r>
              <a:rPr lang="ja-JP" sz="2170" b="0" u="none" strike="noStrike">
                <a:solidFill>
                  <a:srgbClr val="111111"/>
                </a:solidFill>
                <a:effectLst/>
                <a:uFillTx/>
                <a:latin typeface="NotoSansJP"/>
                <a:ea typeface="NotoSansJP"/>
              </a:rPr>
              <a:t>再帰‧畳み込み層を廃し、</a:t>
            </a:r>
            <a:r>
              <a:rPr lang="en-US" sz="2170" b="0" u="none" strike="noStrike">
                <a:solidFill>
                  <a:srgbClr val="111111"/>
                </a:solidFill>
                <a:effectLst/>
                <a:uFillTx/>
                <a:latin typeface="NotoSansJP"/>
                <a:ea typeface="NotoSansJP"/>
              </a:rPr>
              <a:t>Multi-Head Self-Attention</a:t>
            </a:r>
            <a:r>
              <a:rPr lang="ja-JP" sz="2170" b="0" u="none" strike="noStrike">
                <a:solidFill>
                  <a:srgbClr val="111111"/>
                </a:solidFill>
                <a:effectLst/>
                <a:uFillTx/>
                <a:latin typeface="NotoSansJP"/>
                <a:ea typeface="NotoSansJP"/>
              </a:rPr>
              <a:t>のみ</a:t>
            </a:r>
            <a:endParaRPr lang="en-US" sz="2170" b="0" u="none" strike="noStrike">
              <a:solidFill>
                <a:srgbClr val="000000"/>
              </a:solidFill>
              <a:effectLst/>
              <a:uFillTx/>
              <a:latin typeface="Noto Serif JP"/>
            </a:endParaRPr>
          </a:p>
        </p:txBody>
      </p:sp>
      <p:sp>
        <p:nvSpPr>
          <p:cNvPr id="422" name=""/>
          <p:cNvSpPr txBox="1"/>
          <p:nvPr/>
        </p:nvSpPr>
        <p:spPr>
          <a:xfrm>
            <a:off x="1638360" y="2790720"/>
            <a:ext cx="110412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で構成。</a:t>
            </a:r>
            <a:endParaRPr lang="en-US" sz="2170" b="0" u="none" strike="noStrike">
              <a:solidFill>
                <a:srgbClr val="000000"/>
              </a:solidFill>
              <a:effectLst/>
              <a:uFillTx/>
              <a:latin typeface="Noto Serif JP"/>
            </a:endParaRPr>
          </a:p>
        </p:txBody>
      </p:sp>
      <p:sp>
        <p:nvSpPr>
          <p:cNvPr id="423" name=""/>
          <p:cNvSpPr txBox="1"/>
          <p:nvPr/>
        </p:nvSpPr>
        <p:spPr>
          <a:xfrm>
            <a:off x="1347480" y="3276720"/>
            <a:ext cx="1007712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ii. </a:t>
            </a:r>
            <a:r>
              <a:rPr lang="en-US" sz="2170" b="1" u="none" strike="noStrike">
                <a:solidFill>
                  <a:srgbClr val="111111"/>
                </a:solidFill>
                <a:effectLst/>
                <a:uFillTx/>
                <a:latin typeface="NotoSansJPThin"/>
                <a:ea typeface="NotoSansJPThin"/>
              </a:rPr>
              <a:t>SOTA</a:t>
            </a:r>
            <a:r>
              <a:rPr lang="ja-JP" sz="2170" b="1" u="none" strike="noStrike">
                <a:solidFill>
                  <a:srgbClr val="111111"/>
                </a:solidFill>
                <a:effectLst/>
                <a:uFillTx/>
                <a:latin typeface="NotoSansJPThin"/>
                <a:ea typeface="NotoSansJPThin"/>
              </a:rPr>
              <a:t>性能</a:t>
            </a:r>
            <a:r>
              <a:rPr lang="en-US" sz="2170" b="0" u="none" strike="noStrike">
                <a:solidFill>
                  <a:srgbClr val="111111"/>
                </a:solidFill>
                <a:effectLst/>
                <a:uFillTx/>
                <a:latin typeface="NotoSansJP"/>
                <a:ea typeface="NotoSansJP"/>
              </a:rPr>
              <a:t>: </a:t>
            </a:r>
            <a:r>
              <a:rPr lang="ja-JP" sz="2170" b="0" u="none" strike="noStrike">
                <a:solidFill>
                  <a:srgbClr val="111111"/>
                </a:solidFill>
                <a:effectLst/>
                <a:uFillTx/>
                <a:latin typeface="NotoSansJP"/>
                <a:ea typeface="NotoSansJP"/>
              </a:rPr>
              <a:t>機械翻訳タスク（英独、英仏）で既存モデルを凌駕し、新しい</a:t>
            </a:r>
            <a:r>
              <a:rPr lang="en-US" sz="2170" b="0" u="none" strike="noStrike">
                <a:solidFill>
                  <a:srgbClr val="111111"/>
                </a:solidFill>
                <a:effectLst/>
                <a:uFillTx/>
                <a:latin typeface="NotoSansJP"/>
                <a:ea typeface="NotoSansJP"/>
              </a:rPr>
              <a:t>SOTA</a:t>
            </a:r>
            <a:endParaRPr lang="en-US" sz="2170" b="0" u="none" strike="noStrike">
              <a:solidFill>
                <a:srgbClr val="000000"/>
              </a:solidFill>
              <a:effectLst/>
              <a:uFillTx/>
              <a:latin typeface="Noto Serif JP"/>
            </a:endParaRPr>
          </a:p>
        </p:txBody>
      </p:sp>
      <p:sp>
        <p:nvSpPr>
          <p:cNvPr id="424" name=""/>
          <p:cNvSpPr txBox="1"/>
          <p:nvPr/>
        </p:nvSpPr>
        <p:spPr>
          <a:xfrm>
            <a:off x="1638360" y="3695760"/>
            <a:ext cx="110412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を樹立。</a:t>
            </a:r>
            <a:endParaRPr lang="en-US" sz="2170" b="0" u="none" strike="noStrike">
              <a:solidFill>
                <a:srgbClr val="000000"/>
              </a:solidFill>
              <a:effectLst/>
              <a:uFillTx/>
              <a:latin typeface="Noto Serif JP"/>
            </a:endParaRPr>
          </a:p>
        </p:txBody>
      </p:sp>
      <p:sp>
        <p:nvSpPr>
          <p:cNvPr id="425" name=""/>
          <p:cNvSpPr txBox="1"/>
          <p:nvPr/>
        </p:nvSpPr>
        <p:spPr>
          <a:xfrm>
            <a:off x="1271880" y="4172040"/>
            <a:ext cx="988416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iii. </a:t>
            </a:r>
            <a:r>
              <a:rPr lang="ja-JP" sz="2170" b="1" u="none" strike="noStrike">
                <a:solidFill>
                  <a:srgbClr val="111111"/>
                </a:solidFill>
                <a:effectLst/>
                <a:uFillTx/>
                <a:latin typeface="NotoSansJPThin"/>
                <a:ea typeface="NotoSansJPThin"/>
              </a:rPr>
              <a:t>高速な訓練</a:t>
            </a:r>
            <a:r>
              <a:rPr lang="en-US" sz="2170" b="0" u="none" strike="noStrike">
                <a:solidFill>
                  <a:srgbClr val="111111"/>
                </a:solidFill>
                <a:effectLst/>
                <a:uFillTx/>
                <a:latin typeface="NotoSansJP"/>
                <a:ea typeface="NotoSansJP"/>
              </a:rPr>
              <a:t>: </a:t>
            </a:r>
            <a:r>
              <a:rPr lang="ja-JP" sz="2170" b="0" u="none" strike="noStrike">
                <a:solidFill>
                  <a:srgbClr val="111111"/>
                </a:solidFill>
                <a:effectLst/>
                <a:uFillTx/>
                <a:latin typeface="NotoSansJP"/>
                <a:ea typeface="NotoSansJP"/>
              </a:rPr>
              <a:t>大幅な並列化により、既存モデルと比較して訓練時間を大幅に短</a:t>
            </a:r>
            <a:endParaRPr lang="en-US" sz="2170" b="0" u="none" strike="noStrike">
              <a:solidFill>
                <a:srgbClr val="000000"/>
              </a:solidFill>
              <a:effectLst/>
              <a:uFillTx/>
              <a:latin typeface="Noto Serif JP"/>
            </a:endParaRPr>
          </a:p>
        </p:txBody>
      </p:sp>
      <p:sp>
        <p:nvSpPr>
          <p:cNvPr id="426" name=""/>
          <p:cNvSpPr txBox="1"/>
          <p:nvPr/>
        </p:nvSpPr>
        <p:spPr>
          <a:xfrm>
            <a:off x="1638360" y="4591080"/>
            <a:ext cx="55224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縮。</a:t>
            </a:r>
            <a:endParaRPr lang="en-US" sz="2170" b="0" u="none" strike="noStrike">
              <a:solidFill>
                <a:srgbClr val="000000"/>
              </a:solidFill>
              <a:effectLst/>
              <a:uFillTx/>
              <a:latin typeface="Noto Serif JP"/>
            </a:endParaRPr>
          </a:p>
        </p:txBody>
      </p:sp>
      <p:sp>
        <p:nvSpPr>
          <p:cNvPr id="427" name=""/>
          <p:cNvSpPr/>
          <p:nvPr/>
        </p:nvSpPr>
        <p:spPr>
          <a:xfrm>
            <a:off x="809280" y="5676840"/>
            <a:ext cx="105120" cy="105120"/>
          </a:xfrm>
          <a:custGeom>
            <a:avLst/>
            <a:gdLst/>
            <a:ahLst/>
            <a:rect l="0" t="0" r="r" b="b"/>
            <a:pathLst>
              <a:path w="292" h="292">
                <a:moveTo>
                  <a:pt x="292" y="146"/>
                </a:moveTo>
                <a:cubicBezTo>
                  <a:pt x="292" y="156"/>
                  <a:pt x="292" y="165"/>
                  <a:pt x="290" y="175"/>
                </a:cubicBezTo>
                <a:cubicBezTo>
                  <a:pt x="288" y="184"/>
                  <a:pt x="285" y="193"/>
                  <a:pt x="281" y="202"/>
                </a:cubicBezTo>
                <a:cubicBezTo>
                  <a:pt x="278" y="211"/>
                  <a:pt x="273" y="219"/>
                  <a:pt x="268" y="227"/>
                </a:cubicBezTo>
                <a:cubicBezTo>
                  <a:pt x="263" y="235"/>
                  <a:pt x="257" y="242"/>
                  <a:pt x="250" y="249"/>
                </a:cubicBezTo>
                <a:cubicBezTo>
                  <a:pt x="243" y="256"/>
                  <a:pt x="236" y="262"/>
                  <a:pt x="228" y="267"/>
                </a:cubicBezTo>
                <a:cubicBezTo>
                  <a:pt x="219" y="272"/>
                  <a:pt x="210" y="277"/>
                  <a:pt x="202" y="281"/>
                </a:cubicBezTo>
                <a:cubicBezTo>
                  <a:pt x="193" y="284"/>
                  <a:pt x="184" y="287"/>
                  <a:pt x="174" y="289"/>
                </a:cubicBezTo>
                <a:cubicBezTo>
                  <a:pt x="165" y="291"/>
                  <a:pt x="156" y="292"/>
                  <a:pt x="146" y="292"/>
                </a:cubicBezTo>
                <a:cubicBezTo>
                  <a:pt x="136" y="292"/>
                  <a:pt x="127" y="291"/>
                  <a:pt x="118" y="289"/>
                </a:cubicBezTo>
                <a:cubicBezTo>
                  <a:pt x="108" y="287"/>
                  <a:pt x="99" y="284"/>
                  <a:pt x="90" y="281"/>
                </a:cubicBezTo>
                <a:cubicBezTo>
                  <a:pt x="81" y="277"/>
                  <a:pt x="73" y="272"/>
                  <a:pt x="65" y="267"/>
                </a:cubicBezTo>
                <a:cubicBezTo>
                  <a:pt x="57" y="262"/>
                  <a:pt x="50" y="256"/>
                  <a:pt x="43" y="249"/>
                </a:cubicBezTo>
                <a:cubicBezTo>
                  <a:pt x="36" y="242"/>
                  <a:pt x="30" y="235"/>
                  <a:pt x="25" y="227"/>
                </a:cubicBezTo>
                <a:cubicBezTo>
                  <a:pt x="20" y="219"/>
                  <a:pt x="15" y="211"/>
                  <a:pt x="12" y="202"/>
                </a:cubicBezTo>
                <a:cubicBezTo>
                  <a:pt x="8" y="193"/>
                  <a:pt x="5" y="184"/>
                  <a:pt x="3" y="175"/>
                </a:cubicBezTo>
                <a:cubicBezTo>
                  <a:pt x="1" y="165"/>
                  <a:pt x="0" y="156"/>
                  <a:pt x="0" y="146"/>
                </a:cubicBezTo>
                <a:cubicBezTo>
                  <a:pt x="0" y="137"/>
                  <a:pt x="1" y="127"/>
                  <a:pt x="3" y="118"/>
                </a:cubicBezTo>
                <a:cubicBezTo>
                  <a:pt x="5" y="108"/>
                  <a:pt x="8" y="99"/>
                  <a:pt x="12" y="89"/>
                </a:cubicBezTo>
                <a:cubicBezTo>
                  <a:pt x="15" y="81"/>
                  <a:pt x="20" y="72"/>
                  <a:pt x="25" y="64"/>
                </a:cubicBezTo>
                <a:cubicBezTo>
                  <a:pt x="30" y="56"/>
                  <a:pt x="36" y="49"/>
                  <a:pt x="43" y="42"/>
                </a:cubicBezTo>
                <a:cubicBezTo>
                  <a:pt x="50" y="36"/>
                  <a:pt x="57" y="29"/>
                  <a:pt x="65" y="24"/>
                </a:cubicBezTo>
                <a:cubicBezTo>
                  <a:pt x="73" y="19"/>
                  <a:pt x="81" y="14"/>
                  <a:pt x="90" y="11"/>
                </a:cubicBezTo>
                <a:cubicBezTo>
                  <a:pt x="99" y="7"/>
                  <a:pt x="108" y="4"/>
                  <a:pt x="118" y="2"/>
                </a:cubicBezTo>
                <a:cubicBezTo>
                  <a:pt x="127" y="1"/>
                  <a:pt x="136" y="0"/>
                  <a:pt x="146" y="0"/>
                </a:cubicBezTo>
                <a:cubicBezTo>
                  <a:pt x="156" y="0"/>
                  <a:pt x="165" y="1"/>
                  <a:pt x="174" y="2"/>
                </a:cubicBezTo>
                <a:cubicBezTo>
                  <a:pt x="184" y="4"/>
                  <a:pt x="193" y="7"/>
                  <a:pt x="202" y="11"/>
                </a:cubicBezTo>
                <a:cubicBezTo>
                  <a:pt x="210" y="14"/>
                  <a:pt x="219" y="19"/>
                  <a:pt x="228" y="24"/>
                </a:cubicBezTo>
                <a:cubicBezTo>
                  <a:pt x="236" y="29"/>
                  <a:pt x="243" y="36"/>
                  <a:pt x="250" y="42"/>
                </a:cubicBezTo>
                <a:cubicBezTo>
                  <a:pt x="257" y="49"/>
                  <a:pt x="263" y="56"/>
                  <a:pt x="268" y="64"/>
                </a:cubicBezTo>
                <a:cubicBezTo>
                  <a:pt x="273" y="72"/>
                  <a:pt x="278" y="81"/>
                  <a:pt x="281" y="89"/>
                </a:cubicBezTo>
                <a:cubicBezTo>
                  <a:pt x="285" y="99"/>
                  <a:pt x="288" y="108"/>
                  <a:pt x="290" y="118"/>
                </a:cubicBezTo>
                <a:cubicBezTo>
                  <a:pt x="292" y="127"/>
                  <a:pt x="292" y="137"/>
                  <a:pt x="292" y="146"/>
                </a:cubicBezTo>
                <a:close/>
              </a:path>
            </a:pathLst>
          </a:custGeom>
          <a:solidFill>
            <a:srgbClr val="111111"/>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428" name=""/>
          <p:cNvSpPr txBox="1"/>
          <p:nvPr/>
        </p:nvSpPr>
        <p:spPr>
          <a:xfrm>
            <a:off x="1290960" y="5076720"/>
            <a:ext cx="9876240" cy="331200"/>
          </a:xfrm>
          <a:prstGeom prst="rect">
            <a:avLst/>
          </a:prstGeom>
          <a:noFill/>
          <a:ln w="0">
            <a:noFill/>
          </a:ln>
        </p:spPr>
        <p:txBody>
          <a:bodyPr wrap="none" lIns="0" tIns="0" rIns="0" bIns="0" anchor="t">
            <a:spAutoFit/>
          </a:bodyPr>
          <a:p>
            <a:pPr/>
            <a:r>
              <a:rPr lang="en-US" sz="2170" b="0" u="none" strike="noStrike">
                <a:solidFill>
                  <a:srgbClr val="111111"/>
                </a:solidFill>
                <a:effectLst/>
                <a:uFillTx/>
                <a:latin typeface="NotoSansJP"/>
                <a:ea typeface="NotoSansJP"/>
              </a:rPr>
              <a:t>iv. </a:t>
            </a:r>
            <a:r>
              <a:rPr lang="ja-JP" sz="2170" b="1" u="none" strike="noStrike">
                <a:solidFill>
                  <a:srgbClr val="111111"/>
                </a:solidFill>
                <a:effectLst/>
                <a:uFillTx/>
                <a:latin typeface="NotoSansJPThin"/>
                <a:ea typeface="NotoSansJPThin"/>
              </a:rPr>
              <a:t>汎用性</a:t>
            </a:r>
            <a:r>
              <a:rPr lang="en-US" sz="2170" b="0" u="none" strike="noStrike">
                <a:solidFill>
                  <a:srgbClr val="111111"/>
                </a:solidFill>
                <a:effectLst/>
                <a:uFillTx/>
                <a:latin typeface="NotoSansJP"/>
                <a:ea typeface="NotoSansJP"/>
              </a:rPr>
              <a:t>: </a:t>
            </a:r>
            <a:r>
              <a:rPr lang="ja-JP" sz="2170" b="0" u="none" strike="noStrike">
                <a:solidFill>
                  <a:srgbClr val="111111"/>
                </a:solidFill>
                <a:effectLst/>
                <a:uFillTx/>
                <a:latin typeface="NotoSansJP"/>
                <a:ea typeface="NotoSansJP"/>
              </a:rPr>
              <a:t>英語構文解析タスクにおいても優れた性能を発揮し、汎用性を示唆。</a:t>
            </a:r>
            <a:endParaRPr lang="en-US" sz="2170" b="0" u="none" strike="noStrike">
              <a:solidFill>
                <a:srgbClr val="000000"/>
              </a:solidFill>
              <a:effectLst/>
              <a:uFillTx/>
              <a:latin typeface="Noto Serif JP"/>
            </a:endParaRPr>
          </a:p>
        </p:txBody>
      </p:sp>
      <p:sp>
        <p:nvSpPr>
          <p:cNvPr id="429" name=""/>
          <p:cNvSpPr txBox="1"/>
          <p:nvPr/>
        </p:nvSpPr>
        <p:spPr>
          <a:xfrm>
            <a:off x="1085760" y="5553000"/>
            <a:ext cx="1048284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今後の課題として、さらなるタスクへの適用、マルチモーダル入力への拡張、長尺シ</a:t>
            </a:r>
            <a:endParaRPr lang="en-US" sz="2170" b="0" u="none" strike="noStrike">
              <a:solidFill>
                <a:srgbClr val="000000"/>
              </a:solidFill>
              <a:effectLst/>
              <a:uFillTx/>
              <a:latin typeface="Noto Serif JP"/>
            </a:endParaRPr>
          </a:p>
        </p:txBody>
      </p:sp>
      <p:sp>
        <p:nvSpPr>
          <p:cNvPr id="430" name=""/>
          <p:cNvSpPr txBox="1"/>
          <p:nvPr/>
        </p:nvSpPr>
        <p:spPr>
          <a:xfrm>
            <a:off x="1085760" y="5972040"/>
            <a:ext cx="7557120" cy="331200"/>
          </a:xfrm>
          <a:prstGeom prst="rect">
            <a:avLst/>
          </a:prstGeom>
          <a:noFill/>
          <a:ln w="0">
            <a:noFill/>
          </a:ln>
        </p:spPr>
        <p:txBody>
          <a:bodyPr wrap="none" lIns="0" tIns="0" rIns="0" bIns="0" anchor="t">
            <a:spAutoFit/>
          </a:bodyPr>
          <a:p>
            <a:pPr/>
            <a:r>
              <a:rPr lang="ja-JP" sz="2170" b="0" u="none" strike="noStrike">
                <a:solidFill>
                  <a:srgbClr val="111111"/>
                </a:solidFill>
                <a:effectLst/>
                <a:uFillTx/>
                <a:latin typeface="NotoSansJP"/>
                <a:ea typeface="NotoSansJP"/>
              </a:rPr>
              <a:t>ーケンスのための局所</a:t>
            </a:r>
            <a:r>
              <a:rPr lang="en-US" sz="2170" b="0" u="none" strike="noStrike">
                <a:solidFill>
                  <a:srgbClr val="111111"/>
                </a:solidFill>
                <a:effectLst/>
                <a:uFillTx/>
                <a:latin typeface="NotoSansJP"/>
                <a:ea typeface="NotoSansJP"/>
              </a:rPr>
              <a:t>Attention</a:t>
            </a:r>
            <a:r>
              <a:rPr lang="ja-JP" sz="2170" b="0" u="none" strike="noStrike">
                <a:solidFill>
                  <a:srgbClr val="111111"/>
                </a:solidFill>
                <a:effectLst/>
                <a:uFillTx/>
                <a:latin typeface="NotoSansJP"/>
                <a:ea typeface="NotoSansJP"/>
              </a:rPr>
              <a:t>の検討などが挙げられます。</a:t>
            </a:r>
            <a:endParaRPr lang="en-US" sz="2170" b="0" u="none" strike="noStrike">
              <a:solidFill>
                <a:srgbClr val="000000"/>
              </a:solidFill>
              <a:effectLst/>
              <a:uFillTx/>
              <a:latin typeface="Noto Serif JP"/>
            </a:endParaRPr>
          </a:p>
        </p:txBody>
      </p:sp>
      <p:sp>
        <p:nvSpPr>
          <p:cNvPr id="431" name=""/>
          <p:cNvSpPr/>
          <p:nvPr/>
        </p:nvSpPr>
        <p:spPr>
          <a:xfrm>
            <a:off x="533160" y="561960"/>
            <a:ext cx="267120" cy="57240"/>
          </a:xfrm>
          <a:custGeom>
            <a:avLst/>
            <a:gdLst/>
            <a:ahLst/>
            <a:rect l="0" t="0" r="r" b="b"/>
            <a:pathLst>
              <a:path w="742" h="159">
                <a:moveTo>
                  <a:pt x="0" y="106"/>
                </a:moveTo>
                <a:lnTo>
                  <a:pt x="0" y="52"/>
                </a:lnTo>
                <a:cubicBezTo>
                  <a:pt x="0" y="45"/>
                  <a:pt x="2" y="39"/>
                  <a:pt x="4" y="32"/>
                </a:cubicBezTo>
                <a:cubicBezTo>
                  <a:pt x="7" y="26"/>
                  <a:pt x="11" y="20"/>
                  <a:pt x="16" y="15"/>
                </a:cubicBezTo>
                <a:cubicBezTo>
                  <a:pt x="21" y="10"/>
                  <a:pt x="26" y="6"/>
                  <a:pt x="33" y="4"/>
                </a:cubicBezTo>
                <a:cubicBezTo>
                  <a:pt x="39" y="1"/>
                  <a:pt x="46" y="0"/>
                  <a:pt x="53" y="0"/>
                </a:cubicBezTo>
                <a:lnTo>
                  <a:pt x="689" y="0"/>
                </a:lnTo>
                <a:cubicBezTo>
                  <a:pt x="696" y="0"/>
                  <a:pt x="703" y="1"/>
                  <a:pt x="709" y="4"/>
                </a:cubicBezTo>
                <a:cubicBezTo>
                  <a:pt x="716" y="6"/>
                  <a:pt x="722" y="10"/>
                  <a:pt x="727" y="15"/>
                </a:cubicBezTo>
                <a:cubicBezTo>
                  <a:pt x="731" y="20"/>
                  <a:pt x="735" y="26"/>
                  <a:pt x="738" y="32"/>
                </a:cubicBezTo>
                <a:cubicBezTo>
                  <a:pt x="741" y="39"/>
                  <a:pt x="742" y="45"/>
                  <a:pt x="742" y="52"/>
                </a:cubicBezTo>
                <a:lnTo>
                  <a:pt x="742" y="106"/>
                </a:lnTo>
                <a:cubicBezTo>
                  <a:pt x="742" y="113"/>
                  <a:pt x="741" y="120"/>
                  <a:pt x="738" y="127"/>
                </a:cubicBezTo>
                <a:cubicBezTo>
                  <a:pt x="735" y="133"/>
                  <a:pt x="731" y="139"/>
                  <a:pt x="727" y="144"/>
                </a:cubicBezTo>
                <a:cubicBezTo>
                  <a:pt x="722" y="149"/>
                  <a:pt x="716" y="153"/>
                  <a:pt x="709" y="155"/>
                </a:cubicBezTo>
                <a:cubicBezTo>
                  <a:pt x="703" y="158"/>
                  <a:pt x="696" y="159"/>
                  <a:pt x="689" y="159"/>
                </a:cubicBezTo>
                <a:lnTo>
                  <a:pt x="53" y="159"/>
                </a:lnTo>
                <a:cubicBezTo>
                  <a:pt x="46" y="159"/>
                  <a:pt x="39" y="158"/>
                  <a:pt x="33" y="155"/>
                </a:cubicBezTo>
                <a:cubicBezTo>
                  <a:pt x="26" y="153"/>
                  <a:pt x="21" y="149"/>
                  <a:pt x="16" y="144"/>
                </a:cubicBezTo>
                <a:cubicBezTo>
                  <a:pt x="11" y="139"/>
                  <a:pt x="7" y="133"/>
                  <a:pt x="4" y="127"/>
                </a:cubicBezTo>
                <a:cubicBezTo>
                  <a:pt x="2" y="120"/>
                  <a:pt x="0" y="113"/>
                  <a:pt x="0" y="106"/>
                </a:cubicBezTo>
                <a:close/>
              </a:path>
            </a:pathLst>
          </a:custGeom>
          <a:solidFill>
            <a:srgbClr val="0B4B78"/>
          </a:solidFill>
          <a:ln w="0">
            <a:noFill/>
          </a:ln>
        </p:spPr>
        <p:txBody>
          <a:bodyPr lIns="0" tIns="0" rIns="0" bIns="0" anchor="t">
            <a:noAutofit/>
          </a:bodyPr>
          <a:p>
            <a:endParaRPr lang="en-US" sz="2400" b="0" u="none" strike="noStrike">
              <a:solidFill>
                <a:srgbClr val="FFFFFF"/>
              </a:solidFill>
              <a:effectLst/>
              <a:uFillTx/>
              <a:latin typeface="Noto Serif JP"/>
            </a:endParaRPr>
          </a:p>
        </p:txBody>
      </p:sp>
      <p:sp>
        <p:nvSpPr>
          <p:cNvPr id="432" name=""/>
          <p:cNvSpPr txBox="1"/>
          <p:nvPr/>
        </p:nvSpPr>
        <p:spPr>
          <a:xfrm>
            <a:off x="914400" y="409680"/>
            <a:ext cx="745920" cy="299160"/>
          </a:xfrm>
          <a:prstGeom prst="rect">
            <a:avLst/>
          </a:prstGeom>
          <a:noFill/>
          <a:ln w="0">
            <a:noFill/>
          </a:ln>
        </p:spPr>
        <p:txBody>
          <a:bodyPr wrap="none" lIns="0" tIns="0" rIns="0" bIns="0" anchor="t">
            <a:spAutoFit/>
          </a:bodyPr>
          <a:p>
            <a:pPr/>
            <a:r>
              <a:rPr lang="ja-JP" sz="1950" b="1" u="none" strike="noStrike">
                <a:solidFill>
                  <a:srgbClr val="111111"/>
                </a:solidFill>
                <a:effectLst/>
                <a:uFillTx/>
                <a:latin typeface="NotoSansJPThin"/>
                <a:ea typeface="NotoSansJPThin"/>
              </a:rPr>
              <a:t>まとめ</a:t>
            </a:r>
            <a:endParaRPr lang="en-US" sz="1950" b="0" u="none" strike="noStrike">
              <a:solidFill>
                <a:srgbClr val="000000"/>
              </a:solidFill>
              <a:effectLst/>
              <a:uFillTx/>
              <a:latin typeface="Noto Serif JP"/>
            </a:endParaRPr>
          </a:p>
        </p:txBody>
      </p:sp>
      <p:sp>
        <p:nvSpPr>
          <p:cNvPr id="433" name=""/>
          <p:cNvSpPr txBox="1"/>
          <p:nvPr/>
        </p:nvSpPr>
        <p:spPr>
          <a:xfrm>
            <a:off x="11777400" y="6458040"/>
            <a:ext cx="339120" cy="366120"/>
          </a:xfrm>
          <a:prstGeom prst="rect">
            <a:avLst/>
          </a:prstGeom>
          <a:noFill/>
          <a:ln w="0">
            <a:noFill/>
          </a:ln>
        </p:spPr>
        <p:txBody>
          <a:bodyPr wrap="none" lIns="0" tIns="0" rIns="0" bIns="0" anchor="t">
            <a:spAutoFit/>
          </a:bodyPr>
          <a:p>
            <a:pPr/>
            <a:r>
              <a:rPr lang="en-US" sz="2400" b="0" u="none" strike="noStrike">
                <a:solidFill>
                  <a:srgbClr val="111111"/>
                </a:solidFill>
                <a:effectLst/>
                <a:uFillTx/>
                <a:latin typeface="NotoSansJP"/>
                <a:ea typeface="NotoSansJP"/>
              </a:rPr>
              <a:t>14</a:t>
            </a:r>
            <a:endParaRPr lang="en-US" sz="2400" b="0" u="none" strike="noStrike">
              <a:solidFill>
                <a:srgbClr val="000000"/>
              </a:solidFill>
              <a:effectLst/>
              <a:uFillTx/>
              <a:latin typeface="Noto Serif JP"/>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LibreOffice/26.2.3.2$Windows_X86_64 LibreOffice_project/70e089b17412e4cb7773e41413306b17a2328c34</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ja-JP</dc:language>
  <cp:lastModifiedBy/>
  <cp:revision>0</cp:revision>
  <dc:subject/>
  <dc:title/>
</cp:coreProperties>
</file>