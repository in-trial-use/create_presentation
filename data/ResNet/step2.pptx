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2026/05/21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4809960" y="-190440"/>
            <a:ext cx="2571480" cy="257148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268600" y="2500920"/>
            <a:ext cx="1494360" cy="65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ResNet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101560" y="4708800"/>
            <a:ext cx="2058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同志社大学　工学部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58760" y="5285880"/>
            <a:ext cx="11466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銅　使者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09960" y="24364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研究背景と課題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893680"/>
            <a:ext cx="37566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提案手法：深層残差学習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3350880"/>
            <a:ext cx="19278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実験と結果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808080"/>
            <a:ext cx="22327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考察とまとめ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10744200" y="-219240"/>
            <a:ext cx="1256760" cy="125676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2666880" y="2562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666880" y="3019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3476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3933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533520" y="923760"/>
            <a:ext cx="8803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ネットワークを深く（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Deep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に）することで性能は向上するはずでした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9280" y="2342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33520" y="1627920"/>
            <a:ext cx="2426760" cy="439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深層化のトレンド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085760" y="2200320"/>
            <a:ext cx="4764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VGG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ネットに代表されるように、層を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85760" y="26100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深くすることでモデルの表現力が向上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85760" y="30290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し、精度が改善されるのが一般的でし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85760" y="343836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809280" y="5324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33520" y="4609080"/>
            <a:ext cx="1820520" cy="439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深層化の障壁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361880" y="5743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85760" y="5181480"/>
            <a:ext cx="2450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勾配消失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/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爆発問題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638360" y="560052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学習が不安定になる問題。バッチ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809280" y="6638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0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638360" y="6010200"/>
            <a:ext cx="2863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正規化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(BN)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等で緩和。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85760" y="6496200"/>
            <a:ext cx="3237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（劣化）問題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229440" y="1438200"/>
            <a:ext cx="541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VGG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ネットのような層が積み重なった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229440" y="1847880"/>
            <a:ext cx="3475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ネットワークのイメージ図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595920" y="2266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層を増やすほど性能は上がるはずが…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14400" y="392400"/>
            <a:ext cx="447228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背景：深層化による性能向上とその限界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33520" y="92376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単純に層を深くすると、性能が劣化してしまう現象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85760" y="143820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理論上、深いモデルは浅いモデルに「何もしない層」を追加すれば、少なくとも同等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092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085760" y="1847880"/>
            <a:ext cx="3862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以上の性能は出せるはずです。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09280" y="2962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085760" y="2333520"/>
            <a:ext cx="10207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しかし、最適化が困難なため、実際には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深いモデルの方が訓練誤差が悪化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085760" y="2819520"/>
            <a:ext cx="8000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これは過学習ではなく、最適化の難しさが原因と考えられます。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33520" y="3381480"/>
            <a:ext cx="7781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56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の誤差グラフ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339280" y="3895560"/>
            <a:ext cx="7754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56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層ネットワーク（深い）は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層（浅い）より誤差が大きい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914400" y="392400"/>
            <a:ext cx="49755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解決したい課題：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（劣化）問題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533520" y="923760"/>
            <a:ext cx="7231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出力そのものではなく、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残差（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Residual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を学習させます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33520" y="1438200"/>
            <a:ext cx="1991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あるべき写像を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087720" y="1438200"/>
            <a:ext cx="1518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33520" y="1942920"/>
            <a:ext cx="3921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従来のネットワークでは、入力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602960" y="1942920"/>
            <a:ext cx="75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から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837760" y="1942920"/>
            <a:ext cx="372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を直接学習しようとします。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816520" y="2537280"/>
            <a:ext cx="4777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33520" y="3648240"/>
            <a:ext cx="3586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本研究では、学習対象を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残差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005160" y="3648240"/>
            <a:ext cx="2346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と再定義します。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147640" y="4232880"/>
            <a:ext cx="185544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F (x) := H(x) −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33520" y="4924440"/>
            <a:ext cx="4749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これにより、ネットワークは元の写像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833440" y="4924440"/>
            <a:ext cx="474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180560" y="4924440"/>
            <a:ext cx="262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として学習します。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186520" y="5518440"/>
            <a:ext cx="17182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 = F (x) +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33520" y="6210360"/>
            <a:ext cx="8276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このアイデアが、深いネットワークの学習を劇的に容易にします。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14400" y="392400"/>
            <a:ext cx="55681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提案手法：深層残差学習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(Deep Residual Learning)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2529000" y="1432440"/>
            <a:ext cx="4777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462560" y="193716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279040" y="1937160"/>
            <a:ext cx="4777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186440" y="3642120"/>
            <a:ext cx="179460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F (x) = H(x) −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274720" y="4918680"/>
            <a:ext cx="4777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H(x)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233400" y="4918680"/>
            <a:ext cx="9334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F (x) + x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 txBox="1"/>
          <p:nvPr/>
        </p:nvSpPr>
        <p:spPr>
          <a:xfrm>
            <a:off x="533520" y="923760"/>
            <a:ext cx="8276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入力をバイパスする「ショートカットコネクション」を追加します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33520" y="1438200"/>
            <a:ext cx="5619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。残差ブロックの概念図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505560" y="2342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4" y="194"/>
                  <a:pt x="281" y="202"/>
                </a:cubicBezTo>
                <a:cubicBezTo>
                  <a:pt x="277" y="211"/>
                  <a:pt x="272" y="220"/>
                  <a:pt x="267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2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8"/>
                  <a:pt x="72" y="273"/>
                  <a:pt x="64" y="268"/>
                </a:cubicBezTo>
                <a:cubicBezTo>
                  <a:pt x="56" y="262"/>
                  <a:pt x="49" y="256"/>
                  <a:pt x="42" y="250"/>
                </a:cubicBezTo>
                <a:cubicBezTo>
                  <a:pt x="35" y="243"/>
                  <a:pt x="29" y="236"/>
                  <a:pt x="24" y="228"/>
                </a:cubicBezTo>
                <a:cubicBezTo>
                  <a:pt x="19" y="220"/>
                  <a:pt x="14" y="211"/>
                  <a:pt x="11" y="202"/>
                </a:cubicBezTo>
                <a:cubicBezTo>
                  <a:pt x="7" y="194"/>
                  <a:pt x="4" y="185"/>
                  <a:pt x="2" y="175"/>
                </a:cubicBezTo>
                <a:cubicBezTo>
                  <a:pt x="0" y="166"/>
                  <a:pt x="0" y="156"/>
                  <a:pt x="0" y="147"/>
                </a:cubicBezTo>
                <a:cubicBezTo>
                  <a:pt x="0" y="137"/>
                  <a:pt x="0" y="128"/>
                  <a:pt x="2" y="118"/>
                </a:cubicBezTo>
                <a:cubicBezTo>
                  <a:pt x="4" y="109"/>
                  <a:pt x="7" y="100"/>
                  <a:pt x="11" y="91"/>
                </a:cubicBezTo>
                <a:cubicBezTo>
                  <a:pt x="14" y="82"/>
                  <a:pt x="19" y="74"/>
                  <a:pt x="24" y="66"/>
                </a:cubicBezTo>
                <a:cubicBezTo>
                  <a:pt x="29" y="58"/>
                  <a:pt x="35" y="51"/>
                  <a:pt x="42" y="44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2" y="36"/>
                  <a:pt x="249" y="44"/>
                </a:cubicBezTo>
                <a:cubicBezTo>
                  <a:pt x="256" y="51"/>
                  <a:pt x="262" y="58"/>
                  <a:pt x="267" y="66"/>
                </a:cubicBezTo>
                <a:cubicBezTo>
                  <a:pt x="272" y="74"/>
                  <a:pt x="277" y="82"/>
                  <a:pt x="281" y="91"/>
                </a:cubicBezTo>
                <a:cubicBezTo>
                  <a:pt x="284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229440" y="1627920"/>
            <a:ext cx="3033360" cy="439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390" spc="-1" strike="noStrike">
                <a:solidFill>
                  <a:srgbClr val="111111"/>
                </a:solidFill>
                <a:latin typeface="NotoSansJP"/>
                <a:ea typeface="NotoSansJP"/>
              </a:rPr>
              <a:t>なぜうまくいくのか？</a:t>
            </a:r>
            <a:endParaRPr b="0" lang="en-US" sz="23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781680" y="2200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もし追加層が「何もしない」のが最適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781680" y="26100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な場合、従来のネットワークは恒等写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781680" y="3029040"/>
            <a:ext cx="494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像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$H(x)=x$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を学習する必要があり、こ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505560" y="4066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3"/>
                  <a:pt x="284" y="193"/>
                  <a:pt x="281" y="202"/>
                </a:cubicBezTo>
                <a:cubicBezTo>
                  <a:pt x="277" y="211"/>
                  <a:pt x="272" y="220"/>
                  <a:pt x="267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2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8"/>
                  <a:pt x="72" y="273"/>
                  <a:pt x="64" y="268"/>
                </a:cubicBezTo>
                <a:cubicBezTo>
                  <a:pt x="56" y="262"/>
                  <a:pt x="49" y="256"/>
                  <a:pt x="42" y="250"/>
                </a:cubicBezTo>
                <a:cubicBezTo>
                  <a:pt x="35" y="243"/>
                  <a:pt x="29" y="236"/>
                  <a:pt x="24" y="228"/>
                </a:cubicBezTo>
                <a:cubicBezTo>
                  <a:pt x="19" y="220"/>
                  <a:pt x="14" y="211"/>
                  <a:pt x="11" y="202"/>
                </a:cubicBezTo>
                <a:cubicBezTo>
                  <a:pt x="7" y="193"/>
                  <a:pt x="4" y="183"/>
                  <a:pt x="2" y="174"/>
                </a:cubicBezTo>
                <a:cubicBezTo>
                  <a:pt x="0" y="165"/>
                  <a:pt x="0" y="155"/>
                  <a:pt x="0" y="146"/>
                </a:cubicBezTo>
                <a:cubicBezTo>
                  <a:pt x="0" y="136"/>
                  <a:pt x="0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50"/>
                  <a:pt x="262" y="57"/>
                  <a:pt x="267" y="65"/>
                </a:cubicBezTo>
                <a:cubicBezTo>
                  <a:pt x="272" y="73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781680" y="343836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れは困難です。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781680" y="3924360"/>
            <a:ext cx="4870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一方、残差学習では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残差 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$F(x)$ 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がゼロ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781680" y="433404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になるように学習すればよい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だけで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505560" y="5381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7" y="185"/>
                  <a:pt x="284" y="194"/>
                  <a:pt x="281" y="203"/>
                </a:cubicBezTo>
                <a:cubicBezTo>
                  <a:pt x="277" y="211"/>
                  <a:pt x="272" y="220"/>
                  <a:pt x="267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2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7" y="292"/>
                  <a:pt x="127" y="292"/>
                  <a:pt x="118" y="290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8"/>
                  <a:pt x="72" y="273"/>
                  <a:pt x="64" y="268"/>
                </a:cubicBezTo>
                <a:cubicBezTo>
                  <a:pt x="56" y="263"/>
                  <a:pt x="49" y="257"/>
                  <a:pt x="42" y="250"/>
                </a:cubicBezTo>
                <a:cubicBezTo>
                  <a:pt x="35" y="243"/>
                  <a:pt x="29" y="236"/>
                  <a:pt x="24" y="228"/>
                </a:cubicBezTo>
                <a:cubicBezTo>
                  <a:pt x="19" y="220"/>
                  <a:pt x="14" y="211"/>
                  <a:pt x="11" y="203"/>
                </a:cubicBezTo>
                <a:cubicBezTo>
                  <a:pt x="7" y="194"/>
                  <a:pt x="4" y="185"/>
                  <a:pt x="2" y="175"/>
                </a:cubicBezTo>
                <a:cubicBezTo>
                  <a:pt x="0" y="166"/>
                  <a:pt x="0" y="157"/>
                  <a:pt x="0" y="147"/>
                </a:cubicBezTo>
                <a:cubicBezTo>
                  <a:pt x="0" y="137"/>
                  <a:pt x="0" y="128"/>
                  <a:pt x="2" y="119"/>
                </a:cubicBezTo>
                <a:cubicBezTo>
                  <a:pt x="4" y="109"/>
                  <a:pt x="7" y="100"/>
                  <a:pt x="11" y="91"/>
                </a:cubicBezTo>
                <a:cubicBezTo>
                  <a:pt x="14" y="82"/>
                  <a:pt x="19" y="74"/>
                  <a:pt x="24" y="66"/>
                </a:cubicBezTo>
                <a:cubicBezTo>
                  <a:pt x="29" y="58"/>
                  <a:pt x="35" y="51"/>
                  <a:pt x="42" y="44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2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2" y="36"/>
                  <a:pt x="249" y="44"/>
                </a:cubicBezTo>
                <a:cubicBezTo>
                  <a:pt x="256" y="51"/>
                  <a:pt x="262" y="58"/>
                  <a:pt x="267" y="66"/>
                </a:cubicBezTo>
                <a:cubicBezTo>
                  <a:pt x="272" y="74"/>
                  <a:pt x="277" y="82"/>
                  <a:pt x="281" y="91"/>
                </a:cubicBezTo>
                <a:cubicBezTo>
                  <a:pt x="284" y="100"/>
                  <a:pt x="287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781680" y="475308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781680" y="523872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重みをゼロに近づけるだけで済むた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781680" y="5648400"/>
            <a:ext cx="3862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め、学習が非常に容易になり、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81680" y="6067440"/>
            <a:ext cx="43412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問題を回避できます。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14400" y="392400"/>
            <a:ext cx="3478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提案手法の中核：残差ブロック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31" name=""/>
          <p:cNvSpPr txBox="1"/>
          <p:nvPr/>
        </p:nvSpPr>
        <p:spPr>
          <a:xfrm>
            <a:off x="533520" y="923760"/>
            <a:ext cx="7094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VGG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ベースの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にショートカットを追加した構成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845000" y="1438200"/>
            <a:ext cx="2605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Network (34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33520" y="1942920"/>
            <a:ext cx="5828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3 Middle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33520" y="2362320"/>
            <a:ext cx="9932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構成図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304400" y="1438200"/>
            <a:ext cx="3043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Residual Network (34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229440" y="1942920"/>
            <a:ext cx="5979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3 Right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229440" y="2362320"/>
            <a:ext cx="4854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図。ショートカットが追加されている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33520" y="3191040"/>
            <a:ext cx="4532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- 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は、同じ層数の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33520" y="360036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ショートカットコネクションを追加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33520" y="4019400"/>
            <a:ext cx="10581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しただけのシンプルな構造です。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-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これにより、深層化による性能劣化を防ぎます。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914400" y="392400"/>
            <a:ext cx="25844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33520" y="923760"/>
            <a:ext cx="6621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ショートカットコネクションの効果を直接比較します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85760" y="14382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データセット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638360" y="1942920"/>
            <a:ext cx="4435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画像分類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ImageNet 2012, CIFAR-10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638360" y="2428920"/>
            <a:ext cx="4184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物体検出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PASCAL VOC, MS COCO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085760" y="291456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比較対象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638360" y="3419640"/>
            <a:ext cx="9613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Plain Network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と同じ層数‧構造だが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ショートカットがない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ネットワー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361880" y="4466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638360" y="3838680"/>
            <a:ext cx="9575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ク。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問題を再現し、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の効果を直接比較するために使用。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809280" y="4943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638360" y="4324320"/>
            <a:ext cx="5372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既存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SOTA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モデル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VGG, GoogLeNet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361880" y="5457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085760" y="480060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評価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361880" y="59432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6" y="293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638360" y="5315040"/>
            <a:ext cx="7395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層から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152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層までの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を比較します。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638360" y="5800680"/>
            <a:ext cx="7477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CIFAR-10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1000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層を超えるネットワークも試行します。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実験設定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77" name=""/>
          <p:cNvSpPr txBox="1"/>
          <p:nvPr/>
        </p:nvSpPr>
        <p:spPr>
          <a:xfrm>
            <a:off x="533520" y="923760"/>
            <a:ext cx="6455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は深くなるほど一貫して性能が向上しました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33520" y="1438200"/>
            <a:ext cx="9241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の訓練‧検証誤差グラフの比較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809280" y="2828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33520" y="2138040"/>
            <a:ext cx="17305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8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Network</a:t>
            </a:r>
            <a:endParaRPr b="0" lang="en-US" sz="2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85760" y="2685960"/>
            <a:ext cx="4995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層（深い）は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層（浅い）より誤差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85760" y="3105000"/>
            <a:ext cx="4420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が悪化。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問題を再現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505560" y="2828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4" y="193"/>
                  <a:pt x="281" y="202"/>
                </a:cubicBezTo>
                <a:cubicBezTo>
                  <a:pt x="277" y="211"/>
                  <a:pt x="272" y="219"/>
                  <a:pt x="267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2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7"/>
                  <a:pt x="98" y="284"/>
                  <a:pt x="89" y="281"/>
                </a:cubicBezTo>
                <a:cubicBezTo>
                  <a:pt x="81" y="277"/>
                  <a:pt x="72" y="272"/>
                  <a:pt x="64" y="267"/>
                </a:cubicBezTo>
                <a:cubicBezTo>
                  <a:pt x="56" y="262"/>
                  <a:pt x="49" y="256"/>
                  <a:pt x="42" y="249"/>
                </a:cubicBezTo>
                <a:cubicBezTo>
                  <a:pt x="35" y="242"/>
                  <a:pt x="29" y="235"/>
                  <a:pt x="24" y="227"/>
                </a:cubicBezTo>
                <a:cubicBezTo>
                  <a:pt x="19" y="219"/>
                  <a:pt x="14" y="211"/>
                  <a:pt x="11" y="202"/>
                </a:cubicBezTo>
                <a:cubicBezTo>
                  <a:pt x="7" y="193"/>
                  <a:pt x="4" y="184"/>
                  <a:pt x="2" y="175"/>
                </a:cubicBezTo>
                <a:cubicBezTo>
                  <a:pt x="0" y="165"/>
                  <a:pt x="0" y="156"/>
                  <a:pt x="0" y="146"/>
                </a:cubicBezTo>
                <a:cubicBezTo>
                  <a:pt x="0" y="136"/>
                  <a:pt x="0" y="126"/>
                  <a:pt x="2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8" y="2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2" y="35"/>
                  <a:pt x="249" y="42"/>
                </a:cubicBezTo>
                <a:cubicBezTo>
                  <a:pt x="256" y="49"/>
                  <a:pt x="262" y="56"/>
                  <a:pt x="267" y="64"/>
                </a:cubicBezTo>
                <a:cubicBezTo>
                  <a:pt x="272" y="72"/>
                  <a:pt x="277" y="81"/>
                  <a:pt x="281" y="89"/>
                </a:cubicBezTo>
                <a:cubicBezTo>
                  <a:pt x="284" y="98"/>
                  <a:pt x="287" y="107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229440" y="2138040"/>
            <a:ext cx="3319920" cy="394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80" spc="-1" strike="noStrike">
                <a:solidFill>
                  <a:srgbClr val="111111"/>
                </a:solidFill>
                <a:latin typeface="NotoSansJP"/>
                <a:ea typeface="NotoSansJP"/>
              </a:rPr>
              <a:t>Residual Network (ResNet)</a:t>
            </a:r>
            <a:endParaRPr b="0" lang="en-US" sz="2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781680" y="2685960"/>
            <a:ext cx="4995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層より誤差が改善。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深さの恩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781680" y="310500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恵を享受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33520" y="36669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残差学習が、深いネットワークの最適化を効果的に容易にすることを示しています。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914400" y="392400"/>
            <a:ext cx="34974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1: Degradation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問題の解決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96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33520" y="923760"/>
            <a:ext cx="575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152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ILSVRC 2015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で優勝しました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09280" y="2066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085760" y="1438200"/>
            <a:ext cx="9563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は層を深くするほど精度が向上し、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152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層モデルで最高性能を達成。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85760" y="1924200"/>
            <a:ext cx="10848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アンサンブルモデルは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Top-5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エラー率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3.57%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を記録し、当時の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SOTA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を大幅に更新しま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085760" y="23335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42880" y="3390840"/>
            <a:ext cx="2162520" cy="533520"/>
          </a:xfrm>
          <a:custGeom>
            <a:avLst/>
            <a:gdLst/>
            <a:ahLst/>
            <a:rect l="0" t="0" r="r" b="b"/>
            <a:pathLst>
              <a:path w="6007" h="1482">
                <a:moveTo>
                  <a:pt x="0" y="0"/>
                </a:moveTo>
                <a:lnTo>
                  <a:pt x="6007" y="0"/>
                </a:lnTo>
                <a:lnTo>
                  <a:pt x="600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705040" y="3390840"/>
            <a:ext cx="2724480" cy="533520"/>
          </a:xfrm>
          <a:custGeom>
            <a:avLst/>
            <a:gdLst/>
            <a:ahLst/>
            <a:rect l="0" t="0" r="r" b="b"/>
            <a:pathLst>
              <a:path w="7568" h="1482">
                <a:moveTo>
                  <a:pt x="0" y="0"/>
                </a:moveTo>
                <a:lnTo>
                  <a:pt x="7568" y="0"/>
                </a:lnTo>
                <a:lnTo>
                  <a:pt x="756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42880" y="3924000"/>
            <a:ext cx="2162520" cy="543240"/>
          </a:xfrm>
          <a:custGeom>
            <a:avLst/>
            <a:gdLst/>
            <a:ahLst/>
            <a:rect l="0" t="0" r="r" b="b"/>
            <a:pathLst>
              <a:path w="6007" h="1509">
                <a:moveTo>
                  <a:pt x="0" y="0"/>
                </a:moveTo>
                <a:lnTo>
                  <a:pt x="6007" y="0"/>
                </a:lnTo>
                <a:lnTo>
                  <a:pt x="600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705040" y="3924000"/>
            <a:ext cx="2724480" cy="543240"/>
          </a:xfrm>
          <a:custGeom>
            <a:avLst/>
            <a:gdLst/>
            <a:ahLst/>
            <a:rect l="0" t="0" r="r" b="b"/>
            <a:pathLst>
              <a:path w="7568" h="1509">
                <a:moveTo>
                  <a:pt x="0" y="0"/>
                </a:moveTo>
                <a:lnTo>
                  <a:pt x="7568" y="0"/>
                </a:lnTo>
                <a:lnTo>
                  <a:pt x="756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42880" y="4466880"/>
            <a:ext cx="2162520" cy="533880"/>
          </a:xfrm>
          <a:custGeom>
            <a:avLst/>
            <a:gdLst/>
            <a:ahLst/>
            <a:rect l="0" t="0" r="r" b="b"/>
            <a:pathLst>
              <a:path w="6007" h="1483">
                <a:moveTo>
                  <a:pt x="0" y="0"/>
                </a:moveTo>
                <a:lnTo>
                  <a:pt x="6007" y="0"/>
                </a:lnTo>
                <a:lnTo>
                  <a:pt x="600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705040" y="4466880"/>
            <a:ext cx="2724480" cy="533880"/>
          </a:xfrm>
          <a:custGeom>
            <a:avLst/>
            <a:gdLst/>
            <a:ahLst/>
            <a:rect l="0" t="0" r="r" b="b"/>
            <a:pathLst>
              <a:path w="7568" h="1483">
                <a:moveTo>
                  <a:pt x="0" y="0"/>
                </a:moveTo>
                <a:lnTo>
                  <a:pt x="7568" y="0"/>
                </a:lnTo>
                <a:lnTo>
                  <a:pt x="756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42880" y="5000400"/>
            <a:ext cx="2162520" cy="543240"/>
          </a:xfrm>
          <a:custGeom>
            <a:avLst/>
            <a:gdLst/>
            <a:ahLst/>
            <a:rect l="0" t="0" r="r" b="b"/>
            <a:pathLst>
              <a:path w="6007" h="1509">
                <a:moveTo>
                  <a:pt x="0" y="0"/>
                </a:moveTo>
                <a:lnTo>
                  <a:pt x="6007" y="0"/>
                </a:lnTo>
                <a:lnTo>
                  <a:pt x="600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705040" y="5000400"/>
            <a:ext cx="2724480" cy="543240"/>
          </a:xfrm>
          <a:custGeom>
            <a:avLst/>
            <a:gdLst/>
            <a:ahLst/>
            <a:rect l="0" t="0" r="r" b="b"/>
            <a:pathLst>
              <a:path w="7568" h="1509">
                <a:moveTo>
                  <a:pt x="0" y="0"/>
                </a:moveTo>
                <a:lnTo>
                  <a:pt x="7568" y="0"/>
                </a:lnTo>
                <a:lnTo>
                  <a:pt x="756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42880" y="5543280"/>
            <a:ext cx="2162520" cy="533880"/>
          </a:xfrm>
          <a:custGeom>
            <a:avLst/>
            <a:gdLst/>
            <a:ahLst/>
            <a:rect l="0" t="0" r="r" b="b"/>
            <a:pathLst>
              <a:path w="6007" h="1483">
                <a:moveTo>
                  <a:pt x="0" y="0"/>
                </a:moveTo>
                <a:lnTo>
                  <a:pt x="6007" y="0"/>
                </a:lnTo>
                <a:lnTo>
                  <a:pt x="600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705040" y="5543280"/>
            <a:ext cx="2724480" cy="533880"/>
          </a:xfrm>
          <a:custGeom>
            <a:avLst/>
            <a:gdLst/>
            <a:ahLst/>
            <a:rect l="0" t="0" r="r" b="b"/>
            <a:pathLst>
              <a:path w="7568" h="1483">
                <a:moveTo>
                  <a:pt x="0" y="0"/>
                </a:moveTo>
                <a:lnTo>
                  <a:pt x="7568" y="0"/>
                </a:lnTo>
                <a:lnTo>
                  <a:pt x="756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542880" y="6076800"/>
            <a:ext cx="2162520" cy="543240"/>
          </a:xfrm>
          <a:custGeom>
            <a:avLst/>
            <a:gdLst/>
            <a:ahLst/>
            <a:rect l="0" t="0" r="r" b="b"/>
            <a:pathLst>
              <a:path w="6007" h="1509">
                <a:moveTo>
                  <a:pt x="0" y="0"/>
                </a:moveTo>
                <a:lnTo>
                  <a:pt x="6007" y="0"/>
                </a:lnTo>
                <a:lnTo>
                  <a:pt x="600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705040" y="6076800"/>
            <a:ext cx="2724480" cy="543240"/>
          </a:xfrm>
          <a:custGeom>
            <a:avLst/>
            <a:gdLst/>
            <a:ahLst/>
            <a:rect l="0" t="0" r="r" b="b"/>
            <a:pathLst>
              <a:path w="7568" h="1509">
                <a:moveTo>
                  <a:pt x="0" y="0"/>
                </a:moveTo>
                <a:lnTo>
                  <a:pt x="7568" y="0"/>
                </a:lnTo>
                <a:lnTo>
                  <a:pt x="756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33160" y="338112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33160" y="338112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705040" y="3381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714400" y="338112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429160" y="338112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33160" y="392400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714400" y="392400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33160" y="39337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705040" y="39337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429160" y="39337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33160" y="4466880"/>
            <a:ext cx="10080" cy="543600"/>
          </a:xfrm>
          <a:custGeom>
            <a:avLst/>
            <a:gdLst/>
            <a:ahLst/>
            <a:rect l="0" t="0" r="r" b="b"/>
            <a:pathLst>
              <a:path w="28" h="1510">
                <a:moveTo>
                  <a:pt x="0" y="0"/>
                </a:moveTo>
                <a:lnTo>
                  <a:pt x="28" y="0"/>
                </a:lnTo>
                <a:lnTo>
                  <a:pt x="2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33160" y="445752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705040" y="44668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714400" y="445752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429160" y="4466880"/>
            <a:ext cx="9720" cy="543600"/>
          </a:xfrm>
          <a:custGeom>
            <a:avLst/>
            <a:gdLst/>
            <a:ah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533160" y="501012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533160" y="500040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705040" y="50101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714400" y="5000400"/>
            <a:ext cx="2724480" cy="10080"/>
          </a:xfrm>
          <a:custGeom>
            <a:avLst/>
            <a:gdLst/>
            <a:ahLst/>
            <a:rect l="0" t="0" r="r" b="b"/>
            <a:pathLst>
              <a:path w="7568" h="28">
                <a:moveTo>
                  <a:pt x="0" y="0"/>
                </a:moveTo>
                <a:lnTo>
                  <a:pt x="7568" y="0"/>
                </a:lnTo>
                <a:lnTo>
                  <a:pt x="7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429160" y="501012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33160" y="55432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33160" y="553392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705040" y="55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714400" y="553392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429160" y="55432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33160" y="608616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33160" y="607680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705040" y="608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714400" y="60768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429160" y="608616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33520" y="2905200"/>
            <a:ext cx="10114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Table 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の主要部分を抜粋した表。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ResNet-152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の圧倒的な性能を示す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66720" y="34765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モデル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836080" y="3476520"/>
            <a:ext cx="2451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Top-5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エラー率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(%)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66720" y="4019400"/>
            <a:ext cx="1514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VGG-16 [41]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836080" y="4019400"/>
            <a:ext cx="37548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7.1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666720" y="4552920"/>
            <a:ext cx="18446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PReLU-net [13]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836080" y="455292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5.71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66720" y="5095800"/>
            <a:ext cx="15080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ResNet-34 B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2836080" y="509580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5.71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666720" y="5629320"/>
            <a:ext cx="1424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ResNet-101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836080" y="562932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4.60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66720" y="6172200"/>
            <a:ext cx="1407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 152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836080" y="6172200"/>
            <a:ext cx="543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4 49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914400" y="392400"/>
            <a:ext cx="395892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ImageNet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での驚異的な性能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65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33520" y="923760"/>
            <a:ext cx="5793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物体検出タスクでも性能が大幅に向上しました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85760" y="1438200"/>
            <a:ext cx="10945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物体検出のバックボーンを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VGG-16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から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ResNet-101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に置き換えるだけで、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MS COCO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デ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8092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085760" y="1847880"/>
            <a:ext cx="5793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ータセットでの性能が飛躍的に向上しました。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809280" y="2962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085760" y="2333520"/>
            <a:ext cx="6784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mAP@.5:.95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標準指標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28%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の相対的改善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を達成。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085760" y="2819520"/>
            <a:ext cx="10672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この結果は、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がタスクに依存しない、より高品質で汎用的な特徴を学習できて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085760" y="322884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いることを示しています。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542880" y="4286160"/>
            <a:ext cx="1895760" cy="533520"/>
          </a:xfrm>
          <a:custGeom>
            <a:avLst/>
            <a:gdLst/>
            <a:ahLst/>
            <a:rect l="0" t="0" r="r" b="b"/>
            <a:pathLst>
              <a:path w="5266" h="1482">
                <a:moveTo>
                  <a:pt x="0" y="0"/>
                </a:moveTo>
                <a:lnTo>
                  <a:pt x="5266" y="0"/>
                </a:lnTo>
                <a:lnTo>
                  <a:pt x="52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438280" y="4286160"/>
            <a:ext cx="2314800" cy="533520"/>
          </a:xfrm>
          <a:custGeom>
            <a:avLst/>
            <a:gdLst/>
            <a:ahLst/>
            <a:rect l="0" t="0" r="r" b="b"/>
            <a:pathLst>
              <a:path w="6430" h="1482">
                <a:moveTo>
                  <a:pt x="0" y="0"/>
                </a:moveTo>
                <a:lnTo>
                  <a:pt x="6430" y="0"/>
                </a:lnTo>
                <a:lnTo>
                  <a:pt x="64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4752720" y="4286160"/>
            <a:ext cx="1543320" cy="533520"/>
          </a:xfrm>
          <a:custGeom>
            <a:avLst/>
            <a:gdLst/>
            <a:ahLst/>
            <a:rect l="0" t="0" r="r" b="b"/>
            <a:pathLst>
              <a:path w="4287" h="1482">
                <a:moveTo>
                  <a:pt x="0" y="0"/>
                </a:moveTo>
                <a:lnTo>
                  <a:pt x="4287" y="0"/>
                </a:lnTo>
                <a:lnTo>
                  <a:pt x="428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42880" y="4819320"/>
            <a:ext cx="1895760" cy="543600"/>
          </a:xfrm>
          <a:custGeom>
            <a:avLst/>
            <a:gdLst/>
            <a:ahLst/>
            <a:rect l="0" t="0" r="r" b="b"/>
            <a:pathLst>
              <a:path w="5266" h="1510">
                <a:moveTo>
                  <a:pt x="0" y="0"/>
                </a:moveTo>
                <a:lnTo>
                  <a:pt x="5266" y="0"/>
                </a:lnTo>
                <a:lnTo>
                  <a:pt x="526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438280" y="4819320"/>
            <a:ext cx="2314800" cy="543600"/>
          </a:xfrm>
          <a:custGeom>
            <a:avLst/>
            <a:gdLst/>
            <a:ahLst/>
            <a:rect l="0" t="0" r="r" b="b"/>
            <a:pathLst>
              <a:path w="6430" h="1510">
                <a:moveTo>
                  <a:pt x="0" y="0"/>
                </a:moveTo>
                <a:lnTo>
                  <a:pt x="6430" y="0"/>
                </a:lnTo>
                <a:lnTo>
                  <a:pt x="643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752720" y="4819320"/>
            <a:ext cx="1543320" cy="543600"/>
          </a:xfrm>
          <a:custGeom>
            <a:avLst/>
            <a:gdLst/>
            <a:ahLst/>
            <a:rect l="0" t="0" r="r" b="b"/>
            <a:pathLst>
              <a:path w="4287" h="1510">
                <a:moveTo>
                  <a:pt x="0" y="0"/>
                </a:moveTo>
                <a:lnTo>
                  <a:pt x="4287" y="0"/>
                </a:lnTo>
                <a:lnTo>
                  <a:pt x="428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42880" y="5362560"/>
            <a:ext cx="1895760" cy="533520"/>
          </a:xfrm>
          <a:custGeom>
            <a:avLst/>
            <a:gdLst/>
            <a:ahLst/>
            <a:rect l="0" t="0" r="r" b="b"/>
            <a:pathLst>
              <a:path w="5266" h="1482">
                <a:moveTo>
                  <a:pt x="0" y="0"/>
                </a:moveTo>
                <a:lnTo>
                  <a:pt x="5266" y="0"/>
                </a:lnTo>
                <a:lnTo>
                  <a:pt x="5266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438280" y="5362560"/>
            <a:ext cx="2314800" cy="533520"/>
          </a:xfrm>
          <a:custGeom>
            <a:avLst/>
            <a:gdLst/>
            <a:ahLst/>
            <a:rect l="0" t="0" r="r" b="b"/>
            <a:pathLst>
              <a:path w="6430" h="1482">
                <a:moveTo>
                  <a:pt x="0" y="0"/>
                </a:moveTo>
                <a:lnTo>
                  <a:pt x="6430" y="0"/>
                </a:lnTo>
                <a:lnTo>
                  <a:pt x="643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4752720" y="5362560"/>
            <a:ext cx="1543320" cy="533520"/>
          </a:xfrm>
          <a:custGeom>
            <a:avLst/>
            <a:gdLst/>
            <a:ahLst/>
            <a:rect l="0" t="0" r="r" b="b"/>
            <a:pathLst>
              <a:path w="4287" h="1482">
                <a:moveTo>
                  <a:pt x="0" y="0"/>
                </a:moveTo>
                <a:lnTo>
                  <a:pt x="4287" y="0"/>
                </a:lnTo>
                <a:lnTo>
                  <a:pt x="428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542880" y="5895720"/>
            <a:ext cx="1895760" cy="543240"/>
          </a:xfrm>
          <a:custGeom>
            <a:avLst/>
            <a:gdLst/>
            <a:ahLst/>
            <a:rect l="0" t="0" r="r" b="b"/>
            <a:pathLst>
              <a:path w="5266" h="1509">
                <a:moveTo>
                  <a:pt x="0" y="0"/>
                </a:moveTo>
                <a:lnTo>
                  <a:pt x="5266" y="0"/>
                </a:lnTo>
                <a:lnTo>
                  <a:pt x="526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438280" y="5895720"/>
            <a:ext cx="2314800" cy="543240"/>
          </a:xfrm>
          <a:custGeom>
            <a:avLst/>
            <a:gdLst/>
            <a:ahLst/>
            <a:rect l="0" t="0" r="r" b="b"/>
            <a:pathLst>
              <a:path w="6430" h="1509">
                <a:moveTo>
                  <a:pt x="0" y="0"/>
                </a:moveTo>
                <a:lnTo>
                  <a:pt x="6430" y="0"/>
                </a:lnTo>
                <a:lnTo>
                  <a:pt x="64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752720" y="5895720"/>
            <a:ext cx="1543320" cy="543240"/>
          </a:xfrm>
          <a:custGeom>
            <a:avLst/>
            <a:gdLst/>
            <a:ahLst/>
            <a:rect l="0" t="0" r="r" b="b"/>
            <a:pathLst>
              <a:path w="4287" h="1509">
                <a:moveTo>
                  <a:pt x="0" y="0"/>
                </a:moveTo>
                <a:lnTo>
                  <a:pt x="4287" y="0"/>
                </a:lnTo>
                <a:lnTo>
                  <a:pt x="428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33160" y="42764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533160" y="427644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438280" y="42764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447640" y="4276440"/>
            <a:ext cx="2315160" cy="10080"/>
          </a:xfrm>
          <a:custGeom>
            <a:avLst/>
            <a:gdLst/>
            <a:ahLst/>
            <a:rect l="0" t="0" r="r" b="b"/>
            <a:pathLst>
              <a:path w="6431" h="28">
                <a:moveTo>
                  <a:pt x="0" y="0"/>
                </a:moveTo>
                <a:lnTo>
                  <a:pt x="6431" y="0"/>
                </a:lnTo>
                <a:lnTo>
                  <a:pt x="6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752720" y="42764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4762440" y="427644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295680" y="42764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33160" y="481932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447640" y="4819320"/>
            <a:ext cx="2315160" cy="10080"/>
          </a:xfrm>
          <a:custGeom>
            <a:avLst/>
            <a:gdLst/>
            <a:ahLst/>
            <a:rect l="0" t="0" r="r" b="b"/>
            <a:pathLst>
              <a:path w="6431" h="28">
                <a:moveTo>
                  <a:pt x="0" y="0"/>
                </a:moveTo>
                <a:lnTo>
                  <a:pt x="6431" y="0"/>
                </a:lnTo>
                <a:lnTo>
                  <a:pt x="6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762440" y="481932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33160" y="4829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438280" y="482904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752720" y="4829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295680" y="48290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33160" y="5362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33160" y="535284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438280" y="536256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447640" y="5352840"/>
            <a:ext cx="2315160" cy="10080"/>
          </a:xfrm>
          <a:custGeom>
            <a:avLst/>
            <a:gdLst/>
            <a:ahLst/>
            <a:rect l="0" t="0" r="r" b="b"/>
            <a:pathLst>
              <a:path w="6431" h="28">
                <a:moveTo>
                  <a:pt x="0" y="0"/>
                </a:moveTo>
                <a:lnTo>
                  <a:pt x="6431" y="0"/>
                </a:lnTo>
                <a:lnTo>
                  <a:pt x="6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752720" y="5362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4762440" y="535284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295680" y="536256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33160" y="5905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33160" y="5895720"/>
            <a:ext cx="1914840" cy="10080"/>
          </a:xfrm>
          <a:custGeom>
            <a:avLst/>
            <a:gdLst/>
            <a:ahLst/>
            <a:rect l="0" t="0" r="r" b="b"/>
            <a:pathLst>
              <a:path w="5319" h="28">
                <a:moveTo>
                  <a:pt x="0" y="0"/>
                </a:moveTo>
                <a:lnTo>
                  <a:pt x="5319" y="0"/>
                </a:lnTo>
                <a:lnTo>
                  <a:pt x="53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438280" y="59054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447640" y="5895720"/>
            <a:ext cx="2315160" cy="10080"/>
          </a:xfrm>
          <a:custGeom>
            <a:avLst/>
            <a:gdLst/>
            <a:ahLst/>
            <a:rect l="0" t="0" r="r" b="b"/>
            <a:pathLst>
              <a:path w="6431" h="28">
                <a:moveTo>
                  <a:pt x="0" y="0"/>
                </a:moveTo>
                <a:lnTo>
                  <a:pt x="6431" y="0"/>
                </a:lnTo>
                <a:lnTo>
                  <a:pt x="6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4752720" y="5905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762440" y="5895720"/>
            <a:ext cx="1543320" cy="10080"/>
          </a:xfrm>
          <a:custGeom>
            <a:avLst/>
            <a:gdLst/>
            <a:ahLst/>
            <a:rect l="0" t="0" r="r" b="b"/>
            <a:pathLst>
              <a:path w="4287" h="28">
                <a:moveTo>
                  <a:pt x="0" y="0"/>
                </a:moveTo>
                <a:lnTo>
                  <a:pt x="4287" y="0"/>
                </a:lnTo>
                <a:lnTo>
                  <a:pt x="42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295680" y="59054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33520" y="3800520"/>
            <a:ext cx="4674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Table 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を元にした比較表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66720" y="4371840"/>
            <a:ext cx="3620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バックボーン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mAP @ [.5, .95]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4885560" y="4371840"/>
            <a:ext cx="11559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mAP @ 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666720" y="4914720"/>
            <a:ext cx="956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VGG-16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329640" y="491472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21.2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259240" y="491472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41.5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666720" y="5448240"/>
            <a:ext cx="14241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ResNet-101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308760" y="544824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27.2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238360" y="5448240"/>
            <a:ext cx="5324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48.4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666720" y="59911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向上率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220560" y="5991120"/>
            <a:ext cx="691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+28%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150160" y="5991120"/>
            <a:ext cx="69120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+17%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914400" y="392400"/>
            <a:ext cx="36298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学習された特徴の汎用性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34" name=""/>
          <p:cNvSpPr txBox="1"/>
          <p:nvPr/>
        </p:nvSpPr>
        <p:spPr>
          <a:xfrm>
            <a:off x="533520" y="923760"/>
            <a:ext cx="7405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の層の応答は、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より小さい傾向にあります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809280" y="2504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33520" y="1438200"/>
            <a:ext cx="7274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Figure 7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。各層の出力の標準偏差を示すグラフ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085760" y="2362320"/>
            <a:ext cx="4740480" cy="43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の層の応答（</a:t>
            </a:r>
            <a:r>
              <a:rPr b="0" lang="en-US" sz="2170" spc="-1" strike="noStrike">
                <a:solidFill>
                  <a:srgbClr val="111111"/>
                </a:solidFill>
                <a:latin typeface="NotoSansMath"/>
                <a:ea typeface="NotoSansMath"/>
              </a:rPr>
              <a:t>≒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学習された残差 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328800" y="2362320"/>
            <a:ext cx="5227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の大きさ）は、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Plain 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に比べて全体的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8092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6"/>
                  <a:pt x="219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85760" y="2771640"/>
            <a:ext cx="3586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に小さいことがわかります。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809280" y="38858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2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3"/>
                  <a:pt x="146" y="293"/>
                </a:cubicBezTo>
                <a:cubicBezTo>
                  <a:pt x="136" y="293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2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085760" y="3257640"/>
            <a:ext cx="8814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特に深い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110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層）ほど、応答が小さくなる傾向があります。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085760" y="374328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これは、多くの層が恒等写像に近い、つまり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「何もしない」に近い振る舞いをしてい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085760" y="4152960"/>
            <a:ext cx="74484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る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ことを示唆しており、残差学習の仮説を裏付けています。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14400" y="392400"/>
            <a:ext cx="447228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考察：残差は本当に学習されているか？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5803560" y="2356200"/>
            <a:ext cx="49140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F (x)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54" name=""/>
          <p:cNvSpPr txBox="1"/>
          <p:nvPr/>
        </p:nvSpPr>
        <p:spPr>
          <a:xfrm>
            <a:off x="533520" y="9237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本研究の貢献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33520" y="1438200"/>
            <a:ext cx="6548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Degradation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問題を解決する「深層残差学習」を提案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33520" y="1847880"/>
            <a:ext cx="10758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ショートカットコネクションにより、超深層ネットワークの最適化を可能にしました。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33520" y="2266920"/>
            <a:ext cx="466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152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層の超深層モデルで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SOTA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を達成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33520" y="2676600"/>
            <a:ext cx="9820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コンペで優勝し、深層学習の性能を新たな次元へと引き上げました。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33520" y="309564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現代の深層学習モデルの基礎を構築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33520" y="3505320"/>
            <a:ext cx="10868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は画像認識だけでなく、物体検出など多くのタスクの標準的なバックボーンとな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533520" y="3924360"/>
            <a:ext cx="57934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り、その後の研究に絶大な影響を与えました。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14400" y="392400"/>
            <a:ext cx="745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