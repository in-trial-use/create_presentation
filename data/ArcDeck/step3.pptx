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 name=""/>
          <p:cNvSpPr txBox="1"/>
          <p:nvPr/>
        </p:nvSpPr>
        <p:spPr>
          <a:xfrm>
            <a:off x="4926240" y="1859400"/>
            <a:ext cx="2411640" cy="361440"/>
          </a:xfrm>
          <a:prstGeom prst="rect">
            <a:avLst/>
          </a:prstGeom>
          <a:noFill/>
          <a:ln w="0">
            <a:noFill/>
          </a:ln>
        </p:spPr>
        <p:txBody>
          <a:bodyPr wrap="none" lIns="0" rIns="0" tIns="0" bIns="0" anchor="t">
            <a:noAutofit/>
          </a:bodyPr>
          <a:p>
            <a:r>
              <a:rPr b="0" lang="zh-CN" sz="1950" spc="-1" strike="noStrike">
                <a:solidFill>
                  <a:srgbClr val="0b4b78"/>
                </a:solidFill>
                <a:latin typeface="NotoSansJP"/>
                <a:ea typeface="NotoSansJP"/>
              </a:rPr>
              <a:t>論文紹介 </a:t>
            </a:r>
            <a:r>
              <a:rPr b="0" lang="en-US" sz="1950" spc="-1" strike="noStrike">
                <a:solidFill>
                  <a:srgbClr val="0b4b78"/>
                </a:solidFill>
                <a:latin typeface="NotoSansJP"/>
                <a:ea typeface="NotoSansJP"/>
              </a:rPr>
              <a:t>2026/06/06</a:t>
            </a:r>
            <a:endParaRPr b="0" lang="en-US" sz="1950" spc="-1" strike="noStrike">
              <a:solidFill>
                <a:srgbClr val="000000"/>
              </a:solidFill>
              <a:latin typeface="Times New Roman"/>
            </a:endParaRPr>
          </a:p>
        </p:txBody>
      </p:sp>
      <p:pic>
        <p:nvPicPr>
          <p:cNvPr id="8" name="" descr=""/>
          <p:cNvPicPr/>
          <p:nvPr/>
        </p:nvPicPr>
        <p:blipFill>
          <a:blip r:embed="rId1"/>
          <a:stretch/>
        </p:blipFill>
        <p:spPr>
          <a:xfrm>
            <a:off x="4809960" y="-190440"/>
            <a:ext cx="2571480" cy="2571480"/>
          </a:xfrm>
          <a:prstGeom prst="rect">
            <a:avLst/>
          </a:prstGeom>
          <a:ln w="0">
            <a:noFill/>
          </a:ln>
        </p:spPr>
      </p:pic>
      <p:sp>
        <p:nvSpPr>
          <p:cNvPr id="9" name=""/>
          <p:cNvSpPr/>
          <p:nvPr/>
        </p:nvSpPr>
        <p:spPr>
          <a:xfrm>
            <a:off x="0" y="3771720"/>
            <a:ext cx="12192120" cy="3086280"/>
          </a:xfrm>
          <a:custGeom>
            <a:avLst/>
            <a:gdLst/>
            <a:ahLst/>
            <a:rect l="0" t="0" r="r" b="b"/>
            <a:pathLst>
              <a:path w="33867" h="8573">
                <a:moveTo>
                  <a:pt x="0" y="0"/>
                </a:moveTo>
                <a:lnTo>
                  <a:pt x="33867" y="0"/>
                </a:lnTo>
                <a:lnTo>
                  <a:pt x="33867" y="8573"/>
                </a:lnTo>
                <a:lnTo>
                  <a:pt x="0" y="8573"/>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 name=""/>
          <p:cNvSpPr txBox="1"/>
          <p:nvPr/>
        </p:nvSpPr>
        <p:spPr>
          <a:xfrm>
            <a:off x="5140080" y="2500920"/>
            <a:ext cx="1709280" cy="651240"/>
          </a:xfrm>
          <a:prstGeom prst="rect">
            <a:avLst/>
          </a:prstGeom>
          <a:noFill/>
          <a:ln w="0">
            <a:noFill/>
          </a:ln>
        </p:spPr>
        <p:txBody>
          <a:bodyPr wrap="none" lIns="0" rIns="0" tIns="0" bIns="0" anchor="t">
            <a:noAutofit/>
          </a:bodyPr>
          <a:p>
            <a:r>
              <a:rPr b="0" lang="en-US" sz="3750" spc="-1" strike="noStrike">
                <a:solidFill>
                  <a:srgbClr val="0b4b78"/>
                </a:solidFill>
                <a:latin typeface="NotoSansJP"/>
                <a:ea typeface="NotoSansJP"/>
              </a:rPr>
              <a:t>ArcDeck</a:t>
            </a:r>
            <a:endParaRPr b="0" lang="en-US" sz="3750" spc="-1" strike="noStrike">
              <a:solidFill>
                <a:srgbClr val="000000"/>
              </a:solidFill>
              <a:latin typeface="Times New Roman"/>
            </a:endParaRPr>
          </a:p>
        </p:txBody>
      </p:sp>
      <p:sp>
        <p:nvSpPr>
          <p:cNvPr id="11" name=""/>
          <p:cNvSpPr txBox="1"/>
          <p:nvPr/>
        </p:nvSpPr>
        <p:spPr>
          <a:xfrm>
            <a:off x="4084920" y="4537080"/>
            <a:ext cx="3886920" cy="331200"/>
          </a:xfrm>
          <a:prstGeom prst="rect">
            <a:avLst/>
          </a:prstGeom>
          <a:noFill/>
          <a:ln w="0">
            <a:noFill/>
          </a:ln>
        </p:spPr>
        <p:txBody>
          <a:bodyPr wrap="none" lIns="0" rIns="0" tIns="0" bIns="0" anchor="t">
            <a:noAutofit/>
          </a:bodyPr>
          <a:p>
            <a:r>
              <a:rPr b="0" lang="zh-CN" sz="1800" spc="-1" strike="noStrike">
                <a:solidFill>
                  <a:srgbClr val="ffffff"/>
                </a:solidFill>
                <a:latin typeface="NotoSansJP"/>
                <a:ea typeface="NotoSansJP"/>
              </a:rPr>
              <a:t>京都大学工学部情報学科数理工学コー</a:t>
            </a:r>
            <a:endParaRPr b="0" lang="en-US" sz="1800" spc="-1" strike="noStrike">
              <a:solidFill>
                <a:srgbClr val="000000"/>
              </a:solidFill>
              <a:latin typeface="Times New Roman"/>
            </a:endParaRPr>
          </a:p>
        </p:txBody>
      </p:sp>
      <p:sp>
        <p:nvSpPr>
          <p:cNvPr id="12" name=""/>
          <p:cNvSpPr txBox="1"/>
          <p:nvPr/>
        </p:nvSpPr>
        <p:spPr>
          <a:xfrm>
            <a:off x="5913720" y="4880160"/>
            <a:ext cx="229320" cy="331200"/>
          </a:xfrm>
          <a:prstGeom prst="rect">
            <a:avLst/>
          </a:prstGeom>
          <a:noFill/>
          <a:ln w="0">
            <a:noFill/>
          </a:ln>
        </p:spPr>
        <p:txBody>
          <a:bodyPr wrap="none" lIns="0" rIns="0" tIns="0" bIns="0" anchor="t">
            <a:noAutofit/>
          </a:bodyPr>
          <a:p>
            <a:r>
              <a:rPr b="0" lang="zh-CN" sz="1800" spc="-1" strike="noStrike">
                <a:solidFill>
                  <a:srgbClr val="ffffff"/>
                </a:solidFill>
                <a:latin typeface="NotoSansJP"/>
                <a:ea typeface="NotoSansJP"/>
              </a:rPr>
              <a:t>ス</a:t>
            </a:r>
            <a:endParaRPr b="0" lang="en-US" sz="1800" spc="-1" strike="noStrike">
              <a:solidFill>
                <a:srgbClr val="000000"/>
              </a:solidFill>
              <a:latin typeface="Times New Roman"/>
            </a:endParaRPr>
          </a:p>
        </p:txBody>
      </p:sp>
      <p:sp>
        <p:nvSpPr>
          <p:cNvPr id="13" name=""/>
          <p:cNvSpPr txBox="1"/>
          <p:nvPr/>
        </p:nvSpPr>
        <p:spPr>
          <a:xfrm>
            <a:off x="5313600" y="5457240"/>
            <a:ext cx="1433160" cy="415080"/>
          </a:xfrm>
          <a:prstGeom prst="rect">
            <a:avLst/>
          </a:prstGeom>
          <a:noFill/>
          <a:ln w="0">
            <a:noFill/>
          </a:ln>
        </p:spPr>
        <p:txBody>
          <a:bodyPr wrap="none" lIns="0" rIns="0" tIns="0" bIns="0" anchor="t">
            <a:noAutofit/>
          </a:bodyPr>
          <a:p>
            <a:r>
              <a:rPr b="0" lang="zh-CN" sz="2250" spc="-1" strike="noStrike">
                <a:solidFill>
                  <a:srgbClr val="ffffff"/>
                </a:solidFill>
                <a:latin typeface="NotoSansJP"/>
                <a:ea typeface="NotoSansJP"/>
              </a:rPr>
              <a:t>知能　太郎</a:t>
            </a:r>
            <a:endParaRPr b="0" lang="en-US" sz="2250" spc="-1" strike="noStrike">
              <a:solidFill>
                <a:srgbClr val="000000"/>
              </a:solidFill>
              <a:latin typeface="Times New Roman"/>
            </a:endParaRPr>
          </a:p>
        </p:txBody>
      </p:sp>
      <p:sp>
        <p:nvSpPr>
          <p:cNvPr id="14"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8" name=""/>
          <p:cNvSpPr txBox="1"/>
          <p:nvPr/>
        </p:nvSpPr>
        <p:spPr>
          <a:xfrm>
            <a:off x="3009960" y="2436480"/>
            <a:ext cx="192780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1. </a:t>
            </a:r>
            <a:r>
              <a:rPr b="0" lang="zh-CN" sz="2400" spc="-1" strike="noStrike">
                <a:solidFill>
                  <a:srgbClr val="0b4b78"/>
                </a:solidFill>
                <a:latin typeface="NotoSansJP"/>
                <a:ea typeface="NotoSansJP"/>
              </a:rPr>
              <a:t>背景と課題</a:t>
            </a:r>
            <a:endParaRPr b="0" lang="en-US" sz="2400" spc="-1" strike="noStrike">
              <a:solidFill>
                <a:srgbClr val="000000"/>
              </a:solidFill>
              <a:latin typeface="Times New Roman"/>
            </a:endParaRPr>
          </a:p>
        </p:txBody>
      </p:sp>
      <p:sp>
        <p:nvSpPr>
          <p:cNvPr id="19" name=""/>
          <p:cNvSpPr txBox="1"/>
          <p:nvPr/>
        </p:nvSpPr>
        <p:spPr>
          <a:xfrm>
            <a:off x="3009960" y="2893680"/>
            <a:ext cx="310716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2. </a:t>
            </a:r>
            <a:r>
              <a:rPr b="0" lang="zh-CN" sz="2400" spc="-1" strike="noStrike">
                <a:solidFill>
                  <a:srgbClr val="0b4b78"/>
                </a:solidFill>
                <a:latin typeface="NotoSansJP"/>
                <a:ea typeface="NotoSansJP"/>
              </a:rPr>
              <a:t>提案手法：</a:t>
            </a:r>
            <a:r>
              <a:rPr b="0" lang="en-US" sz="2400" spc="-1" strike="noStrike">
                <a:solidFill>
                  <a:srgbClr val="0b4b78"/>
                </a:solidFill>
                <a:latin typeface="NotoSansJP"/>
                <a:ea typeface="NotoSansJP"/>
              </a:rPr>
              <a:t>ArcDeck</a:t>
            </a:r>
            <a:endParaRPr b="0" lang="en-US" sz="2400" spc="-1" strike="noStrike">
              <a:solidFill>
                <a:srgbClr val="000000"/>
              </a:solidFill>
              <a:latin typeface="Times New Roman"/>
            </a:endParaRPr>
          </a:p>
        </p:txBody>
      </p:sp>
      <p:sp>
        <p:nvSpPr>
          <p:cNvPr id="20" name=""/>
          <p:cNvSpPr txBox="1"/>
          <p:nvPr/>
        </p:nvSpPr>
        <p:spPr>
          <a:xfrm>
            <a:off x="3009960" y="3350880"/>
            <a:ext cx="192780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3. </a:t>
            </a:r>
            <a:r>
              <a:rPr b="0" lang="zh-CN" sz="2400" spc="-1" strike="noStrike">
                <a:solidFill>
                  <a:srgbClr val="0b4b78"/>
                </a:solidFill>
                <a:latin typeface="NotoSansJP"/>
                <a:ea typeface="NotoSansJP"/>
              </a:rPr>
              <a:t>実験と結果</a:t>
            </a:r>
            <a:endParaRPr b="0" lang="en-US" sz="2400" spc="-1" strike="noStrike">
              <a:solidFill>
                <a:srgbClr val="000000"/>
              </a:solidFill>
              <a:latin typeface="Times New Roman"/>
            </a:endParaRPr>
          </a:p>
        </p:txBody>
      </p:sp>
      <p:sp>
        <p:nvSpPr>
          <p:cNvPr id="21" name=""/>
          <p:cNvSpPr txBox="1"/>
          <p:nvPr/>
        </p:nvSpPr>
        <p:spPr>
          <a:xfrm>
            <a:off x="3009960" y="3808080"/>
            <a:ext cx="131832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4. </a:t>
            </a:r>
            <a:r>
              <a:rPr b="0" lang="zh-CN" sz="2400" spc="-1" strike="noStrike">
                <a:solidFill>
                  <a:srgbClr val="0b4b78"/>
                </a:solidFill>
                <a:latin typeface="NotoSansJP"/>
                <a:ea typeface="NotoSansJP"/>
              </a:rPr>
              <a:t>まとめ</a:t>
            </a:r>
            <a:endParaRPr b="0" lang="en-US" sz="2400" spc="-1" strike="noStrike">
              <a:solidFill>
                <a:srgbClr val="000000"/>
              </a:solidFill>
              <a:latin typeface="Times New Roman"/>
            </a:endParaRPr>
          </a:p>
        </p:txBody>
      </p:sp>
      <p:sp>
        <p:nvSpPr>
          <p:cNvPr id="22" name=""/>
          <p:cNvSpPr/>
          <p:nvPr/>
        </p:nvSpPr>
        <p:spPr>
          <a:xfrm>
            <a:off x="209520" y="266400"/>
            <a:ext cx="152640" cy="305280"/>
          </a:xfrm>
          <a:custGeom>
            <a:avLst/>
            <a:gdLst/>
            <a:ahLst/>
            <a:rect l="0" t="0" r="r" b="b"/>
            <a:pathLst>
              <a:path w="424" h="848">
                <a:moveTo>
                  <a:pt x="0" y="0"/>
                </a:moveTo>
                <a:lnTo>
                  <a:pt x="424" y="0"/>
                </a:lnTo>
                <a:lnTo>
                  <a:pt x="424" y="848"/>
                </a:lnTo>
                <a:lnTo>
                  <a:pt x="0" y="848"/>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pic>
        <p:nvPicPr>
          <p:cNvPr id="23" name="" descr=""/>
          <p:cNvPicPr/>
          <p:nvPr/>
        </p:nvPicPr>
        <p:blipFill>
          <a:blip r:embed="rId1"/>
          <a:stretch/>
        </p:blipFill>
        <p:spPr>
          <a:xfrm>
            <a:off x="10744200" y="-219240"/>
            <a:ext cx="1256760" cy="1256760"/>
          </a:xfrm>
          <a:prstGeom prst="rect">
            <a:avLst/>
          </a:prstGeom>
          <a:ln w="0">
            <a:noFill/>
          </a:ln>
        </p:spPr>
      </p:pic>
      <p:sp>
        <p:nvSpPr>
          <p:cNvPr id="24" name=""/>
          <p:cNvSpPr/>
          <p:nvPr/>
        </p:nvSpPr>
        <p:spPr>
          <a:xfrm>
            <a:off x="2666880" y="25621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 name=""/>
          <p:cNvSpPr/>
          <p:nvPr/>
        </p:nvSpPr>
        <p:spPr>
          <a:xfrm>
            <a:off x="2666880" y="30193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 name=""/>
          <p:cNvSpPr/>
          <p:nvPr/>
        </p:nvSpPr>
        <p:spPr>
          <a:xfrm>
            <a:off x="2666880" y="34765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 name=""/>
          <p:cNvSpPr/>
          <p:nvPr/>
        </p:nvSpPr>
        <p:spPr>
          <a:xfrm>
            <a:off x="2666880" y="39337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 name=""/>
          <p:cNvSpPr txBox="1"/>
          <p:nvPr/>
        </p:nvSpPr>
        <p:spPr>
          <a:xfrm>
            <a:off x="495360" y="187200"/>
            <a:ext cx="1623960" cy="469800"/>
          </a:xfrm>
          <a:prstGeom prst="rect">
            <a:avLst/>
          </a:prstGeom>
          <a:noFill/>
          <a:ln w="0">
            <a:noFill/>
          </a:ln>
        </p:spPr>
        <p:txBody>
          <a:bodyPr wrap="none" lIns="0" rIns="0" tIns="0" bIns="0" anchor="t">
            <a:noAutofit/>
          </a:bodyPr>
          <a:p>
            <a:r>
              <a:rPr b="0" lang="zh-CN" sz="2550" spc="-1" strike="noStrike">
                <a:solidFill>
                  <a:srgbClr val="111111"/>
                </a:solidFill>
                <a:latin typeface="NotoSansJP"/>
                <a:ea typeface="NotoSansJP"/>
              </a:rPr>
              <a:t>アジェンダ</a:t>
            </a:r>
            <a:endParaRPr b="0" lang="en-US" sz="2550" spc="-1" strike="noStrike">
              <a:solidFill>
                <a:srgbClr val="000000"/>
              </a:solidFill>
              <a:latin typeface="Times New Roman"/>
            </a:endParaRPr>
          </a:p>
        </p:txBody>
      </p:sp>
      <p:sp>
        <p:nvSpPr>
          <p:cNvPr id="2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2</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3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34" name="" descr=""/>
          <p:cNvPicPr/>
          <p:nvPr/>
        </p:nvPicPr>
        <p:blipFill>
          <a:blip r:embed="rId1"/>
          <a:stretch/>
        </p:blipFill>
        <p:spPr>
          <a:xfrm>
            <a:off x="10515600" y="38160"/>
            <a:ext cx="1142640" cy="1142640"/>
          </a:xfrm>
          <a:prstGeom prst="rect">
            <a:avLst/>
          </a:prstGeom>
          <a:ln w="0">
            <a:noFill/>
          </a:ln>
        </p:spPr>
      </p:pic>
      <p:sp>
        <p:nvSpPr>
          <p:cNvPr id="35" name=""/>
          <p:cNvSpPr txBox="1"/>
          <p:nvPr/>
        </p:nvSpPr>
        <p:spPr>
          <a:xfrm>
            <a:off x="533520" y="1343160"/>
            <a:ext cx="8827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学術論文から高品質なスライドを作成するのは非常に複雑な作業です。</a:t>
            </a:r>
            <a:endParaRPr b="0" lang="en-US" sz="2170" spc="-1" strike="noStrike">
              <a:solidFill>
                <a:srgbClr val="000000"/>
              </a:solidFill>
              <a:latin typeface="Times New Roman"/>
            </a:endParaRPr>
          </a:p>
        </p:txBody>
      </p:sp>
      <p:sp>
        <p:nvSpPr>
          <p:cNvPr id="36" name=""/>
          <p:cNvSpPr/>
          <p:nvPr/>
        </p:nvSpPr>
        <p:spPr>
          <a:xfrm>
            <a:off x="809280" y="2409480"/>
            <a:ext cx="105120" cy="105120"/>
          </a:xfrm>
          <a:custGeom>
            <a:avLst/>
            <a:gdLst/>
            <a:ahLst/>
            <a:rect l="0" t="0" r="r" b="b"/>
            <a:pathLst>
              <a:path w="292" h="292">
                <a:moveTo>
                  <a:pt x="292" y="147"/>
                </a:moveTo>
                <a:cubicBezTo>
                  <a:pt x="292" y="157"/>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7"/>
                  <a:pt x="0" y="147"/>
                </a:cubicBezTo>
                <a:cubicBezTo>
                  <a:pt x="0" y="136"/>
                  <a:pt x="1" y="127"/>
                  <a:pt x="3" y="118"/>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2"/>
                </a:cubicBezTo>
                <a:cubicBezTo>
                  <a:pt x="99" y="8"/>
                  <a:pt x="108" y="5"/>
                  <a:pt x="118" y="3"/>
                </a:cubicBezTo>
                <a:cubicBezTo>
                  <a:pt x="127" y="1"/>
                  <a:pt x="136" y="0"/>
                  <a:pt x="146" y="0"/>
                </a:cubicBezTo>
                <a:cubicBezTo>
                  <a:pt x="156" y="0"/>
                  <a:pt x="165" y="1"/>
                  <a:pt x="174" y="3"/>
                </a:cubicBezTo>
                <a:cubicBezTo>
                  <a:pt x="184" y="5"/>
                  <a:pt x="193" y="8"/>
                  <a:pt x="202" y="12"/>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8"/>
                </a:cubicBezTo>
                <a:cubicBezTo>
                  <a:pt x="292" y="127"/>
                  <a:pt x="292" y="136"/>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37" name=""/>
          <p:cNvSpPr txBox="1"/>
          <p:nvPr/>
        </p:nvSpPr>
        <p:spPr>
          <a:xfrm>
            <a:off x="2280960" y="1752480"/>
            <a:ext cx="19317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求められること</a:t>
            </a:r>
            <a:endParaRPr b="0" lang="en-US" sz="2170" spc="-1" strike="noStrike">
              <a:solidFill>
                <a:srgbClr val="000000"/>
              </a:solidFill>
              <a:latin typeface="Times New Roman"/>
            </a:endParaRPr>
          </a:p>
        </p:txBody>
      </p:sp>
      <p:sp>
        <p:nvSpPr>
          <p:cNvPr id="38" name=""/>
          <p:cNvSpPr/>
          <p:nvPr/>
        </p:nvSpPr>
        <p:spPr>
          <a:xfrm>
            <a:off x="809280" y="2895480"/>
            <a:ext cx="105120" cy="105120"/>
          </a:xfrm>
          <a:custGeom>
            <a:avLst/>
            <a:gdLst/>
            <a:ahLst/>
            <a:rect l="0" t="0" r="r" b="b"/>
            <a:pathLst>
              <a:path w="292" h="292">
                <a:moveTo>
                  <a:pt x="292" y="145"/>
                </a:moveTo>
                <a:cubicBezTo>
                  <a:pt x="292" y="155"/>
                  <a:pt x="292" y="164"/>
                  <a:pt x="290" y="174"/>
                </a:cubicBezTo>
                <a:cubicBezTo>
                  <a:pt x="288" y="183"/>
                  <a:pt x="285" y="192"/>
                  <a:pt x="281" y="201"/>
                </a:cubicBezTo>
                <a:cubicBezTo>
                  <a:pt x="278" y="210"/>
                  <a:pt x="273" y="218"/>
                  <a:pt x="268" y="226"/>
                </a:cubicBezTo>
                <a:cubicBezTo>
                  <a:pt x="263" y="234"/>
                  <a:pt x="257" y="241"/>
                  <a:pt x="250" y="248"/>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8"/>
                </a:cubicBezTo>
                <a:cubicBezTo>
                  <a:pt x="36" y="241"/>
                  <a:pt x="30" y="234"/>
                  <a:pt x="25" y="226"/>
                </a:cubicBezTo>
                <a:cubicBezTo>
                  <a:pt x="20" y="218"/>
                  <a:pt x="15" y="210"/>
                  <a:pt x="12" y="201"/>
                </a:cubicBezTo>
                <a:cubicBezTo>
                  <a:pt x="8" y="192"/>
                  <a:pt x="5" y="183"/>
                  <a:pt x="3" y="174"/>
                </a:cubicBezTo>
                <a:cubicBezTo>
                  <a:pt x="1" y="164"/>
                  <a:pt x="0" y="155"/>
                  <a:pt x="0" y="145"/>
                </a:cubicBezTo>
                <a:cubicBezTo>
                  <a:pt x="0" y="136"/>
                  <a:pt x="1" y="126"/>
                  <a:pt x="3" y="117"/>
                </a:cubicBezTo>
                <a:cubicBezTo>
                  <a:pt x="5" y="108"/>
                  <a:pt x="8" y="98"/>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8"/>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39" name=""/>
          <p:cNvSpPr txBox="1"/>
          <p:nvPr/>
        </p:nvSpPr>
        <p:spPr>
          <a:xfrm>
            <a:off x="1085760" y="2266920"/>
            <a:ext cx="33109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密な技術内容を簡潔に要約</a:t>
            </a:r>
            <a:endParaRPr b="0" lang="en-US" sz="2170" spc="-1" strike="noStrike">
              <a:solidFill>
                <a:srgbClr val="000000"/>
              </a:solidFill>
              <a:latin typeface="Times New Roman"/>
            </a:endParaRPr>
          </a:p>
        </p:txBody>
      </p:sp>
      <p:sp>
        <p:nvSpPr>
          <p:cNvPr id="40" name=""/>
          <p:cNvSpPr/>
          <p:nvPr/>
        </p:nvSpPr>
        <p:spPr>
          <a:xfrm>
            <a:off x="809280" y="337176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5"/>
                  <a:pt x="0" y="156"/>
                  <a:pt x="0" y="146"/>
                </a:cubicBezTo>
                <a:cubicBezTo>
                  <a:pt x="0" y="137"/>
                  <a:pt x="1" y="127"/>
                  <a:pt x="3" y="118"/>
                </a:cubicBezTo>
                <a:cubicBezTo>
                  <a:pt x="5" y="109"/>
                  <a:pt x="8" y="99"/>
                  <a:pt x="12" y="90"/>
                </a:cubicBezTo>
                <a:cubicBezTo>
                  <a:pt x="15" y="81"/>
                  <a:pt x="20" y="72"/>
                  <a:pt x="25" y="64"/>
                </a:cubicBezTo>
                <a:cubicBezTo>
                  <a:pt x="30" y="56"/>
                  <a:pt x="36" y="49"/>
                  <a:pt x="43" y="42"/>
                </a:cubicBezTo>
                <a:cubicBezTo>
                  <a:pt x="50" y="36"/>
                  <a:pt x="57" y="30"/>
                  <a:pt x="65" y="24"/>
                </a:cubicBezTo>
                <a:cubicBezTo>
                  <a:pt x="73" y="19"/>
                  <a:pt x="81" y="14"/>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4"/>
                  <a:pt x="219" y="19"/>
                  <a:pt x="228" y="24"/>
                </a:cubicBezTo>
                <a:cubicBezTo>
                  <a:pt x="236" y="30"/>
                  <a:pt x="243" y="36"/>
                  <a:pt x="250" y="42"/>
                </a:cubicBezTo>
                <a:cubicBezTo>
                  <a:pt x="257" y="49"/>
                  <a:pt x="263" y="56"/>
                  <a:pt x="268" y="64"/>
                </a:cubicBezTo>
                <a:cubicBezTo>
                  <a:pt x="273" y="72"/>
                  <a:pt x="278" y="81"/>
                  <a:pt x="281" y="90"/>
                </a:cubicBezTo>
                <a:cubicBezTo>
                  <a:pt x="285" y="99"/>
                  <a:pt x="288" y="109"/>
                  <a:pt x="290" y="118"/>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1" name=""/>
          <p:cNvSpPr txBox="1"/>
          <p:nvPr/>
        </p:nvSpPr>
        <p:spPr>
          <a:xfrm>
            <a:off x="1085760" y="275256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一貫した物語性（ナラティブ）の維持</a:t>
            </a:r>
            <a:endParaRPr b="0" lang="en-US" sz="2170" spc="-1" strike="noStrike">
              <a:solidFill>
                <a:srgbClr val="000000"/>
              </a:solidFill>
              <a:latin typeface="Times New Roman"/>
            </a:endParaRPr>
          </a:p>
        </p:txBody>
      </p:sp>
      <p:sp>
        <p:nvSpPr>
          <p:cNvPr id="42" name=""/>
          <p:cNvSpPr txBox="1"/>
          <p:nvPr/>
        </p:nvSpPr>
        <p:spPr>
          <a:xfrm>
            <a:off x="1085760" y="3228840"/>
            <a:ext cx="27590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視覚的な分かりやすさ</a:t>
            </a:r>
            <a:endParaRPr b="0" lang="en-US" sz="2170" spc="-1" strike="noStrike">
              <a:solidFill>
                <a:srgbClr val="000000"/>
              </a:solidFill>
              <a:latin typeface="Times New Roman"/>
            </a:endParaRPr>
          </a:p>
        </p:txBody>
      </p:sp>
      <p:sp>
        <p:nvSpPr>
          <p:cNvPr id="43" name=""/>
          <p:cNvSpPr/>
          <p:nvPr/>
        </p:nvSpPr>
        <p:spPr>
          <a:xfrm>
            <a:off x="6505560" y="2409480"/>
            <a:ext cx="105120" cy="105120"/>
          </a:xfrm>
          <a:custGeom>
            <a:avLst/>
            <a:gdLst/>
            <a:ahLst/>
            <a:rect l="0" t="0" r="r" b="b"/>
            <a:pathLst>
              <a:path w="292" h="292">
                <a:moveTo>
                  <a:pt x="292" y="147"/>
                </a:moveTo>
                <a:cubicBezTo>
                  <a:pt x="292" y="157"/>
                  <a:pt x="291" y="166"/>
                  <a:pt x="289" y="175"/>
                </a:cubicBezTo>
                <a:cubicBezTo>
                  <a:pt x="287" y="185"/>
                  <a:pt x="284" y="194"/>
                  <a:pt x="281" y="203"/>
                </a:cubicBezTo>
                <a:cubicBezTo>
                  <a:pt x="277" y="211"/>
                  <a:pt x="272" y="220"/>
                  <a:pt x="267" y="228"/>
                </a:cubicBezTo>
                <a:cubicBezTo>
                  <a:pt x="262" y="236"/>
                  <a:pt x="256" y="243"/>
                  <a:pt x="249" y="250"/>
                </a:cubicBezTo>
                <a:cubicBezTo>
                  <a:pt x="242" y="257"/>
                  <a:pt x="235" y="263"/>
                  <a:pt x="227" y="268"/>
                </a:cubicBezTo>
                <a:cubicBezTo>
                  <a:pt x="219" y="273"/>
                  <a:pt x="211" y="278"/>
                  <a:pt x="202" y="281"/>
                </a:cubicBezTo>
                <a:cubicBezTo>
                  <a:pt x="193" y="285"/>
                  <a:pt x="184" y="288"/>
                  <a:pt x="174" y="290"/>
                </a:cubicBezTo>
                <a:cubicBezTo>
                  <a:pt x="165" y="292"/>
                  <a:pt x="156" y="292"/>
                  <a:pt x="146" y="292"/>
                </a:cubicBezTo>
                <a:cubicBezTo>
                  <a:pt x="137" y="292"/>
                  <a:pt x="127" y="292"/>
                  <a:pt x="118" y="290"/>
                </a:cubicBezTo>
                <a:cubicBezTo>
                  <a:pt x="107" y="288"/>
                  <a:pt x="98" y="285"/>
                  <a:pt x="89" y="281"/>
                </a:cubicBezTo>
                <a:cubicBezTo>
                  <a:pt x="81" y="278"/>
                  <a:pt x="72" y="273"/>
                  <a:pt x="64" y="268"/>
                </a:cubicBezTo>
                <a:cubicBezTo>
                  <a:pt x="56" y="263"/>
                  <a:pt x="49" y="257"/>
                  <a:pt x="42" y="250"/>
                </a:cubicBezTo>
                <a:cubicBezTo>
                  <a:pt x="35" y="243"/>
                  <a:pt x="29" y="236"/>
                  <a:pt x="24" y="228"/>
                </a:cubicBezTo>
                <a:cubicBezTo>
                  <a:pt x="19" y="220"/>
                  <a:pt x="14" y="211"/>
                  <a:pt x="11" y="203"/>
                </a:cubicBezTo>
                <a:cubicBezTo>
                  <a:pt x="7" y="194"/>
                  <a:pt x="4" y="185"/>
                  <a:pt x="2" y="175"/>
                </a:cubicBezTo>
                <a:cubicBezTo>
                  <a:pt x="0" y="166"/>
                  <a:pt x="0" y="157"/>
                  <a:pt x="0" y="147"/>
                </a:cubicBezTo>
                <a:cubicBezTo>
                  <a:pt x="0" y="136"/>
                  <a:pt x="0" y="127"/>
                  <a:pt x="2" y="118"/>
                </a:cubicBezTo>
                <a:cubicBezTo>
                  <a:pt x="4" y="108"/>
                  <a:pt x="7" y="99"/>
                  <a:pt x="11" y="90"/>
                </a:cubicBezTo>
                <a:cubicBezTo>
                  <a:pt x="14" y="81"/>
                  <a:pt x="19" y="73"/>
                  <a:pt x="24" y="65"/>
                </a:cubicBezTo>
                <a:cubicBezTo>
                  <a:pt x="29" y="57"/>
                  <a:pt x="35" y="50"/>
                  <a:pt x="42" y="43"/>
                </a:cubicBezTo>
                <a:cubicBezTo>
                  <a:pt x="49" y="36"/>
                  <a:pt x="56" y="30"/>
                  <a:pt x="64" y="25"/>
                </a:cubicBezTo>
                <a:cubicBezTo>
                  <a:pt x="72" y="20"/>
                  <a:pt x="81" y="15"/>
                  <a:pt x="89" y="12"/>
                </a:cubicBezTo>
                <a:cubicBezTo>
                  <a:pt x="98" y="8"/>
                  <a:pt x="107" y="5"/>
                  <a:pt x="118" y="3"/>
                </a:cubicBezTo>
                <a:cubicBezTo>
                  <a:pt x="127" y="1"/>
                  <a:pt x="137" y="0"/>
                  <a:pt x="146" y="0"/>
                </a:cubicBezTo>
                <a:cubicBezTo>
                  <a:pt x="156" y="0"/>
                  <a:pt x="165" y="1"/>
                  <a:pt x="174" y="3"/>
                </a:cubicBezTo>
                <a:cubicBezTo>
                  <a:pt x="184" y="5"/>
                  <a:pt x="193" y="8"/>
                  <a:pt x="202" y="12"/>
                </a:cubicBezTo>
                <a:cubicBezTo>
                  <a:pt x="211" y="15"/>
                  <a:pt x="219" y="20"/>
                  <a:pt x="227" y="25"/>
                </a:cubicBezTo>
                <a:cubicBezTo>
                  <a:pt x="235" y="30"/>
                  <a:pt x="242" y="36"/>
                  <a:pt x="249" y="43"/>
                </a:cubicBezTo>
                <a:cubicBezTo>
                  <a:pt x="256" y="50"/>
                  <a:pt x="262" y="57"/>
                  <a:pt x="267" y="65"/>
                </a:cubicBezTo>
                <a:cubicBezTo>
                  <a:pt x="272" y="73"/>
                  <a:pt x="277" y="81"/>
                  <a:pt x="281" y="90"/>
                </a:cubicBezTo>
                <a:cubicBezTo>
                  <a:pt x="284" y="99"/>
                  <a:pt x="287" y="108"/>
                  <a:pt x="289" y="118"/>
                </a:cubicBezTo>
                <a:cubicBezTo>
                  <a:pt x="291" y="127"/>
                  <a:pt x="292" y="136"/>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4" name=""/>
          <p:cNvSpPr txBox="1"/>
          <p:nvPr/>
        </p:nvSpPr>
        <p:spPr>
          <a:xfrm>
            <a:off x="8115120" y="1752480"/>
            <a:ext cx="16556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自動化の課題</a:t>
            </a:r>
            <a:endParaRPr b="0" lang="en-US" sz="2170" spc="-1" strike="noStrike">
              <a:solidFill>
                <a:srgbClr val="000000"/>
              </a:solidFill>
              <a:latin typeface="Times New Roman"/>
            </a:endParaRPr>
          </a:p>
        </p:txBody>
      </p:sp>
      <p:sp>
        <p:nvSpPr>
          <p:cNvPr id="45" name=""/>
          <p:cNvSpPr/>
          <p:nvPr/>
        </p:nvSpPr>
        <p:spPr>
          <a:xfrm>
            <a:off x="6505560" y="2895480"/>
            <a:ext cx="105120" cy="105120"/>
          </a:xfrm>
          <a:custGeom>
            <a:avLst/>
            <a:gdLst/>
            <a:ahLst/>
            <a:rect l="0" t="0" r="r" b="b"/>
            <a:pathLst>
              <a:path w="292" h="292">
                <a:moveTo>
                  <a:pt x="292" y="145"/>
                </a:moveTo>
                <a:cubicBezTo>
                  <a:pt x="292" y="155"/>
                  <a:pt x="291" y="164"/>
                  <a:pt x="289" y="174"/>
                </a:cubicBezTo>
                <a:cubicBezTo>
                  <a:pt x="287" y="183"/>
                  <a:pt x="284" y="192"/>
                  <a:pt x="281" y="201"/>
                </a:cubicBezTo>
                <a:cubicBezTo>
                  <a:pt x="277" y="210"/>
                  <a:pt x="272" y="218"/>
                  <a:pt x="267" y="226"/>
                </a:cubicBezTo>
                <a:cubicBezTo>
                  <a:pt x="262" y="234"/>
                  <a:pt x="256" y="241"/>
                  <a:pt x="249" y="248"/>
                </a:cubicBezTo>
                <a:cubicBezTo>
                  <a:pt x="242" y="256"/>
                  <a:pt x="235" y="262"/>
                  <a:pt x="227" y="267"/>
                </a:cubicBezTo>
                <a:cubicBezTo>
                  <a:pt x="219" y="273"/>
                  <a:pt x="211" y="277"/>
                  <a:pt x="202" y="281"/>
                </a:cubicBezTo>
                <a:cubicBezTo>
                  <a:pt x="193" y="284"/>
                  <a:pt x="184" y="287"/>
                  <a:pt x="174" y="289"/>
                </a:cubicBezTo>
                <a:cubicBezTo>
                  <a:pt x="165" y="291"/>
                  <a:pt x="156" y="292"/>
                  <a:pt x="146" y="292"/>
                </a:cubicBezTo>
                <a:cubicBezTo>
                  <a:pt x="137" y="292"/>
                  <a:pt x="127" y="291"/>
                  <a:pt x="118" y="289"/>
                </a:cubicBezTo>
                <a:cubicBezTo>
                  <a:pt x="107" y="287"/>
                  <a:pt x="98" y="284"/>
                  <a:pt x="89" y="281"/>
                </a:cubicBezTo>
                <a:cubicBezTo>
                  <a:pt x="81" y="277"/>
                  <a:pt x="72" y="273"/>
                  <a:pt x="64" y="267"/>
                </a:cubicBezTo>
                <a:cubicBezTo>
                  <a:pt x="56" y="262"/>
                  <a:pt x="49" y="256"/>
                  <a:pt x="42" y="248"/>
                </a:cubicBezTo>
                <a:cubicBezTo>
                  <a:pt x="35" y="241"/>
                  <a:pt x="29" y="234"/>
                  <a:pt x="24" y="226"/>
                </a:cubicBezTo>
                <a:cubicBezTo>
                  <a:pt x="19" y="218"/>
                  <a:pt x="14" y="210"/>
                  <a:pt x="11" y="201"/>
                </a:cubicBezTo>
                <a:cubicBezTo>
                  <a:pt x="7" y="192"/>
                  <a:pt x="4" y="183"/>
                  <a:pt x="2" y="174"/>
                </a:cubicBezTo>
                <a:cubicBezTo>
                  <a:pt x="0" y="164"/>
                  <a:pt x="0" y="155"/>
                  <a:pt x="0" y="145"/>
                </a:cubicBezTo>
                <a:cubicBezTo>
                  <a:pt x="0" y="136"/>
                  <a:pt x="0" y="126"/>
                  <a:pt x="2" y="117"/>
                </a:cubicBezTo>
                <a:cubicBezTo>
                  <a:pt x="4" y="108"/>
                  <a:pt x="7" y="98"/>
                  <a:pt x="11" y="90"/>
                </a:cubicBezTo>
                <a:cubicBezTo>
                  <a:pt x="14" y="81"/>
                  <a:pt x="19" y="72"/>
                  <a:pt x="24" y="65"/>
                </a:cubicBezTo>
                <a:cubicBezTo>
                  <a:pt x="29" y="57"/>
                  <a:pt x="35" y="49"/>
                  <a:pt x="42" y="42"/>
                </a:cubicBezTo>
                <a:cubicBezTo>
                  <a:pt x="49" y="36"/>
                  <a:pt x="56" y="30"/>
                  <a:pt x="64" y="24"/>
                </a:cubicBezTo>
                <a:cubicBezTo>
                  <a:pt x="72" y="19"/>
                  <a:pt x="81" y="15"/>
                  <a:pt x="89" y="11"/>
                </a:cubicBezTo>
                <a:cubicBezTo>
                  <a:pt x="98" y="7"/>
                  <a:pt x="107" y="4"/>
                  <a:pt x="118" y="3"/>
                </a:cubicBezTo>
                <a:cubicBezTo>
                  <a:pt x="127" y="1"/>
                  <a:pt x="137" y="0"/>
                  <a:pt x="146" y="0"/>
                </a:cubicBezTo>
                <a:cubicBezTo>
                  <a:pt x="156" y="0"/>
                  <a:pt x="165" y="1"/>
                  <a:pt x="174" y="3"/>
                </a:cubicBezTo>
                <a:cubicBezTo>
                  <a:pt x="184" y="4"/>
                  <a:pt x="193" y="7"/>
                  <a:pt x="202" y="11"/>
                </a:cubicBezTo>
                <a:cubicBezTo>
                  <a:pt x="211" y="15"/>
                  <a:pt x="219" y="19"/>
                  <a:pt x="227" y="24"/>
                </a:cubicBezTo>
                <a:cubicBezTo>
                  <a:pt x="235" y="30"/>
                  <a:pt x="242" y="36"/>
                  <a:pt x="249" y="42"/>
                </a:cubicBezTo>
                <a:cubicBezTo>
                  <a:pt x="256" y="49"/>
                  <a:pt x="262" y="57"/>
                  <a:pt x="267" y="65"/>
                </a:cubicBezTo>
                <a:cubicBezTo>
                  <a:pt x="272" y="72"/>
                  <a:pt x="277" y="81"/>
                  <a:pt x="281" y="90"/>
                </a:cubicBezTo>
                <a:cubicBezTo>
                  <a:pt x="284" y="98"/>
                  <a:pt x="287" y="108"/>
                  <a:pt x="289" y="117"/>
                </a:cubicBezTo>
                <a:cubicBezTo>
                  <a:pt x="291"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6" name=""/>
          <p:cNvSpPr txBox="1"/>
          <p:nvPr/>
        </p:nvSpPr>
        <p:spPr>
          <a:xfrm>
            <a:off x="6781680" y="226692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単なる要約では物語性が失われる</a:t>
            </a:r>
            <a:endParaRPr b="0" lang="en-US" sz="2170" spc="-1" strike="noStrike">
              <a:solidFill>
                <a:srgbClr val="000000"/>
              </a:solidFill>
              <a:latin typeface="Times New Roman"/>
            </a:endParaRPr>
          </a:p>
        </p:txBody>
      </p:sp>
      <p:sp>
        <p:nvSpPr>
          <p:cNvPr id="47" name=""/>
          <p:cNvSpPr/>
          <p:nvPr/>
        </p:nvSpPr>
        <p:spPr>
          <a:xfrm>
            <a:off x="6505560" y="3371760"/>
            <a:ext cx="105120" cy="105120"/>
          </a:xfrm>
          <a:custGeom>
            <a:avLst/>
            <a:gdLst/>
            <a:ahLst/>
            <a:rect l="0" t="0" r="r" b="b"/>
            <a:pathLst>
              <a:path w="292" h="292">
                <a:moveTo>
                  <a:pt x="292" y="146"/>
                </a:moveTo>
                <a:cubicBezTo>
                  <a:pt x="292" y="156"/>
                  <a:pt x="291" y="165"/>
                  <a:pt x="289" y="175"/>
                </a:cubicBezTo>
                <a:cubicBezTo>
                  <a:pt x="287" y="184"/>
                  <a:pt x="284" y="193"/>
                  <a:pt x="281" y="202"/>
                </a:cubicBezTo>
                <a:cubicBezTo>
                  <a:pt x="277" y="211"/>
                  <a:pt x="272" y="219"/>
                  <a:pt x="267" y="227"/>
                </a:cubicBezTo>
                <a:cubicBezTo>
                  <a:pt x="262" y="235"/>
                  <a:pt x="256" y="242"/>
                  <a:pt x="249" y="249"/>
                </a:cubicBezTo>
                <a:cubicBezTo>
                  <a:pt x="242" y="256"/>
                  <a:pt x="235" y="262"/>
                  <a:pt x="227" y="267"/>
                </a:cubicBezTo>
                <a:cubicBezTo>
                  <a:pt x="219" y="273"/>
                  <a:pt x="211" y="277"/>
                  <a:pt x="202" y="281"/>
                </a:cubicBezTo>
                <a:cubicBezTo>
                  <a:pt x="193" y="284"/>
                  <a:pt x="184" y="287"/>
                  <a:pt x="174" y="289"/>
                </a:cubicBezTo>
                <a:cubicBezTo>
                  <a:pt x="165" y="291"/>
                  <a:pt x="156" y="292"/>
                  <a:pt x="146" y="292"/>
                </a:cubicBezTo>
                <a:cubicBezTo>
                  <a:pt x="137" y="292"/>
                  <a:pt x="127" y="291"/>
                  <a:pt x="118" y="289"/>
                </a:cubicBezTo>
                <a:cubicBezTo>
                  <a:pt x="107" y="287"/>
                  <a:pt x="98" y="284"/>
                  <a:pt x="89" y="281"/>
                </a:cubicBezTo>
                <a:cubicBezTo>
                  <a:pt x="81" y="277"/>
                  <a:pt x="72" y="273"/>
                  <a:pt x="64" y="267"/>
                </a:cubicBezTo>
                <a:cubicBezTo>
                  <a:pt x="56" y="262"/>
                  <a:pt x="49" y="256"/>
                  <a:pt x="42" y="249"/>
                </a:cubicBezTo>
                <a:cubicBezTo>
                  <a:pt x="35" y="242"/>
                  <a:pt x="29" y="235"/>
                  <a:pt x="24" y="227"/>
                </a:cubicBezTo>
                <a:cubicBezTo>
                  <a:pt x="19" y="219"/>
                  <a:pt x="14" y="211"/>
                  <a:pt x="11" y="202"/>
                </a:cubicBezTo>
                <a:cubicBezTo>
                  <a:pt x="7" y="193"/>
                  <a:pt x="4" y="184"/>
                  <a:pt x="2" y="175"/>
                </a:cubicBezTo>
                <a:cubicBezTo>
                  <a:pt x="0" y="165"/>
                  <a:pt x="0" y="156"/>
                  <a:pt x="0" y="146"/>
                </a:cubicBezTo>
                <a:cubicBezTo>
                  <a:pt x="0" y="137"/>
                  <a:pt x="0" y="127"/>
                  <a:pt x="2" y="118"/>
                </a:cubicBezTo>
                <a:cubicBezTo>
                  <a:pt x="4" y="109"/>
                  <a:pt x="7" y="99"/>
                  <a:pt x="11" y="90"/>
                </a:cubicBezTo>
                <a:cubicBezTo>
                  <a:pt x="14" y="81"/>
                  <a:pt x="19" y="72"/>
                  <a:pt x="24" y="64"/>
                </a:cubicBezTo>
                <a:cubicBezTo>
                  <a:pt x="29" y="56"/>
                  <a:pt x="35" y="49"/>
                  <a:pt x="42" y="42"/>
                </a:cubicBezTo>
                <a:cubicBezTo>
                  <a:pt x="49" y="36"/>
                  <a:pt x="56" y="30"/>
                  <a:pt x="64" y="24"/>
                </a:cubicBezTo>
                <a:cubicBezTo>
                  <a:pt x="72" y="19"/>
                  <a:pt x="81" y="14"/>
                  <a:pt x="89" y="11"/>
                </a:cubicBezTo>
                <a:cubicBezTo>
                  <a:pt x="98" y="7"/>
                  <a:pt x="107" y="4"/>
                  <a:pt x="118" y="3"/>
                </a:cubicBezTo>
                <a:cubicBezTo>
                  <a:pt x="127" y="1"/>
                  <a:pt x="137" y="0"/>
                  <a:pt x="146" y="0"/>
                </a:cubicBezTo>
                <a:cubicBezTo>
                  <a:pt x="156" y="0"/>
                  <a:pt x="165" y="1"/>
                  <a:pt x="174" y="3"/>
                </a:cubicBezTo>
                <a:cubicBezTo>
                  <a:pt x="184" y="4"/>
                  <a:pt x="193" y="7"/>
                  <a:pt x="202" y="11"/>
                </a:cubicBezTo>
                <a:cubicBezTo>
                  <a:pt x="211" y="14"/>
                  <a:pt x="219" y="19"/>
                  <a:pt x="227" y="24"/>
                </a:cubicBezTo>
                <a:cubicBezTo>
                  <a:pt x="235" y="30"/>
                  <a:pt x="242" y="36"/>
                  <a:pt x="249" y="42"/>
                </a:cubicBezTo>
                <a:cubicBezTo>
                  <a:pt x="256" y="49"/>
                  <a:pt x="262" y="56"/>
                  <a:pt x="267" y="64"/>
                </a:cubicBezTo>
                <a:cubicBezTo>
                  <a:pt x="272" y="72"/>
                  <a:pt x="277" y="81"/>
                  <a:pt x="281" y="90"/>
                </a:cubicBezTo>
                <a:cubicBezTo>
                  <a:pt x="284" y="99"/>
                  <a:pt x="287" y="109"/>
                  <a:pt x="289" y="118"/>
                </a:cubicBezTo>
                <a:cubicBezTo>
                  <a:pt x="291"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8" name=""/>
          <p:cNvSpPr txBox="1"/>
          <p:nvPr/>
        </p:nvSpPr>
        <p:spPr>
          <a:xfrm>
            <a:off x="6781680" y="275256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論文の論理構造を捉えきれない</a:t>
            </a:r>
            <a:endParaRPr b="0" lang="en-US" sz="2170" spc="-1" strike="noStrike">
              <a:solidFill>
                <a:srgbClr val="000000"/>
              </a:solidFill>
              <a:latin typeface="Times New Roman"/>
            </a:endParaRPr>
          </a:p>
        </p:txBody>
      </p:sp>
      <p:sp>
        <p:nvSpPr>
          <p:cNvPr id="49" name=""/>
          <p:cNvSpPr txBox="1"/>
          <p:nvPr/>
        </p:nvSpPr>
        <p:spPr>
          <a:xfrm>
            <a:off x="6781680" y="322884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発表の流れを考慮した再構成が困難</a:t>
            </a:r>
            <a:endParaRPr b="0" lang="en-US" sz="2170" spc="-1" strike="noStrike">
              <a:solidFill>
                <a:srgbClr val="000000"/>
              </a:solidFill>
              <a:latin typeface="Times New Roman"/>
            </a:endParaRPr>
          </a:p>
        </p:txBody>
      </p:sp>
      <p:sp>
        <p:nvSpPr>
          <p:cNvPr id="50"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1" name=""/>
          <p:cNvSpPr txBox="1"/>
          <p:nvPr/>
        </p:nvSpPr>
        <p:spPr>
          <a:xfrm>
            <a:off x="914400" y="392400"/>
            <a:ext cx="372708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背景：論文スライド作成の難しさ</a:t>
            </a:r>
            <a:endParaRPr b="0" lang="en-US" sz="1950" spc="-1" strike="noStrike">
              <a:solidFill>
                <a:srgbClr val="000000"/>
              </a:solidFill>
              <a:latin typeface="Times New Roman"/>
            </a:endParaRPr>
          </a:p>
        </p:txBody>
      </p:sp>
      <p:sp>
        <p:nvSpPr>
          <p:cNvPr id="52"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3</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56"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57" name="" descr=""/>
          <p:cNvPicPr/>
          <p:nvPr/>
        </p:nvPicPr>
        <p:blipFill>
          <a:blip r:embed="rId1"/>
          <a:stretch/>
        </p:blipFill>
        <p:spPr>
          <a:xfrm>
            <a:off x="10515600" y="38160"/>
            <a:ext cx="1142640" cy="1142640"/>
          </a:xfrm>
          <a:prstGeom prst="rect">
            <a:avLst/>
          </a:prstGeom>
          <a:ln w="0">
            <a:noFill/>
          </a:ln>
        </p:spPr>
      </p:pic>
      <p:sp>
        <p:nvSpPr>
          <p:cNvPr id="58" name=""/>
          <p:cNvSpPr txBox="1"/>
          <p:nvPr/>
        </p:nvSpPr>
        <p:spPr>
          <a:xfrm>
            <a:off x="533520" y="923760"/>
            <a:ext cx="8827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先行研究は、論文の「物語の流れ」を明示的に扱えていませんでした。</a:t>
            </a:r>
            <a:endParaRPr b="0" lang="en-US" sz="2170" spc="-1" strike="noStrike">
              <a:solidFill>
                <a:srgbClr val="000000"/>
              </a:solidFill>
              <a:latin typeface="Times New Roman"/>
            </a:endParaRPr>
          </a:p>
        </p:txBody>
      </p:sp>
      <p:sp>
        <p:nvSpPr>
          <p:cNvPr id="59" name=""/>
          <p:cNvSpPr/>
          <p:nvPr/>
        </p:nvSpPr>
        <p:spPr>
          <a:xfrm>
            <a:off x="809280" y="2085840"/>
            <a:ext cx="105120" cy="105120"/>
          </a:xfrm>
          <a:custGeom>
            <a:avLst/>
            <a:gdLst/>
            <a:ahLst/>
            <a:rect l="0" t="0" r="r" b="b"/>
            <a:pathLst>
              <a:path w="292" h="292">
                <a:moveTo>
                  <a:pt x="292" y="145"/>
                </a:moveTo>
                <a:cubicBezTo>
                  <a:pt x="292" y="155"/>
                  <a:pt x="292" y="164"/>
                  <a:pt x="290" y="175"/>
                </a:cubicBezTo>
                <a:cubicBezTo>
                  <a:pt x="288" y="184"/>
                  <a:pt x="285" y="193"/>
                  <a:pt x="281" y="202"/>
                </a:cubicBezTo>
                <a:cubicBezTo>
                  <a:pt x="278" y="211"/>
                  <a:pt x="273" y="219"/>
                  <a:pt x="268" y="227"/>
                </a:cubicBezTo>
                <a:cubicBezTo>
                  <a:pt x="263" y="235"/>
                  <a:pt x="257" y="243"/>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4"/>
                  <a:pt x="0" y="155"/>
                  <a:pt x="0" y="145"/>
                </a:cubicBezTo>
                <a:cubicBezTo>
                  <a:pt x="0" y="136"/>
                  <a:pt x="1" y="126"/>
                  <a:pt x="3" y="117"/>
                </a:cubicBezTo>
                <a:cubicBezTo>
                  <a:pt x="5" y="108"/>
                  <a:pt x="8" y="99"/>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60" name=""/>
          <p:cNvSpPr txBox="1"/>
          <p:nvPr/>
        </p:nvSpPr>
        <p:spPr>
          <a:xfrm>
            <a:off x="533520" y="1438200"/>
            <a:ext cx="275904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先行研究のアプローチ</a:t>
            </a:r>
            <a:endParaRPr b="0" lang="en-US" sz="2170" spc="-1" strike="noStrike">
              <a:solidFill>
                <a:srgbClr val="000000"/>
              </a:solidFill>
              <a:latin typeface="Times New Roman"/>
            </a:endParaRPr>
          </a:p>
        </p:txBody>
      </p:sp>
      <p:sp>
        <p:nvSpPr>
          <p:cNvPr id="61" name=""/>
          <p:cNvSpPr/>
          <p:nvPr/>
        </p:nvSpPr>
        <p:spPr>
          <a:xfrm>
            <a:off x="809280" y="2571480"/>
            <a:ext cx="105120" cy="105120"/>
          </a:xfrm>
          <a:custGeom>
            <a:avLst/>
            <a:gdLst/>
            <a:ahLst/>
            <a:rect l="0" t="0" r="r" b="b"/>
            <a:pathLst>
              <a:path w="292" h="292">
                <a:moveTo>
                  <a:pt x="292" y="146"/>
                </a:moveTo>
                <a:cubicBezTo>
                  <a:pt x="292" y="155"/>
                  <a:pt x="292" y="165"/>
                  <a:pt x="290" y="174"/>
                </a:cubicBezTo>
                <a:cubicBezTo>
                  <a:pt x="288" y="184"/>
                  <a:pt x="285" y="193"/>
                  <a:pt x="281" y="201"/>
                </a:cubicBezTo>
                <a:cubicBezTo>
                  <a:pt x="278" y="210"/>
                  <a:pt x="273" y="219"/>
                  <a:pt x="268" y="227"/>
                </a:cubicBezTo>
                <a:cubicBezTo>
                  <a:pt x="263" y="235"/>
                  <a:pt x="257" y="242"/>
                  <a:pt x="250" y="249"/>
                </a:cubicBezTo>
                <a:cubicBezTo>
                  <a:pt x="243" y="255"/>
                  <a:pt x="236" y="261"/>
                  <a:pt x="228" y="267"/>
                </a:cubicBezTo>
                <a:cubicBezTo>
                  <a:pt x="219" y="272"/>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2"/>
                  <a:pt x="65" y="267"/>
                </a:cubicBezTo>
                <a:cubicBezTo>
                  <a:pt x="57" y="261"/>
                  <a:pt x="50" y="255"/>
                  <a:pt x="43" y="249"/>
                </a:cubicBezTo>
                <a:cubicBezTo>
                  <a:pt x="36" y="242"/>
                  <a:pt x="30" y="235"/>
                  <a:pt x="25" y="227"/>
                </a:cubicBezTo>
                <a:cubicBezTo>
                  <a:pt x="20" y="219"/>
                  <a:pt x="15" y="210"/>
                  <a:pt x="12" y="201"/>
                </a:cubicBezTo>
                <a:cubicBezTo>
                  <a:pt x="8" y="193"/>
                  <a:pt x="5" y="184"/>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62" name=""/>
          <p:cNvSpPr txBox="1"/>
          <p:nvPr/>
        </p:nvSpPr>
        <p:spPr>
          <a:xfrm>
            <a:off x="1085760" y="1942920"/>
            <a:ext cx="41479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直接要約</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テキストを単純に要約</a:t>
            </a:r>
            <a:endParaRPr b="0" lang="en-US" sz="2170" spc="-1" strike="noStrike">
              <a:solidFill>
                <a:srgbClr val="000000"/>
              </a:solidFill>
              <a:latin typeface="Times New Roman"/>
            </a:endParaRPr>
          </a:p>
        </p:txBody>
      </p:sp>
      <p:sp>
        <p:nvSpPr>
          <p:cNvPr id="63" name=""/>
          <p:cNvSpPr txBox="1"/>
          <p:nvPr/>
        </p:nvSpPr>
        <p:spPr>
          <a:xfrm>
            <a:off x="1085760" y="2428920"/>
            <a:ext cx="49755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セクション単位処理</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章ごとに独立して</a:t>
            </a:r>
            <a:endParaRPr b="0" lang="en-US" sz="2170" spc="-1" strike="noStrike">
              <a:solidFill>
                <a:srgbClr val="000000"/>
              </a:solidFill>
              <a:latin typeface="Times New Roman"/>
            </a:endParaRPr>
          </a:p>
        </p:txBody>
      </p:sp>
      <p:sp>
        <p:nvSpPr>
          <p:cNvPr id="64" name=""/>
          <p:cNvSpPr/>
          <p:nvPr/>
        </p:nvSpPr>
        <p:spPr>
          <a:xfrm>
            <a:off x="809280" y="346680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65" name=""/>
          <p:cNvSpPr txBox="1"/>
          <p:nvPr/>
        </p:nvSpPr>
        <p:spPr>
          <a:xfrm>
            <a:off x="1085760" y="284796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処理</a:t>
            </a:r>
            <a:endParaRPr b="0" lang="en-US" sz="2170" spc="-1" strike="noStrike">
              <a:solidFill>
                <a:srgbClr val="000000"/>
              </a:solidFill>
              <a:latin typeface="Times New Roman"/>
            </a:endParaRPr>
          </a:p>
        </p:txBody>
      </p:sp>
      <p:sp>
        <p:nvSpPr>
          <p:cNvPr id="66" name=""/>
          <p:cNvSpPr txBox="1"/>
          <p:nvPr/>
        </p:nvSpPr>
        <p:spPr>
          <a:xfrm>
            <a:off x="1085760" y="3324240"/>
            <a:ext cx="49755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アウトライン抽出</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見出し構造をそのま</a:t>
            </a:r>
            <a:endParaRPr b="0" lang="en-US" sz="2170" spc="-1" strike="noStrike">
              <a:solidFill>
                <a:srgbClr val="000000"/>
              </a:solidFill>
              <a:latin typeface="Times New Roman"/>
            </a:endParaRPr>
          </a:p>
        </p:txBody>
      </p:sp>
      <p:sp>
        <p:nvSpPr>
          <p:cNvPr id="67" name=""/>
          <p:cNvSpPr txBox="1"/>
          <p:nvPr/>
        </p:nvSpPr>
        <p:spPr>
          <a:xfrm>
            <a:off x="1085760" y="374328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ま利用</a:t>
            </a:r>
            <a:endParaRPr b="0" lang="en-US" sz="2170" spc="-1" strike="noStrike">
              <a:solidFill>
                <a:srgbClr val="000000"/>
              </a:solidFill>
              <a:latin typeface="Times New Roman"/>
            </a:endParaRPr>
          </a:p>
        </p:txBody>
      </p:sp>
      <p:sp>
        <p:nvSpPr>
          <p:cNvPr id="68" name=""/>
          <p:cNvSpPr txBox="1"/>
          <p:nvPr/>
        </p:nvSpPr>
        <p:spPr>
          <a:xfrm>
            <a:off x="533520" y="4724280"/>
            <a:ext cx="5380560" cy="39960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 </a:t>
            </a:r>
            <a:r>
              <a:rPr b="0" lang="zh-CN" sz="2170" spc="-1" strike="noStrike">
                <a:solidFill>
                  <a:srgbClr val="c9342f"/>
                </a:solidFill>
                <a:latin typeface="NotoSansJP"/>
                <a:ea typeface="NotoSansJP"/>
              </a:rPr>
              <a:t>結果として、物語が分断されたスライド</a:t>
            </a:r>
            <a:endParaRPr b="0" lang="en-US" sz="2170" spc="-1" strike="noStrike">
              <a:solidFill>
                <a:srgbClr val="000000"/>
              </a:solidFill>
              <a:latin typeface="Times New Roman"/>
            </a:endParaRPr>
          </a:p>
        </p:txBody>
      </p:sp>
      <p:sp>
        <p:nvSpPr>
          <p:cNvPr id="69" name=""/>
          <p:cNvSpPr txBox="1"/>
          <p:nvPr/>
        </p:nvSpPr>
        <p:spPr>
          <a:xfrm>
            <a:off x="533520" y="5133960"/>
            <a:ext cx="220752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が生成されやすい</a:t>
            </a:r>
            <a:endParaRPr b="0" lang="en-US" sz="2170" spc="-1" strike="noStrike">
              <a:solidFill>
                <a:srgbClr val="000000"/>
              </a:solidFill>
              <a:latin typeface="Times New Roman"/>
            </a:endParaRPr>
          </a:p>
        </p:txBody>
      </p:sp>
      <p:sp>
        <p:nvSpPr>
          <p:cNvPr id="70" name=""/>
          <p:cNvSpPr txBox="1"/>
          <p:nvPr/>
        </p:nvSpPr>
        <p:spPr>
          <a:xfrm>
            <a:off x="6229440" y="1438200"/>
            <a:ext cx="2182320" cy="401040"/>
          </a:xfrm>
          <a:prstGeom prst="rect">
            <a:avLst/>
          </a:prstGeom>
          <a:noFill/>
          <a:ln w="0">
            <a:noFill/>
          </a:ln>
        </p:spPr>
        <p:txBody>
          <a:bodyPr wrap="none" lIns="0" rIns="0" tIns="0" bIns="0" anchor="t">
            <a:noAutofit/>
          </a:bodyPr>
          <a:p>
            <a:r>
              <a:rPr b="0" lang="en-US" sz="2170" spc="-1" strike="noStrike">
                <a:solidFill>
                  <a:srgbClr val="083a5e"/>
                </a:solidFill>
                <a:latin typeface="NotoSansJP"/>
                <a:ea typeface="NotoSansJP"/>
              </a:rPr>
              <a:t>ArcDeck (</a:t>
            </a:r>
            <a:r>
              <a:rPr b="0" lang="zh-CN" sz="2170" spc="-1" strike="noStrike">
                <a:solidFill>
                  <a:srgbClr val="083a5e"/>
                </a:solidFill>
                <a:latin typeface="NotoSansJP"/>
                <a:ea typeface="NotoSansJP"/>
              </a:rPr>
              <a:t>本研究</a:t>
            </a:r>
            <a:r>
              <a:rPr b="0" lang="en-US" sz="2170" spc="-1" strike="noStrike">
                <a:solidFill>
                  <a:srgbClr val="083a5e"/>
                </a:solidFill>
                <a:latin typeface="NotoSansJP"/>
                <a:ea typeface="NotoSansJP"/>
              </a:rPr>
              <a:t>)</a:t>
            </a:r>
            <a:endParaRPr b="0" lang="en-US" sz="2170" spc="-1" strike="noStrike">
              <a:solidFill>
                <a:srgbClr val="000000"/>
              </a:solidFill>
              <a:latin typeface="Times New Roman"/>
            </a:endParaRPr>
          </a:p>
        </p:txBody>
      </p:sp>
      <p:sp>
        <p:nvSpPr>
          <p:cNvPr id="71" name=""/>
          <p:cNvSpPr/>
          <p:nvPr/>
        </p:nvSpPr>
        <p:spPr>
          <a:xfrm>
            <a:off x="6505560" y="3428640"/>
            <a:ext cx="105120" cy="105480"/>
          </a:xfrm>
          <a:custGeom>
            <a:avLst/>
            <a:gdLst/>
            <a:ahLst/>
            <a:rect l="0" t="0" r="r" b="b"/>
            <a:pathLst>
              <a:path w="292" h="293">
                <a:moveTo>
                  <a:pt x="292" y="146"/>
                </a:moveTo>
                <a:cubicBezTo>
                  <a:pt x="292" y="156"/>
                  <a:pt x="291" y="165"/>
                  <a:pt x="289" y="174"/>
                </a:cubicBezTo>
                <a:cubicBezTo>
                  <a:pt x="287" y="184"/>
                  <a:pt x="284" y="193"/>
                  <a:pt x="281" y="202"/>
                </a:cubicBezTo>
                <a:cubicBezTo>
                  <a:pt x="277" y="211"/>
                  <a:pt x="272" y="219"/>
                  <a:pt x="267" y="228"/>
                </a:cubicBezTo>
                <a:cubicBezTo>
                  <a:pt x="262" y="236"/>
                  <a:pt x="256" y="243"/>
                  <a:pt x="249" y="250"/>
                </a:cubicBezTo>
                <a:cubicBezTo>
                  <a:pt x="242" y="257"/>
                  <a:pt x="235" y="263"/>
                  <a:pt x="227" y="268"/>
                </a:cubicBezTo>
                <a:cubicBezTo>
                  <a:pt x="219" y="273"/>
                  <a:pt x="211" y="278"/>
                  <a:pt x="202" y="281"/>
                </a:cubicBezTo>
                <a:cubicBezTo>
                  <a:pt x="193" y="285"/>
                  <a:pt x="184" y="288"/>
                  <a:pt x="174" y="290"/>
                </a:cubicBezTo>
                <a:cubicBezTo>
                  <a:pt x="165" y="292"/>
                  <a:pt x="156" y="293"/>
                  <a:pt x="146" y="293"/>
                </a:cubicBezTo>
                <a:cubicBezTo>
                  <a:pt x="137" y="293"/>
                  <a:pt x="127" y="292"/>
                  <a:pt x="118" y="290"/>
                </a:cubicBezTo>
                <a:cubicBezTo>
                  <a:pt x="107" y="288"/>
                  <a:pt x="98" y="285"/>
                  <a:pt x="89" y="281"/>
                </a:cubicBezTo>
                <a:cubicBezTo>
                  <a:pt x="81" y="278"/>
                  <a:pt x="72" y="273"/>
                  <a:pt x="64" y="268"/>
                </a:cubicBezTo>
                <a:cubicBezTo>
                  <a:pt x="56" y="263"/>
                  <a:pt x="49" y="257"/>
                  <a:pt x="42" y="250"/>
                </a:cubicBezTo>
                <a:cubicBezTo>
                  <a:pt x="35" y="243"/>
                  <a:pt x="29" y="236"/>
                  <a:pt x="24" y="228"/>
                </a:cubicBezTo>
                <a:cubicBezTo>
                  <a:pt x="19" y="219"/>
                  <a:pt x="14" y="211"/>
                  <a:pt x="11" y="202"/>
                </a:cubicBezTo>
                <a:cubicBezTo>
                  <a:pt x="7" y="193"/>
                  <a:pt x="4" y="184"/>
                  <a:pt x="2" y="174"/>
                </a:cubicBezTo>
                <a:cubicBezTo>
                  <a:pt x="0" y="165"/>
                  <a:pt x="0" y="156"/>
                  <a:pt x="0" y="146"/>
                </a:cubicBezTo>
                <a:cubicBezTo>
                  <a:pt x="0" y="136"/>
                  <a:pt x="0" y="127"/>
                  <a:pt x="2" y="118"/>
                </a:cubicBezTo>
                <a:cubicBezTo>
                  <a:pt x="4" y="108"/>
                  <a:pt x="7" y="99"/>
                  <a:pt x="11" y="90"/>
                </a:cubicBezTo>
                <a:cubicBezTo>
                  <a:pt x="14" y="82"/>
                  <a:pt x="19" y="73"/>
                  <a:pt x="24" y="65"/>
                </a:cubicBezTo>
                <a:cubicBezTo>
                  <a:pt x="29" y="57"/>
                  <a:pt x="35" y="50"/>
                  <a:pt x="42" y="43"/>
                </a:cubicBezTo>
                <a:cubicBezTo>
                  <a:pt x="49" y="36"/>
                  <a:pt x="56" y="30"/>
                  <a:pt x="64" y="25"/>
                </a:cubicBezTo>
                <a:cubicBezTo>
                  <a:pt x="72" y="20"/>
                  <a:pt x="81" y="15"/>
                  <a:pt x="89" y="12"/>
                </a:cubicBezTo>
                <a:cubicBezTo>
                  <a:pt x="98" y="8"/>
                  <a:pt x="107" y="5"/>
                  <a:pt x="118" y="3"/>
                </a:cubicBezTo>
                <a:cubicBezTo>
                  <a:pt x="127" y="1"/>
                  <a:pt x="137" y="0"/>
                  <a:pt x="146" y="0"/>
                </a:cubicBezTo>
                <a:cubicBezTo>
                  <a:pt x="156" y="0"/>
                  <a:pt x="165" y="1"/>
                  <a:pt x="174" y="3"/>
                </a:cubicBezTo>
                <a:cubicBezTo>
                  <a:pt x="184" y="5"/>
                  <a:pt x="193" y="8"/>
                  <a:pt x="202" y="12"/>
                </a:cubicBezTo>
                <a:cubicBezTo>
                  <a:pt x="211" y="15"/>
                  <a:pt x="219" y="20"/>
                  <a:pt x="227" y="25"/>
                </a:cubicBezTo>
                <a:cubicBezTo>
                  <a:pt x="235" y="30"/>
                  <a:pt x="242" y="36"/>
                  <a:pt x="249" y="43"/>
                </a:cubicBezTo>
                <a:cubicBezTo>
                  <a:pt x="256" y="50"/>
                  <a:pt x="262" y="57"/>
                  <a:pt x="267" y="65"/>
                </a:cubicBezTo>
                <a:cubicBezTo>
                  <a:pt x="272" y="73"/>
                  <a:pt x="277" y="82"/>
                  <a:pt x="281" y="90"/>
                </a:cubicBezTo>
                <a:cubicBezTo>
                  <a:pt x="284" y="99"/>
                  <a:pt x="287" y="108"/>
                  <a:pt x="289" y="118"/>
                </a:cubicBezTo>
                <a:cubicBezTo>
                  <a:pt x="291"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2" name=""/>
          <p:cNvSpPr txBox="1"/>
          <p:nvPr/>
        </p:nvSpPr>
        <p:spPr>
          <a:xfrm>
            <a:off x="6229440" y="1942920"/>
            <a:ext cx="16556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のアプローチ</a:t>
            </a:r>
            <a:endParaRPr b="0" lang="en-US" sz="2170" spc="-1" strike="noStrike">
              <a:solidFill>
                <a:srgbClr val="000000"/>
              </a:solidFill>
              <a:latin typeface="Times New Roman"/>
            </a:endParaRPr>
          </a:p>
        </p:txBody>
      </p:sp>
      <p:sp>
        <p:nvSpPr>
          <p:cNvPr id="73" name=""/>
          <p:cNvSpPr/>
          <p:nvPr/>
        </p:nvSpPr>
        <p:spPr>
          <a:xfrm>
            <a:off x="6505560" y="4257360"/>
            <a:ext cx="105120" cy="105120"/>
          </a:xfrm>
          <a:custGeom>
            <a:avLst/>
            <a:gdLst/>
            <a:ahLst/>
            <a:rect l="0" t="0" r="r" b="b"/>
            <a:pathLst>
              <a:path w="292" h="292">
                <a:moveTo>
                  <a:pt x="292" y="146"/>
                </a:moveTo>
                <a:cubicBezTo>
                  <a:pt x="292" y="155"/>
                  <a:pt x="291" y="165"/>
                  <a:pt x="289" y="174"/>
                </a:cubicBezTo>
                <a:cubicBezTo>
                  <a:pt x="287" y="184"/>
                  <a:pt x="284" y="193"/>
                  <a:pt x="281" y="202"/>
                </a:cubicBezTo>
                <a:cubicBezTo>
                  <a:pt x="277" y="210"/>
                  <a:pt x="272" y="219"/>
                  <a:pt x="267" y="227"/>
                </a:cubicBezTo>
                <a:cubicBezTo>
                  <a:pt x="262" y="235"/>
                  <a:pt x="256" y="242"/>
                  <a:pt x="249" y="249"/>
                </a:cubicBezTo>
                <a:cubicBezTo>
                  <a:pt x="242" y="257"/>
                  <a:pt x="235" y="263"/>
                  <a:pt x="227" y="268"/>
                </a:cubicBezTo>
                <a:cubicBezTo>
                  <a:pt x="219" y="273"/>
                  <a:pt x="211" y="278"/>
                  <a:pt x="202" y="281"/>
                </a:cubicBezTo>
                <a:cubicBezTo>
                  <a:pt x="193" y="285"/>
                  <a:pt x="184" y="288"/>
                  <a:pt x="174" y="290"/>
                </a:cubicBezTo>
                <a:cubicBezTo>
                  <a:pt x="165" y="291"/>
                  <a:pt x="156" y="292"/>
                  <a:pt x="146" y="292"/>
                </a:cubicBezTo>
                <a:cubicBezTo>
                  <a:pt x="137" y="292"/>
                  <a:pt x="127" y="291"/>
                  <a:pt x="118" y="290"/>
                </a:cubicBezTo>
                <a:cubicBezTo>
                  <a:pt x="107" y="288"/>
                  <a:pt x="98" y="285"/>
                  <a:pt x="89" y="281"/>
                </a:cubicBezTo>
                <a:cubicBezTo>
                  <a:pt x="81" y="278"/>
                  <a:pt x="72" y="273"/>
                  <a:pt x="64" y="268"/>
                </a:cubicBezTo>
                <a:cubicBezTo>
                  <a:pt x="56" y="263"/>
                  <a:pt x="49" y="257"/>
                  <a:pt x="42" y="249"/>
                </a:cubicBezTo>
                <a:cubicBezTo>
                  <a:pt x="35" y="242"/>
                  <a:pt x="29" y="235"/>
                  <a:pt x="24" y="227"/>
                </a:cubicBezTo>
                <a:cubicBezTo>
                  <a:pt x="19" y="219"/>
                  <a:pt x="14" y="210"/>
                  <a:pt x="11" y="202"/>
                </a:cubicBezTo>
                <a:cubicBezTo>
                  <a:pt x="7" y="193"/>
                  <a:pt x="4" y="184"/>
                  <a:pt x="2" y="174"/>
                </a:cubicBezTo>
                <a:cubicBezTo>
                  <a:pt x="0" y="165"/>
                  <a:pt x="0" y="155"/>
                  <a:pt x="0" y="146"/>
                </a:cubicBezTo>
                <a:cubicBezTo>
                  <a:pt x="0" y="136"/>
                  <a:pt x="0" y="127"/>
                  <a:pt x="2" y="118"/>
                </a:cubicBezTo>
                <a:cubicBezTo>
                  <a:pt x="4" y="108"/>
                  <a:pt x="7" y="99"/>
                  <a:pt x="11" y="90"/>
                </a:cubicBezTo>
                <a:cubicBezTo>
                  <a:pt x="14" y="81"/>
                  <a:pt x="19" y="73"/>
                  <a:pt x="24" y="65"/>
                </a:cubicBezTo>
                <a:cubicBezTo>
                  <a:pt x="29" y="57"/>
                  <a:pt x="35" y="50"/>
                  <a:pt x="42" y="43"/>
                </a:cubicBezTo>
                <a:cubicBezTo>
                  <a:pt x="49" y="36"/>
                  <a:pt x="56" y="30"/>
                  <a:pt x="64" y="25"/>
                </a:cubicBezTo>
                <a:cubicBezTo>
                  <a:pt x="72" y="20"/>
                  <a:pt x="81" y="15"/>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5"/>
                  <a:pt x="219" y="20"/>
                  <a:pt x="227" y="25"/>
                </a:cubicBezTo>
                <a:cubicBezTo>
                  <a:pt x="235" y="30"/>
                  <a:pt x="242" y="36"/>
                  <a:pt x="249" y="43"/>
                </a:cubicBezTo>
                <a:cubicBezTo>
                  <a:pt x="256" y="50"/>
                  <a:pt x="262" y="57"/>
                  <a:pt x="267" y="65"/>
                </a:cubicBezTo>
                <a:cubicBezTo>
                  <a:pt x="272" y="73"/>
                  <a:pt x="277" y="81"/>
                  <a:pt x="281" y="90"/>
                </a:cubicBezTo>
                <a:cubicBezTo>
                  <a:pt x="284" y="99"/>
                  <a:pt x="287" y="108"/>
                  <a:pt x="289" y="118"/>
                </a:cubicBezTo>
                <a:cubicBezTo>
                  <a:pt x="291"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4" name=""/>
          <p:cNvSpPr txBox="1"/>
          <p:nvPr/>
        </p:nvSpPr>
        <p:spPr>
          <a:xfrm>
            <a:off x="6781680" y="328608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談話構造の解析で論理をモデル化</a:t>
            </a:r>
            <a:endParaRPr b="0" lang="en-US" sz="2170" spc="-1" strike="noStrike">
              <a:solidFill>
                <a:srgbClr val="000000"/>
              </a:solidFill>
              <a:latin typeface="Times New Roman"/>
            </a:endParaRPr>
          </a:p>
        </p:txBody>
      </p:sp>
      <p:sp>
        <p:nvSpPr>
          <p:cNvPr id="75" name=""/>
          <p:cNvSpPr/>
          <p:nvPr/>
        </p:nvSpPr>
        <p:spPr>
          <a:xfrm>
            <a:off x="6505560" y="5086080"/>
            <a:ext cx="105120" cy="105120"/>
          </a:xfrm>
          <a:custGeom>
            <a:avLst/>
            <a:gdLst/>
            <a:ahLst/>
            <a:rect l="0" t="0" r="r" b="b"/>
            <a:pathLst>
              <a:path w="292" h="292">
                <a:moveTo>
                  <a:pt x="292" y="146"/>
                </a:moveTo>
                <a:cubicBezTo>
                  <a:pt x="292" y="155"/>
                  <a:pt x="291" y="165"/>
                  <a:pt x="289" y="174"/>
                </a:cubicBezTo>
                <a:cubicBezTo>
                  <a:pt x="287" y="184"/>
                  <a:pt x="284" y="193"/>
                  <a:pt x="281" y="201"/>
                </a:cubicBezTo>
                <a:cubicBezTo>
                  <a:pt x="277" y="210"/>
                  <a:pt x="272" y="219"/>
                  <a:pt x="267" y="227"/>
                </a:cubicBezTo>
                <a:cubicBezTo>
                  <a:pt x="262" y="235"/>
                  <a:pt x="256" y="242"/>
                  <a:pt x="249" y="249"/>
                </a:cubicBezTo>
                <a:cubicBezTo>
                  <a:pt x="242" y="255"/>
                  <a:pt x="235" y="261"/>
                  <a:pt x="227" y="267"/>
                </a:cubicBezTo>
                <a:cubicBezTo>
                  <a:pt x="219" y="272"/>
                  <a:pt x="211" y="278"/>
                  <a:pt x="202" y="281"/>
                </a:cubicBezTo>
                <a:cubicBezTo>
                  <a:pt x="193" y="285"/>
                  <a:pt x="184" y="288"/>
                  <a:pt x="174" y="289"/>
                </a:cubicBezTo>
                <a:cubicBezTo>
                  <a:pt x="165" y="291"/>
                  <a:pt x="156" y="292"/>
                  <a:pt x="146" y="292"/>
                </a:cubicBezTo>
                <a:cubicBezTo>
                  <a:pt x="137" y="292"/>
                  <a:pt x="127" y="291"/>
                  <a:pt x="118" y="289"/>
                </a:cubicBezTo>
                <a:cubicBezTo>
                  <a:pt x="107" y="288"/>
                  <a:pt x="98" y="285"/>
                  <a:pt x="89" y="281"/>
                </a:cubicBezTo>
                <a:cubicBezTo>
                  <a:pt x="81" y="278"/>
                  <a:pt x="72" y="272"/>
                  <a:pt x="64" y="267"/>
                </a:cubicBezTo>
                <a:cubicBezTo>
                  <a:pt x="56" y="261"/>
                  <a:pt x="49" y="255"/>
                  <a:pt x="42" y="249"/>
                </a:cubicBezTo>
                <a:cubicBezTo>
                  <a:pt x="35" y="242"/>
                  <a:pt x="29" y="235"/>
                  <a:pt x="24" y="227"/>
                </a:cubicBezTo>
                <a:cubicBezTo>
                  <a:pt x="19" y="219"/>
                  <a:pt x="14" y="210"/>
                  <a:pt x="11" y="201"/>
                </a:cubicBezTo>
                <a:cubicBezTo>
                  <a:pt x="7" y="193"/>
                  <a:pt x="4" y="184"/>
                  <a:pt x="2" y="174"/>
                </a:cubicBezTo>
                <a:cubicBezTo>
                  <a:pt x="0" y="165"/>
                  <a:pt x="0" y="155"/>
                  <a:pt x="0" y="146"/>
                </a:cubicBezTo>
                <a:cubicBezTo>
                  <a:pt x="0" y="136"/>
                  <a:pt x="0" y="127"/>
                  <a:pt x="2" y="117"/>
                </a:cubicBezTo>
                <a:cubicBezTo>
                  <a:pt x="4" y="108"/>
                  <a:pt x="7" y="99"/>
                  <a:pt x="11" y="90"/>
                </a:cubicBezTo>
                <a:cubicBezTo>
                  <a:pt x="14" y="81"/>
                  <a:pt x="19" y="73"/>
                  <a:pt x="24" y="65"/>
                </a:cubicBezTo>
                <a:cubicBezTo>
                  <a:pt x="29" y="57"/>
                  <a:pt x="35" y="50"/>
                  <a:pt x="42" y="43"/>
                </a:cubicBezTo>
                <a:cubicBezTo>
                  <a:pt x="49" y="36"/>
                  <a:pt x="56" y="30"/>
                  <a:pt x="64" y="25"/>
                </a:cubicBezTo>
                <a:cubicBezTo>
                  <a:pt x="72" y="19"/>
                  <a:pt x="81" y="15"/>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5"/>
                  <a:pt x="219" y="19"/>
                  <a:pt x="227" y="25"/>
                </a:cubicBezTo>
                <a:cubicBezTo>
                  <a:pt x="235" y="30"/>
                  <a:pt x="242" y="36"/>
                  <a:pt x="249" y="43"/>
                </a:cubicBezTo>
                <a:cubicBezTo>
                  <a:pt x="256" y="50"/>
                  <a:pt x="262" y="57"/>
                  <a:pt x="267" y="65"/>
                </a:cubicBezTo>
                <a:cubicBezTo>
                  <a:pt x="272" y="73"/>
                  <a:pt x="277" y="81"/>
                  <a:pt x="281" y="90"/>
                </a:cubicBezTo>
                <a:cubicBezTo>
                  <a:pt x="284" y="99"/>
                  <a:pt x="287" y="108"/>
                  <a:pt x="289" y="117"/>
                </a:cubicBezTo>
                <a:cubicBezTo>
                  <a:pt x="291"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6" name=""/>
          <p:cNvSpPr txBox="1"/>
          <p:nvPr/>
        </p:nvSpPr>
        <p:spPr>
          <a:xfrm>
            <a:off x="6781680" y="411480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全体計画を立てて一貫性を担保</a:t>
            </a:r>
            <a:endParaRPr b="0" lang="en-US" sz="2170" spc="-1" strike="noStrike">
              <a:solidFill>
                <a:srgbClr val="000000"/>
              </a:solidFill>
              <a:latin typeface="Times New Roman"/>
            </a:endParaRPr>
          </a:p>
        </p:txBody>
      </p:sp>
      <p:pic>
        <p:nvPicPr>
          <p:cNvPr id="77" name="" descr=""/>
          <p:cNvPicPr/>
          <p:nvPr/>
        </p:nvPicPr>
        <p:blipFill>
          <a:blip r:embed="rId2"/>
          <a:stretch/>
        </p:blipFill>
        <p:spPr>
          <a:xfrm>
            <a:off x="6229440" y="5896080"/>
            <a:ext cx="5428800" cy="4028760"/>
          </a:xfrm>
          <a:prstGeom prst="rect">
            <a:avLst/>
          </a:prstGeom>
          <a:ln w="0">
            <a:noFill/>
          </a:ln>
        </p:spPr>
      </p:pic>
      <p:sp>
        <p:nvSpPr>
          <p:cNvPr id="78" name=""/>
          <p:cNvSpPr txBox="1"/>
          <p:nvPr/>
        </p:nvSpPr>
        <p:spPr>
          <a:xfrm>
            <a:off x="6781680" y="4943520"/>
            <a:ext cx="30351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反復的な推敲で質を向上</a:t>
            </a:r>
            <a:endParaRPr b="0" lang="en-US" sz="2170" spc="-1" strike="noStrike">
              <a:solidFill>
                <a:srgbClr val="000000"/>
              </a:solidFill>
              <a:latin typeface="Times New Roman"/>
            </a:endParaRPr>
          </a:p>
        </p:txBody>
      </p:sp>
      <p:sp>
        <p:nvSpPr>
          <p:cNvPr id="79"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80" name=""/>
          <p:cNvSpPr txBox="1"/>
          <p:nvPr/>
        </p:nvSpPr>
        <p:spPr>
          <a:xfrm>
            <a:off x="914400" y="392400"/>
            <a:ext cx="22363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既存手法とその限界</a:t>
            </a:r>
            <a:endParaRPr b="0" lang="en-US" sz="1950" spc="-1" strike="noStrike">
              <a:solidFill>
                <a:srgbClr val="000000"/>
              </a:solidFill>
              <a:latin typeface="Times New Roman"/>
            </a:endParaRPr>
          </a:p>
        </p:txBody>
      </p:sp>
      <p:sp>
        <p:nvSpPr>
          <p:cNvPr id="81"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4</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85"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86" name="" descr=""/>
          <p:cNvPicPr/>
          <p:nvPr/>
        </p:nvPicPr>
        <p:blipFill>
          <a:blip r:embed="rId1"/>
          <a:stretch/>
        </p:blipFill>
        <p:spPr>
          <a:xfrm>
            <a:off x="10515600" y="38160"/>
            <a:ext cx="1142640" cy="1142640"/>
          </a:xfrm>
          <a:prstGeom prst="rect">
            <a:avLst/>
          </a:prstGeom>
          <a:ln w="0">
            <a:noFill/>
          </a:ln>
        </p:spPr>
      </p:pic>
      <p:sp>
        <p:nvSpPr>
          <p:cNvPr id="87" name=""/>
          <p:cNvSpPr txBox="1"/>
          <p:nvPr/>
        </p:nvSpPr>
        <p:spPr>
          <a:xfrm>
            <a:off x="533520" y="1343160"/>
            <a:ext cx="71726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論文から、著者自身の意図や論理展開を忠実に反映した、</a:t>
            </a:r>
            <a:endParaRPr b="0" lang="en-US" sz="2170" spc="-1" strike="noStrike">
              <a:solidFill>
                <a:srgbClr val="000000"/>
              </a:solidFill>
              <a:latin typeface="Times New Roman"/>
            </a:endParaRPr>
          </a:p>
        </p:txBody>
      </p:sp>
      <p:sp>
        <p:nvSpPr>
          <p:cNvPr id="88" name=""/>
          <p:cNvSpPr/>
          <p:nvPr/>
        </p:nvSpPr>
        <p:spPr>
          <a:xfrm>
            <a:off x="809280" y="2724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89" name=""/>
          <p:cNvSpPr txBox="1"/>
          <p:nvPr/>
        </p:nvSpPr>
        <p:spPr>
          <a:xfrm>
            <a:off x="533520" y="1752480"/>
            <a:ext cx="800028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一貫性のあるナラティブを持つ高品質なスライド</a:t>
            </a:r>
            <a:r>
              <a:rPr b="0" lang="zh-CN" sz="2170" spc="-1" strike="noStrike">
                <a:solidFill>
                  <a:srgbClr val="111111"/>
                </a:solidFill>
                <a:latin typeface="NotoSansJP"/>
                <a:ea typeface="NotoSansJP"/>
              </a:rPr>
              <a:t>を自動生成する</a:t>
            </a:r>
            <a:endParaRPr b="0" lang="en-US" sz="2170" spc="-1" strike="noStrike">
              <a:solidFill>
                <a:srgbClr val="000000"/>
              </a:solidFill>
              <a:latin typeface="Times New Roman"/>
            </a:endParaRPr>
          </a:p>
        </p:txBody>
      </p:sp>
      <p:sp>
        <p:nvSpPr>
          <p:cNvPr id="90" name=""/>
          <p:cNvSpPr/>
          <p:nvPr/>
        </p:nvSpPr>
        <p:spPr>
          <a:xfrm>
            <a:off x="809280" y="3209760"/>
            <a:ext cx="105120" cy="105120"/>
          </a:xfrm>
          <a:custGeom>
            <a:avLst/>
            <a:gdLst/>
            <a:ahLst/>
            <a:rect l="0" t="0" r="r" b="b"/>
            <a:pathLst>
              <a:path w="292" h="292">
                <a:moveTo>
                  <a:pt x="292" y="145"/>
                </a:moveTo>
                <a:cubicBezTo>
                  <a:pt x="292" y="155"/>
                  <a:pt x="292" y="164"/>
                  <a:pt x="290" y="174"/>
                </a:cubicBezTo>
                <a:cubicBezTo>
                  <a:pt x="288" y="183"/>
                  <a:pt x="285" y="192"/>
                  <a:pt x="281" y="201"/>
                </a:cubicBezTo>
                <a:cubicBezTo>
                  <a:pt x="278" y="210"/>
                  <a:pt x="273" y="218"/>
                  <a:pt x="268" y="226"/>
                </a:cubicBezTo>
                <a:cubicBezTo>
                  <a:pt x="263" y="234"/>
                  <a:pt x="257" y="242"/>
                  <a:pt x="250" y="248"/>
                </a:cubicBezTo>
                <a:cubicBezTo>
                  <a:pt x="243" y="256"/>
                  <a:pt x="236" y="262"/>
                  <a:pt x="228" y="267"/>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7"/>
                </a:cubicBezTo>
                <a:cubicBezTo>
                  <a:pt x="57" y="262"/>
                  <a:pt x="50" y="256"/>
                  <a:pt x="43" y="248"/>
                </a:cubicBezTo>
                <a:cubicBezTo>
                  <a:pt x="36" y="242"/>
                  <a:pt x="30" y="234"/>
                  <a:pt x="25" y="226"/>
                </a:cubicBezTo>
                <a:cubicBezTo>
                  <a:pt x="20" y="218"/>
                  <a:pt x="15" y="210"/>
                  <a:pt x="12" y="201"/>
                </a:cubicBezTo>
                <a:cubicBezTo>
                  <a:pt x="8" y="192"/>
                  <a:pt x="5" y="183"/>
                  <a:pt x="3" y="174"/>
                </a:cubicBezTo>
                <a:cubicBezTo>
                  <a:pt x="1" y="164"/>
                  <a:pt x="0" y="155"/>
                  <a:pt x="0" y="145"/>
                </a:cubicBezTo>
                <a:cubicBezTo>
                  <a:pt x="0" y="136"/>
                  <a:pt x="1" y="126"/>
                  <a:pt x="3" y="117"/>
                </a:cubicBezTo>
                <a:cubicBezTo>
                  <a:pt x="5" y="108"/>
                  <a:pt x="8" y="99"/>
                  <a:pt x="12" y="90"/>
                </a:cubicBezTo>
                <a:cubicBezTo>
                  <a:pt x="15" y="81"/>
                  <a:pt x="20" y="73"/>
                  <a:pt x="25" y="65"/>
                </a:cubicBezTo>
                <a:cubicBezTo>
                  <a:pt x="30" y="57"/>
                  <a:pt x="36" y="49"/>
                  <a:pt x="43" y="43"/>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3"/>
                </a:cubicBezTo>
                <a:cubicBezTo>
                  <a:pt x="257" y="49"/>
                  <a:pt x="263" y="57"/>
                  <a:pt x="268" y="65"/>
                </a:cubicBezTo>
                <a:cubicBezTo>
                  <a:pt x="273" y="73"/>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91" name=""/>
          <p:cNvSpPr txBox="1"/>
          <p:nvPr/>
        </p:nvSpPr>
        <p:spPr>
          <a:xfrm>
            <a:off x="1085760" y="2581200"/>
            <a:ext cx="71726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生成されたスライド全体の物語性と論理的な一貫性を実現</a:t>
            </a:r>
            <a:endParaRPr b="0" lang="en-US" sz="2170" spc="-1" strike="noStrike">
              <a:solidFill>
                <a:srgbClr val="000000"/>
              </a:solidFill>
              <a:latin typeface="Times New Roman"/>
            </a:endParaRPr>
          </a:p>
        </p:txBody>
      </p:sp>
      <p:sp>
        <p:nvSpPr>
          <p:cNvPr id="92" name=""/>
          <p:cNvSpPr/>
          <p:nvPr/>
        </p:nvSpPr>
        <p:spPr>
          <a:xfrm>
            <a:off x="809280" y="369540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93" name=""/>
          <p:cNvSpPr txBox="1"/>
          <p:nvPr/>
        </p:nvSpPr>
        <p:spPr>
          <a:xfrm>
            <a:off x="1085760" y="306720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論文全体の高レベルな構造や意図を保持</a:t>
            </a:r>
            <a:endParaRPr b="0" lang="en-US" sz="2170" spc="-1" strike="noStrike">
              <a:solidFill>
                <a:srgbClr val="000000"/>
              </a:solidFill>
              <a:latin typeface="Times New Roman"/>
            </a:endParaRPr>
          </a:p>
        </p:txBody>
      </p:sp>
      <p:sp>
        <p:nvSpPr>
          <p:cNvPr id="94" name=""/>
          <p:cNvSpPr txBox="1"/>
          <p:nvPr/>
        </p:nvSpPr>
        <p:spPr>
          <a:xfrm>
            <a:off x="1085760" y="355284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発表の流れを考慮した内容の再構成</a:t>
            </a:r>
            <a:endParaRPr b="0" lang="en-US" sz="2170" spc="-1" strike="noStrike">
              <a:solidFill>
                <a:srgbClr val="000000"/>
              </a:solidFill>
              <a:latin typeface="Times New Roman"/>
            </a:endParaRPr>
          </a:p>
        </p:txBody>
      </p:sp>
      <p:sp>
        <p:nvSpPr>
          <p:cNvPr id="95"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96" name=""/>
          <p:cNvSpPr txBox="1"/>
          <p:nvPr/>
        </p:nvSpPr>
        <p:spPr>
          <a:xfrm>
            <a:off x="914400" y="392400"/>
            <a:ext cx="14911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本研究の目的</a:t>
            </a:r>
            <a:endParaRPr b="0" lang="en-US" sz="1950" spc="-1" strike="noStrike">
              <a:solidFill>
                <a:srgbClr val="000000"/>
              </a:solidFill>
              <a:latin typeface="Times New Roman"/>
            </a:endParaRPr>
          </a:p>
        </p:txBody>
      </p:sp>
      <p:sp>
        <p:nvSpPr>
          <p:cNvPr id="97"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5</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9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1"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02" name="" descr=""/>
          <p:cNvPicPr/>
          <p:nvPr/>
        </p:nvPicPr>
        <p:blipFill>
          <a:blip r:embed="rId1"/>
          <a:stretch/>
        </p:blipFill>
        <p:spPr>
          <a:xfrm>
            <a:off x="10515600" y="38160"/>
            <a:ext cx="1142640" cy="1142640"/>
          </a:xfrm>
          <a:prstGeom prst="rect">
            <a:avLst/>
          </a:prstGeom>
          <a:ln w="0">
            <a:noFill/>
          </a:ln>
        </p:spPr>
      </p:pic>
      <p:pic>
        <p:nvPicPr>
          <p:cNvPr id="103" name="" descr=""/>
          <p:cNvPicPr/>
          <p:nvPr/>
        </p:nvPicPr>
        <p:blipFill>
          <a:blip r:embed="rId2"/>
          <a:stretch/>
        </p:blipFill>
        <p:spPr>
          <a:xfrm>
            <a:off x="533520" y="1409760"/>
            <a:ext cx="4952520" cy="2790360"/>
          </a:xfrm>
          <a:prstGeom prst="rect">
            <a:avLst/>
          </a:prstGeom>
          <a:ln w="0">
            <a:noFill/>
          </a:ln>
        </p:spPr>
      </p:pic>
      <p:sp>
        <p:nvSpPr>
          <p:cNvPr id="104" name=""/>
          <p:cNvSpPr txBox="1"/>
          <p:nvPr/>
        </p:nvSpPr>
        <p:spPr>
          <a:xfrm>
            <a:off x="533520" y="923760"/>
            <a:ext cx="9379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論文からスライド生成を「構造化されたナラティブの再構築」と捉えます。</a:t>
            </a:r>
            <a:endParaRPr b="0" lang="en-US" sz="2170" spc="-1" strike="noStrike">
              <a:solidFill>
                <a:srgbClr val="000000"/>
              </a:solidFill>
              <a:latin typeface="Times New Roman"/>
            </a:endParaRPr>
          </a:p>
        </p:txBody>
      </p:sp>
      <p:sp>
        <p:nvSpPr>
          <p:cNvPr id="105" name=""/>
          <p:cNvSpPr txBox="1"/>
          <p:nvPr/>
        </p:nvSpPr>
        <p:spPr>
          <a:xfrm>
            <a:off x="533520" y="4410000"/>
            <a:ext cx="1010016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Figure 2: ArcDeck Overview. 1) Preprocessing extracts textual and visual assets from</a:t>
            </a:r>
            <a:endParaRPr b="0" lang="en-US" sz="2170" spc="-1" strike="noStrike">
              <a:solidFill>
                <a:srgbClr val="000000"/>
              </a:solidFill>
              <a:latin typeface="Times New Roman"/>
            </a:endParaRPr>
          </a:p>
        </p:txBody>
      </p:sp>
      <p:sp>
        <p:nvSpPr>
          <p:cNvPr id="106" name=""/>
          <p:cNvSpPr/>
          <p:nvPr/>
        </p:nvSpPr>
        <p:spPr>
          <a:xfrm>
            <a:off x="809280" y="547668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7"/>
                  <a:pt x="36" y="49"/>
                  <a:pt x="43" y="43"/>
                </a:cubicBezTo>
                <a:cubicBezTo>
                  <a:pt x="50" y="36"/>
                  <a:pt x="57" y="30"/>
                  <a:pt x="65" y="25"/>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5"/>
                </a:cubicBezTo>
                <a:cubicBezTo>
                  <a:pt x="236" y="30"/>
                  <a:pt x="243" y="36"/>
                  <a:pt x="250" y="43"/>
                </a:cubicBezTo>
                <a:cubicBezTo>
                  <a:pt x="257" y="49"/>
                  <a:pt x="263" y="57"/>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7" name=""/>
          <p:cNvSpPr txBox="1"/>
          <p:nvPr/>
        </p:nvSpPr>
        <p:spPr>
          <a:xfrm>
            <a:off x="533520" y="4829040"/>
            <a:ext cx="129168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the source</a:t>
            </a:r>
            <a:endParaRPr b="0" lang="en-US" sz="2170" spc="-1" strike="noStrike">
              <a:solidFill>
                <a:srgbClr val="000000"/>
              </a:solidFill>
              <a:latin typeface="Times New Roman"/>
            </a:endParaRPr>
          </a:p>
        </p:txBody>
      </p:sp>
      <p:sp>
        <p:nvSpPr>
          <p:cNvPr id="108" name=""/>
          <p:cNvSpPr/>
          <p:nvPr/>
        </p:nvSpPr>
        <p:spPr>
          <a:xfrm>
            <a:off x="809280" y="5962320"/>
            <a:ext cx="105120" cy="105120"/>
          </a:xfrm>
          <a:custGeom>
            <a:avLst/>
            <a:gdLst/>
            <a:ahLst/>
            <a:rect l="0" t="0" r="r" b="b"/>
            <a:pathLst>
              <a:path w="292" h="292">
                <a:moveTo>
                  <a:pt x="292" y="146"/>
                </a:moveTo>
                <a:cubicBezTo>
                  <a:pt x="292" y="155"/>
                  <a:pt x="292" y="165"/>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5"/>
                  <a:pt x="0" y="155"/>
                  <a:pt x="0" y="146"/>
                </a:cubicBezTo>
                <a:cubicBezTo>
                  <a:pt x="0" y="136"/>
                  <a:pt x="1" y="127"/>
                  <a:pt x="3" y="118"/>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8"/>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9" name=""/>
          <p:cNvSpPr txBox="1"/>
          <p:nvPr/>
        </p:nvSpPr>
        <p:spPr>
          <a:xfrm>
            <a:off x="1085760" y="5334120"/>
            <a:ext cx="78422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1. Preprocessing: </a:t>
            </a:r>
            <a:r>
              <a:rPr b="0" lang="zh-CN" sz="2170" spc="-1" strike="noStrike">
                <a:solidFill>
                  <a:srgbClr val="111111"/>
                </a:solidFill>
                <a:latin typeface="NotoSansJP"/>
                <a:ea typeface="NotoSansJP"/>
              </a:rPr>
              <a:t>論文</a:t>
            </a:r>
            <a:r>
              <a:rPr b="0" lang="en-US" sz="2170" spc="-1" strike="noStrike">
                <a:solidFill>
                  <a:srgbClr val="111111"/>
                </a:solidFill>
                <a:latin typeface="NotoSansJP"/>
                <a:ea typeface="NotoSansJP"/>
              </a:rPr>
              <a:t>PDF</a:t>
            </a:r>
            <a:r>
              <a:rPr b="0" lang="zh-CN" sz="2170" spc="-1" strike="noStrike">
                <a:solidFill>
                  <a:srgbClr val="111111"/>
                </a:solidFill>
                <a:latin typeface="NotoSansJP"/>
                <a:ea typeface="NotoSansJP"/>
              </a:rPr>
              <a:t>からテキストと図表を抽出‧構造化</a:t>
            </a:r>
            <a:endParaRPr b="0" lang="en-US" sz="2170" spc="-1" strike="noStrike">
              <a:solidFill>
                <a:srgbClr val="000000"/>
              </a:solidFill>
              <a:latin typeface="Times New Roman"/>
            </a:endParaRPr>
          </a:p>
        </p:txBody>
      </p:sp>
      <p:sp>
        <p:nvSpPr>
          <p:cNvPr id="110" name=""/>
          <p:cNvSpPr txBox="1"/>
          <p:nvPr/>
        </p:nvSpPr>
        <p:spPr>
          <a:xfrm>
            <a:off x="1085760" y="5819760"/>
            <a:ext cx="98017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2. Narrative-Driven Outline Generation: </a:t>
            </a:r>
            <a:r>
              <a:rPr b="0" lang="zh-CN" sz="2170" spc="-1" strike="noStrike">
                <a:solidFill>
                  <a:srgbClr val="111111"/>
                </a:solidFill>
                <a:latin typeface="NotoSansJP"/>
                <a:ea typeface="NotoSansJP"/>
              </a:rPr>
              <a:t>談話構造解析と全体計画に基づき、エー</a:t>
            </a:r>
            <a:endParaRPr b="0" lang="en-US" sz="2170" spc="-1" strike="noStrike">
              <a:solidFill>
                <a:srgbClr val="000000"/>
              </a:solidFill>
              <a:latin typeface="Times New Roman"/>
            </a:endParaRPr>
          </a:p>
        </p:txBody>
      </p:sp>
      <p:sp>
        <p:nvSpPr>
          <p:cNvPr id="111" name=""/>
          <p:cNvSpPr/>
          <p:nvPr/>
        </p:nvSpPr>
        <p:spPr>
          <a:xfrm>
            <a:off x="809280" y="6857640"/>
            <a:ext cx="105120" cy="105480"/>
          </a:xfrm>
          <a:custGeom>
            <a:avLst/>
            <a:gdLst/>
            <a:ahLst/>
            <a:rect l="0" t="0" r="r" b="b"/>
            <a:pathLst>
              <a:path w="292" h="293">
                <a:moveTo>
                  <a:pt x="292" y="147"/>
                </a:moveTo>
                <a:cubicBezTo>
                  <a:pt x="292" y="157"/>
                  <a:pt x="292" y="166"/>
                  <a:pt x="290" y="175"/>
                </a:cubicBezTo>
                <a:cubicBezTo>
                  <a:pt x="288" y="185"/>
                  <a:pt x="285" y="194"/>
                  <a:pt x="281" y="203"/>
                </a:cubicBezTo>
                <a:cubicBezTo>
                  <a:pt x="278" y="212"/>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3"/>
                  <a:pt x="146" y="293"/>
                </a:cubicBezTo>
                <a:cubicBezTo>
                  <a:pt x="136" y="293"/>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2"/>
                  <a:pt x="12" y="203"/>
                </a:cubicBezTo>
                <a:cubicBezTo>
                  <a:pt x="8" y="194"/>
                  <a:pt x="5" y="185"/>
                  <a:pt x="3" y="175"/>
                </a:cubicBezTo>
                <a:cubicBezTo>
                  <a:pt x="1" y="166"/>
                  <a:pt x="0" y="157"/>
                  <a:pt x="0" y="147"/>
                </a:cubicBezTo>
                <a:cubicBezTo>
                  <a:pt x="0" y="137"/>
                  <a:pt x="1" y="128"/>
                  <a:pt x="3" y="119"/>
                </a:cubicBezTo>
                <a:cubicBezTo>
                  <a:pt x="5" y="109"/>
                  <a:pt x="8" y="100"/>
                  <a:pt x="12" y="91"/>
                </a:cubicBezTo>
                <a:cubicBezTo>
                  <a:pt x="15" y="83"/>
                  <a:pt x="20" y="74"/>
                  <a:pt x="25" y="66"/>
                </a:cubicBezTo>
                <a:cubicBezTo>
                  <a:pt x="30" y="58"/>
                  <a:pt x="36" y="51"/>
                  <a:pt x="43" y="44"/>
                </a:cubicBezTo>
                <a:cubicBezTo>
                  <a:pt x="50" y="37"/>
                  <a:pt x="57" y="31"/>
                  <a:pt x="65" y="26"/>
                </a:cubicBezTo>
                <a:cubicBezTo>
                  <a:pt x="73" y="21"/>
                  <a:pt x="81" y="16"/>
                  <a:pt x="90" y="13"/>
                </a:cubicBezTo>
                <a:cubicBezTo>
                  <a:pt x="99" y="8"/>
                  <a:pt x="108" y="5"/>
                  <a:pt x="118" y="3"/>
                </a:cubicBezTo>
                <a:cubicBezTo>
                  <a:pt x="127" y="1"/>
                  <a:pt x="136" y="0"/>
                  <a:pt x="146" y="0"/>
                </a:cubicBezTo>
                <a:cubicBezTo>
                  <a:pt x="156" y="0"/>
                  <a:pt x="165" y="1"/>
                  <a:pt x="174" y="3"/>
                </a:cubicBezTo>
                <a:cubicBezTo>
                  <a:pt x="184" y="5"/>
                  <a:pt x="193" y="8"/>
                  <a:pt x="202" y="13"/>
                </a:cubicBezTo>
                <a:cubicBezTo>
                  <a:pt x="210" y="16"/>
                  <a:pt x="219" y="21"/>
                  <a:pt x="228" y="26"/>
                </a:cubicBezTo>
                <a:cubicBezTo>
                  <a:pt x="236" y="31"/>
                  <a:pt x="243" y="37"/>
                  <a:pt x="250" y="44"/>
                </a:cubicBezTo>
                <a:cubicBezTo>
                  <a:pt x="257" y="51"/>
                  <a:pt x="263" y="58"/>
                  <a:pt x="268" y="66"/>
                </a:cubicBezTo>
                <a:cubicBezTo>
                  <a:pt x="273" y="74"/>
                  <a:pt x="278" y="83"/>
                  <a:pt x="281" y="91"/>
                </a:cubicBezTo>
                <a:cubicBezTo>
                  <a:pt x="285" y="100"/>
                  <a:pt x="288" y="109"/>
                  <a:pt x="290" y="119"/>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2" name=""/>
          <p:cNvSpPr txBox="1"/>
          <p:nvPr/>
        </p:nvSpPr>
        <p:spPr>
          <a:xfrm>
            <a:off x="1085760" y="623880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ジェントが反復的にアウトラインを推敲</a:t>
            </a:r>
            <a:endParaRPr b="0" lang="en-US" sz="2170" spc="-1" strike="noStrike">
              <a:solidFill>
                <a:srgbClr val="000000"/>
              </a:solidFill>
              <a:latin typeface="Times New Roman"/>
            </a:endParaRPr>
          </a:p>
        </p:txBody>
      </p:sp>
      <p:sp>
        <p:nvSpPr>
          <p:cNvPr id="113" name=""/>
          <p:cNvSpPr txBox="1"/>
          <p:nvPr/>
        </p:nvSpPr>
        <p:spPr>
          <a:xfrm>
            <a:off x="1085760" y="6715080"/>
            <a:ext cx="93978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3 Slide Generation: </a:t>
            </a:r>
            <a:r>
              <a:rPr b="0" lang="zh-CN" sz="2170" spc="-1" strike="noStrike">
                <a:solidFill>
                  <a:srgbClr val="111111"/>
                </a:solidFill>
                <a:latin typeface="NotoSansJP"/>
                <a:ea typeface="NotoSansJP"/>
              </a:rPr>
              <a:t>洗練されたアウトラインを基に 最終的なスライドを生成</a:t>
            </a:r>
            <a:endParaRPr b="0" lang="en-US" sz="2170" spc="-1" strike="noStrike">
              <a:solidFill>
                <a:srgbClr val="000000"/>
              </a:solidFill>
              <a:latin typeface="Times New Roman"/>
            </a:endParaRPr>
          </a:p>
        </p:txBody>
      </p:sp>
      <p:sp>
        <p:nvSpPr>
          <p:cNvPr id="114"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5" name=""/>
          <p:cNvSpPr txBox="1"/>
          <p:nvPr/>
        </p:nvSpPr>
        <p:spPr>
          <a:xfrm>
            <a:off x="914400" y="392400"/>
            <a:ext cx="33296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提案手法：</a:t>
            </a:r>
            <a:r>
              <a:rPr b="0" lang="en-US" sz="1950" spc="-1" strike="noStrike">
                <a:solidFill>
                  <a:srgbClr val="111111"/>
                </a:solidFill>
                <a:latin typeface="NotoSansJP"/>
                <a:ea typeface="NotoSansJP"/>
              </a:rPr>
              <a:t>ArcDeck </a:t>
            </a:r>
            <a:r>
              <a:rPr b="0" lang="zh-CN" sz="1950" spc="-1" strike="noStrike">
                <a:solidFill>
                  <a:srgbClr val="111111"/>
                </a:solidFill>
                <a:latin typeface="NotoSansJP"/>
                <a:ea typeface="NotoSansJP"/>
              </a:rPr>
              <a:t>の全体像</a:t>
            </a:r>
            <a:endParaRPr b="0" lang="en-US" sz="1950" spc="-1" strike="noStrike">
              <a:solidFill>
                <a:srgbClr val="000000"/>
              </a:solidFill>
              <a:latin typeface="Times New Roman"/>
            </a:endParaRPr>
          </a:p>
        </p:txBody>
      </p:sp>
      <p:sp>
        <p:nvSpPr>
          <p:cNvPr id="116"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6</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1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1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20"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21" name="" descr=""/>
          <p:cNvPicPr/>
          <p:nvPr/>
        </p:nvPicPr>
        <p:blipFill>
          <a:blip r:embed="rId1"/>
          <a:stretch/>
        </p:blipFill>
        <p:spPr>
          <a:xfrm>
            <a:off x="10515600" y="38160"/>
            <a:ext cx="1142640" cy="1142640"/>
          </a:xfrm>
          <a:prstGeom prst="rect">
            <a:avLst/>
          </a:prstGeom>
          <a:ln w="0">
            <a:noFill/>
          </a:ln>
        </p:spPr>
      </p:pic>
      <p:sp>
        <p:nvSpPr>
          <p:cNvPr id="122"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23" name=""/>
          <p:cNvSpPr txBox="1"/>
          <p:nvPr/>
        </p:nvSpPr>
        <p:spPr>
          <a:xfrm>
            <a:off x="533520" y="923760"/>
            <a:ext cx="63450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論文の論理的な骨格を「談話木」として捉えます。</a:t>
            </a:r>
            <a:endParaRPr b="0" lang="en-US" sz="2170" spc="-1" strike="noStrike">
              <a:solidFill>
                <a:srgbClr val="000000"/>
              </a:solidFill>
              <a:latin typeface="Times New Roman"/>
            </a:endParaRPr>
          </a:p>
        </p:txBody>
      </p:sp>
      <p:sp>
        <p:nvSpPr>
          <p:cNvPr id="124"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25" name=""/>
          <p:cNvSpPr txBox="1"/>
          <p:nvPr/>
        </p:nvSpPr>
        <p:spPr>
          <a:xfrm>
            <a:off x="1085760" y="1438200"/>
            <a:ext cx="37990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Discourse Parser (</a:t>
            </a:r>
            <a:r>
              <a:rPr b="0" lang="zh-CN" sz="2170" spc="-1" strike="noStrike">
                <a:solidFill>
                  <a:srgbClr val="111111"/>
                </a:solidFill>
                <a:latin typeface="NotoSansJP"/>
                <a:ea typeface="NotoSansJP"/>
              </a:rPr>
              <a:t>談話解析器</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26" name=""/>
          <p:cNvSpPr/>
          <p:nvPr/>
        </p:nvSpPr>
        <p:spPr>
          <a:xfrm>
            <a:off x="1914480" y="240948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27" name=""/>
          <p:cNvSpPr txBox="1"/>
          <p:nvPr/>
        </p:nvSpPr>
        <p:spPr>
          <a:xfrm>
            <a:off x="1638360" y="1847880"/>
            <a:ext cx="69433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修辞構造理論 </a:t>
            </a:r>
            <a:r>
              <a:rPr b="0" lang="en-US" sz="2170" spc="-1" strike="noStrike">
                <a:solidFill>
                  <a:srgbClr val="111111"/>
                </a:solidFill>
                <a:latin typeface="NotoSansJP"/>
                <a:ea typeface="NotoSansJP"/>
              </a:rPr>
              <a:t>(RST) </a:t>
            </a:r>
            <a:r>
              <a:rPr b="0" lang="zh-CN" sz="2170" spc="-1" strike="noStrike">
                <a:solidFill>
                  <a:srgbClr val="111111"/>
                </a:solidFill>
                <a:latin typeface="NotoSansJP"/>
                <a:ea typeface="NotoSansJP"/>
              </a:rPr>
              <a:t>に基づき、段落間の論理関係を解析</a:t>
            </a:r>
            <a:endParaRPr b="0" lang="en-US" sz="2170" spc="-1" strike="noStrike">
              <a:solidFill>
                <a:srgbClr val="000000"/>
              </a:solidFill>
              <a:latin typeface="Times New Roman"/>
            </a:endParaRPr>
          </a:p>
        </p:txBody>
      </p:sp>
      <p:sp>
        <p:nvSpPr>
          <p:cNvPr id="128" name=""/>
          <p:cNvSpPr/>
          <p:nvPr/>
        </p:nvSpPr>
        <p:spPr>
          <a:xfrm>
            <a:off x="1361880" y="289548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8"/>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8"/>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29" name=""/>
          <p:cNvSpPr txBox="1"/>
          <p:nvPr/>
        </p:nvSpPr>
        <p:spPr>
          <a:xfrm>
            <a:off x="2190600" y="2266920"/>
            <a:ext cx="6621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例：「主張」と「具体例」、「原因」と「結果」など</a:t>
            </a:r>
            <a:endParaRPr b="0" lang="en-US" sz="2170" spc="-1" strike="noStrike">
              <a:solidFill>
                <a:srgbClr val="000000"/>
              </a:solidFill>
              <a:latin typeface="Times New Roman"/>
            </a:endParaRPr>
          </a:p>
        </p:txBody>
      </p:sp>
      <p:sp>
        <p:nvSpPr>
          <p:cNvPr id="130" name=""/>
          <p:cNvSpPr/>
          <p:nvPr/>
        </p:nvSpPr>
        <p:spPr>
          <a:xfrm>
            <a:off x="1361880" y="3371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31" name=""/>
          <p:cNvSpPr txBox="1"/>
          <p:nvPr/>
        </p:nvSpPr>
        <p:spPr>
          <a:xfrm>
            <a:off x="1638360" y="2752560"/>
            <a:ext cx="82760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階層的な木構造（談話木）を構築し、論文の深い論理構造を可視化</a:t>
            </a:r>
            <a:endParaRPr b="0" lang="en-US" sz="2170" spc="-1" strike="noStrike">
              <a:solidFill>
                <a:srgbClr val="000000"/>
              </a:solidFill>
              <a:latin typeface="Times New Roman"/>
            </a:endParaRPr>
          </a:p>
        </p:txBody>
      </p:sp>
      <p:sp>
        <p:nvSpPr>
          <p:cNvPr id="132" name=""/>
          <p:cNvSpPr txBox="1"/>
          <p:nvPr/>
        </p:nvSpPr>
        <p:spPr>
          <a:xfrm>
            <a:off x="1638360" y="3228840"/>
            <a:ext cx="8827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この構造が、一貫したナラティブを持つアウトライン生成の土台となる</a:t>
            </a:r>
            <a:endParaRPr b="0" lang="en-US" sz="2170" spc="-1" strike="noStrike">
              <a:solidFill>
                <a:srgbClr val="000000"/>
              </a:solidFill>
              <a:latin typeface="Times New Roman"/>
            </a:endParaRPr>
          </a:p>
        </p:txBody>
      </p:sp>
      <p:sp>
        <p:nvSpPr>
          <p:cNvPr id="133" name=""/>
          <p:cNvSpPr txBox="1"/>
          <p:nvPr/>
        </p:nvSpPr>
        <p:spPr>
          <a:xfrm>
            <a:off x="533520" y="4210200"/>
            <a:ext cx="39445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Figure 3. </a:t>
            </a:r>
            <a:r>
              <a:rPr b="0" lang="zh-CN" sz="2170" spc="-1" strike="noStrike">
                <a:solidFill>
                  <a:srgbClr val="111111"/>
                </a:solidFill>
                <a:latin typeface="NotoSansJP"/>
                <a:ea typeface="NotoSansJP"/>
              </a:rPr>
              <a:t>談話木の具体例</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34"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35" name=""/>
          <p:cNvSpPr txBox="1"/>
          <p:nvPr/>
        </p:nvSpPr>
        <p:spPr>
          <a:xfrm>
            <a:off x="914400" y="392400"/>
            <a:ext cx="37562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コア技術</a:t>
            </a:r>
            <a:r>
              <a:rPr b="0" lang="en-US" sz="1950" spc="-1" strike="noStrike">
                <a:solidFill>
                  <a:srgbClr val="111111"/>
                </a:solidFill>
                <a:latin typeface="NotoSansJP"/>
                <a:ea typeface="NotoSansJP"/>
              </a:rPr>
              <a:t>(1): </a:t>
            </a:r>
            <a:r>
              <a:rPr b="0" lang="zh-CN" sz="1950" spc="-1" strike="noStrike">
                <a:solidFill>
                  <a:srgbClr val="111111"/>
                </a:solidFill>
                <a:latin typeface="NotoSansJP"/>
                <a:ea typeface="NotoSansJP"/>
              </a:rPr>
              <a:t>談話構造のモデル化</a:t>
            </a:r>
            <a:endParaRPr b="0" lang="en-US" sz="1950" spc="-1" strike="noStrike">
              <a:solidFill>
                <a:srgbClr val="000000"/>
              </a:solidFill>
              <a:latin typeface="Times New Roman"/>
            </a:endParaRPr>
          </a:p>
        </p:txBody>
      </p:sp>
      <p:sp>
        <p:nvSpPr>
          <p:cNvPr id="136"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7</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3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3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40"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41" name="" descr=""/>
          <p:cNvPicPr/>
          <p:nvPr/>
        </p:nvPicPr>
        <p:blipFill>
          <a:blip r:embed="rId1"/>
          <a:stretch/>
        </p:blipFill>
        <p:spPr>
          <a:xfrm>
            <a:off x="10515600" y="38160"/>
            <a:ext cx="1142640" cy="1142640"/>
          </a:xfrm>
          <a:prstGeom prst="rect">
            <a:avLst/>
          </a:prstGeom>
          <a:ln w="0">
            <a:noFill/>
          </a:ln>
        </p:spPr>
      </p:pic>
      <p:sp>
        <p:nvSpPr>
          <p:cNvPr id="142" name=""/>
          <p:cNvSpPr txBox="1"/>
          <p:nvPr/>
        </p:nvSpPr>
        <p:spPr>
          <a:xfrm>
            <a:off x="533520" y="923760"/>
            <a:ext cx="91357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「設計図」と「推敲ループ」で、スライドの質を </a:t>
            </a:r>
            <a:r>
              <a:rPr b="0" lang="en-US" sz="2170" spc="-1" strike="noStrike">
                <a:solidFill>
                  <a:srgbClr val="111111"/>
                </a:solidFill>
                <a:latin typeface="NotoSansJP"/>
                <a:ea typeface="NotoSansJP"/>
              </a:rPr>
              <a:t>iteratively </a:t>
            </a:r>
            <a:r>
              <a:rPr b="0" lang="zh-CN" sz="2170" spc="-1" strike="noStrike">
                <a:solidFill>
                  <a:srgbClr val="111111"/>
                </a:solidFill>
                <a:latin typeface="NotoSansJP"/>
                <a:ea typeface="NotoSansJP"/>
              </a:rPr>
              <a:t>に高めます。</a:t>
            </a:r>
            <a:endParaRPr b="0" lang="en-US" sz="2170" spc="-1" strike="noStrike">
              <a:solidFill>
                <a:srgbClr val="000000"/>
              </a:solidFill>
              <a:latin typeface="Times New Roman"/>
            </a:endParaRPr>
          </a:p>
        </p:txBody>
      </p:sp>
      <p:sp>
        <p:nvSpPr>
          <p:cNvPr id="143" name=""/>
          <p:cNvSpPr/>
          <p:nvPr/>
        </p:nvSpPr>
        <p:spPr>
          <a:xfrm>
            <a:off x="809280" y="2085840"/>
            <a:ext cx="105120" cy="105120"/>
          </a:xfrm>
          <a:custGeom>
            <a:avLst/>
            <a:gdLst/>
            <a:ahLst/>
            <a:rect l="0" t="0" r="r" b="b"/>
            <a:pathLst>
              <a:path w="292" h="292">
                <a:moveTo>
                  <a:pt x="292" y="145"/>
                </a:moveTo>
                <a:cubicBezTo>
                  <a:pt x="292" y="155"/>
                  <a:pt x="292" y="164"/>
                  <a:pt x="290" y="175"/>
                </a:cubicBezTo>
                <a:cubicBezTo>
                  <a:pt x="288" y="184"/>
                  <a:pt x="285" y="193"/>
                  <a:pt x="281" y="202"/>
                </a:cubicBezTo>
                <a:cubicBezTo>
                  <a:pt x="278" y="211"/>
                  <a:pt x="273" y="219"/>
                  <a:pt x="268" y="227"/>
                </a:cubicBezTo>
                <a:cubicBezTo>
                  <a:pt x="263" y="235"/>
                  <a:pt x="257" y="243"/>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4"/>
                  <a:pt x="0" y="155"/>
                  <a:pt x="0" y="145"/>
                </a:cubicBezTo>
                <a:cubicBezTo>
                  <a:pt x="0" y="136"/>
                  <a:pt x="1" y="126"/>
                  <a:pt x="3" y="117"/>
                </a:cubicBezTo>
                <a:cubicBezTo>
                  <a:pt x="5" y="108"/>
                  <a:pt x="8" y="99"/>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44" name=""/>
          <p:cNvSpPr txBox="1"/>
          <p:nvPr/>
        </p:nvSpPr>
        <p:spPr>
          <a:xfrm>
            <a:off x="533520" y="1438200"/>
            <a:ext cx="2500200" cy="375120"/>
          </a:xfrm>
          <a:prstGeom prst="rect">
            <a:avLst/>
          </a:prstGeom>
          <a:noFill/>
          <a:ln w="0">
            <a:noFill/>
          </a:ln>
        </p:spPr>
        <p:txBody>
          <a:bodyPr wrap="none" lIns="0" rIns="0" tIns="0" bIns="0" anchor="t">
            <a:noAutofit/>
          </a:bodyPr>
          <a:p>
            <a:r>
              <a:rPr b="0" lang="en-US" sz="2170" spc="-1" strike="noStrike">
                <a:solidFill>
                  <a:srgbClr val="083a5e"/>
                </a:solidFill>
                <a:latin typeface="NotoSansJP"/>
                <a:ea typeface="NotoSansJP"/>
              </a:rPr>
              <a:t>Commitment Builder</a:t>
            </a:r>
            <a:endParaRPr b="0" lang="en-US" sz="2170" spc="-1" strike="noStrike">
              <a:solidFill>
                <a:srgbClr val="000000"/>
              </a:solidFill>
              <a:latin typeface="Times New Roman"/>
            </a:endParaRPr>
          </a:p>
        </p:txBody>
      </p:sp>
      <p:sp>
        <p:nvSpPr>
          <p:cNvPr id="145" name=""/>
          <p:cNvSpPr txBox="1"/>
          <p:nvPr/>
        </p:nvSpPr>
        <p:spPr>
          <a:xfrm>
            <a:off x="1085760" y="194292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論文の主題、貢献、想定聴衆などの高</a:t>
            </a:r>
            <a:endParaRPr b="0" lang="en-US" sz="2170" spc="-1" strike="noStrike">
              <a:solidFill>
                <a:srgbClr val="000000"/>
              </a:solidFill>
              <a:latin typeface="Times New Roman"/>
            </a:endParaRPr>
          </a:p>
        </p:txBody>
      </p:sp>
      <p:sp>
        <p:nvSpPr>
          <p:cNvPr id="146" name=""/>
          <p:cNvSpPr txBox="1"/>
          <p:nvPr/>
        </p:nvSpPr>
        <p:spPr>
          <a:xfrm>
            <a:off x="1085760" y="2362320"/>
            <a:ext cx="47041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レベルな情報を「</a:t>
            </a:r>
            <a:r>
              <a:rPr b="0" lang="en-US" sz="2170" spc="-1" strike="noStrike">
                <a:solidFill>
                  <a:srgbClr val="111111"/>
                </a:solidFill>
                <a:latin typeface="NotoSansJP"/>
                <a:ea typeface="NotoSansJP"/>
              </a:rPr>
              <a:t>Global Commitment</a:t>
            </a:r>
            <a:endParaRPr b="0" lang="en-US" sz="2170" spc="-1" strike="noStrike">
              <a:solidFill>
                <a:srgbClr val="000000"/>
              </a:solidFill>
              <a:latin typeface="Times New Roman"/>
            </a:endParaRPr>
          </a:p>
        </p:txBody>
      </p:sp>
      <p:sp>
        <p:nvSpPr>
          <p:cNvPr id="147" name=""/>
          <p:cNvSpPr/>
          <p:nvPr/>
        </p:nvSpPr>
        <p:spPr>
          <a:xfrm>
            <a:off x="809280" y="3400200"/>
            <a:ext cx="105120" cy="105120"/>
          </a:xfrm>
          <a:custGeom>
            <a:avLst/>
            <a:gdLst/>
            <a:ahLst/>
            <a:rect l="0" t="0" r="r" b="b"/>
            <a:pathLst>
              <a:path w="292" h="292">
                <a:moveTo>
                  <a:pt x="292" y="147"/>
                </a:moveTo>
                <a:cubicBezTo>
                  <a:pt x="292" y="156"/>
                  <a:pt x="292" y="166"/>
                  <a:pt x="290" y="175"/>
                </a:cubicBezTo>
                <a:cubicBezTo>
                  <a:pt x="288" y="184"/>
                  <a:pt x="285" y="194"/>
                  <a:pt x="281" y="202"/>
                </a:cubicBezTo>
                <a:cubicBezTo>
                  <a:pt x="278" y="211"/>
                  <a:pt x="273" y="220"/>
                  <a:pt x="268" y="227"/>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7"/>
                </a:cubicBezTo>
                <a:cubicBezTo>
                  <a:pt x="20" y="220"/>
                  <a:pt x="15" y="211"/>
                  <a:pt x="12" y="202"/>
                </a:cubicBezTo>
                <a:cubicBezTo>
                  <a:pt x="8" y="194"/>
                  <a:pt x="5" y="184"/>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7"/>
                  <a:pt x="57" y="31"/>
                  <a:pt x="65" y="26"/>
                </a:cubicBezTo>
                <a:cubicBezTo>
                  <a:pt x="73" y="20"/>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0"/>
                  <a:pt x="228" y="26"/>
                </a:cubicBezTo>
                <a:cubicBezTo>
                  <a:pt x="236" y="31"/>
                  <a:pt x="243" y="37"/>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48" name=""/>
          <p:cNvSpPr txBox="1"/>
          <p:nvPr/>
        </p:nvSpPr>
        <p:spPr>
          <a:xfrm>
            <a:off x="1085760" y="2771640"/>
            <a:ext cx="36806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全体計画書</a:t>
            </a:r>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」として明文化</a:t>
            </a:r>
            <a:endParaRPr b="0" lang="en-US" sz="2170" spc="-1" strike="noStrike">
              <a:solidFill>
                <a:srgbClr val="000000"/>
              </a:solidFill>
              <a:latin typeface="Times New Roman"/>
            </a:endParaRPr>
          </a:p>
        </p:txBody>
      </p:sp>
      <p:sp>
        <p:nvSpPr>
          <p:cNvPr id="149" name=""/>
          <p:cNvSpPr txBox="1"/>
          <p:nvPr/>
        </p:nvSpPr>
        <p:spPr>
          <a:xfrm>
            <a:off x="1085760" y="325764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スライド生成プロセス全体を通して、</a:t>
            </a:r>
            <a:endParaRPr b="0" lang="en-US" sz="2170" spc="-1" strike="noStrike">
              <a:solidFill>
                <a:srgbClr val="000000"/>
              </a:solidFill>
              <a:latin typeface="Times New Roman"/>
            </a:endParaRPr>
          </a:p>
        </p:txBody>
      </p:sp>
      <p:pic>
        <p:nvPicPr>
          <p:cNvPr id="150" name="" descr=""/>
          <p:cNvPicPr/>
          <p:nvPr/>
        </p:nvPicPr>
        <p:blipFill>
          <a:blip r:embed="rId2"/>
          <a:stretch/>
        </p:blipFill>
        <p:spPr>
          <a:xfrm>
            <a:off x="533520" y="4210200"/>
            <a:ext cx="5428800" cy="3609720"/>
          </a:xfrm>
          <a:prstGeom prst="rect">
            <a:avLst/>
          </a:prstGeom>
          <a:ln w="0">
            <a:noFill/>
          </a:ln>
        </p:spPr>
      </p:pic>
      <p:sp>
        <p:nvSpPr>
          <p:cNvPr id="151" name=""/>
          <p:cNvSpPr txBox="1"/>
          <p:nvPr/>
        </p:nvSpPr>
        <p:spPr>
          <a:xfrm>
            <a:off x="1085760" y="3676680"/>
            <a:ext cx="30351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一貫した指針として機能</a:t>
            </a:r>
            <a:endParaRPr b="0" lang="en-US" sz="2170" spc="-1" strike="noStrike">
              <a:solidFill>
                <a:srgbClr val="000000"/>
              </a:solidFill>
              <a:latin typeface="Times New Roman"/>
            </a:endParaRPr>
          </a:p>
        </p:txBody>
      </p:sp>
      <p:sp>
        <p:nvSpPr>
          <p:cNvPr id="152" name=""/>
          <p:cNvSpPr/>
          <p:nvPr/>
        </p:nvSpPr>
        <p:spPr>
          <a:xfrm>
            <a:off x="6505560" y="2085840"/>
            <a:ext cx="105120" cy="105120"/>
          </a:xfrm>
          <a:custGeom>
            <a:avLst/>
            <a:gdLst/>
            <a:ahLst/>
            <a:rect l="0" t="0" r="r" b="b"/>
            <a:pathLst>
              <a:path w="292" h="292">
                <a:moveTo>
                  <a:pt x="292" y="145"/>
                </a:moveTo>
                <a:cubicBezTo>
                  <a:pt x="292" y="155"/>
                  <a:pt x="291" y="164"/>
                  <a:pt x="289" y="175"/>
                </a:cubicBezTo>
                <a:cubicBezTo>
                  <a:pt x="287" y="184"/>
                  <a:pt x="284" y="193"/>
                  <a:pt x="281" y="202"/>
                </a:cubicBezTo>
                <a:cubicBezTo>
                  <a:pt x="277" y="211"/>
                  <a:pt x="272" y="219"/>
                  <a:pt x="267" y="227"/>
                </a:cubicBezTo>
                <a:cubicBezTo>
                  <a:pt x="262" y="235"/>
                  <a:pt x="256" y="243"/>
                  <a:pt x="249" y="249"/>
                </a:cubicBezTo>
                <a:cubicBezTo>
                  <a:pt x="242" y="256"/>
                  <a:pt x="235" y="262"/>
                  <a:pt x="227" y="267"/>
                </a:cubicBezTo>
                <a:cubicBezTo>
                  <a:pt x="219" y="273"/>
                  <a:pt x="211" y="277"/>
                  <a:pt x="202" y="281"/>
                </a:cubicBezTo>
                <a:cubicBezTo>
                  <a:pt x="193" y="284"/>
                  <a:pt x="184" y="287"/>
                  <a:pt x="174" y="289"/>
                </a:cubicBezTo>
                <a:cubicBezTo>
                  <a:pt x="165" y="291"/>
                  <a:pt x="156" y="292"/>
                  <a:pt x="146" y="292"/>
                </a:cubicBezTo>
                <a:cubicBezTo>
                  <a:pt x="137" y="292"/>
                  <a:pt x="127" y="291"/>
                  <a:pt x="118" y="289"/>
                </a:cubicBezTo>
                <a:cubicBezTo>
                  <a:pt x="107" y="287"/>
                  <a:pt x="98" y="284"/>
                  <a:pt x="89" y="281"/>
                </a:cubicBezTo>
                <a:cubicBezTo>
                  <a:pt x="81" y="277"/>
                  <a:pt x="72" y="273"/>
                  <a:pt x="64" y="267"/>
                </a:cubicBezTo>
                <a:cubicBezTo>
                  <a:pt x="56" y="262"/>
                  <a:pt x="49" y="256"/>
                  <a:pt x="42" y="249"/>
                </a:cubicBezTo>
                <a:cubicBezTo>
                  <a:pt x="35" y="243"/>
                  <a:pt x="29" y="235"/>
                  <a:pt x="24" y="227"/>
                </a:cubicBezTo>
                <a:cubicBezTo>
                  <a:pt x="19" y="219"/>
                  <a:pt x="14" y="211"/>
                  <a:pt x="11" y="202"/>
                </a:cubicBezTo>
                <a:cubicBezTo>
                  <a:pt x="7" y="193"/>
                  <a:pt x="4" y="184"/>
                  <a:pt x="2" y="175"/>
                </a:cubicBezTo>
                <a:cubicBezTo>
                  <a:pt x="0" y="164"/>
                  <a:pt x="0" y="155"/>
                  <a:pt x="0" y="145"/>
                </a:cubicBezTo>
                <a:cubicBezTo>
                  <a:pt x="0" y="136"/>
                  <a:pt x="0" y="126"/>
                  <a:pt x="2" y="117"/>
                </a:cubicBezTo>
                <a:cubicBezTo>
                  <a:pt x="4" y="108"/>
                  <a:pt x="7" y="99"/>
                  <a:pt x="11" y="90"/>
                </a:cubicBezTo>
                <a:cubicBezTo>
                  <a:pt x="14" y="81"/>
                  <a:pt x="19" y="72"/>
                  <a:pt x="24" y="65"/>
                </a:cubicBezTo>
                <a:cubicBezTo>
                  <a:pt x="29" y="57"/>
                  <a:pt x="35" y="49"/>
                  <a:pt x="42" y="42"/>
                </a:cubicBezTo>
                <a:cubicBezTo>
                  <a:pt x="49" y="36"/>
                  <a:pt x="56" y="30"/>
                  <a:pt x="64" y="24"/>
                </a:cubicBezTo>
                <a:cubicBezTo>
                  <a:pt x="72" y="19"/>
                  <a:pt x="81" y="15"/>
                  <a:pt x="89" y="11"/>
                </a:cubicBezTo>
                <a:cubicBezTo>
                  <a:pt x="98" y="7"/>
                  <a:pt x="107" y="5"/>
                  <a:pt x="118" y="3"/>
                </a:cubicBezTo>
                <a:cubicBezTo>
                  <a:pt x="127" y="1"/>
                  <a:pt x="137" y="0"/>
                  <a:pt x="146" y="0"/>
                </a:cubicBezTo>
                <a:cubicBezTo>
                  <a:pt x="156" y="0"/>
                  <a:pt x="165" y="1"/>
                  <a:pt x="174" y="3"/>
                </a:cubicBezTo>
                <a:cubicBezTo>
                  <a:pt x="184" y="5"/>
                  <a:pt x="193" y="7"/>
                  <a:pt x="202" y="11"/>
                </a:cubicBezTo>
                <a:cubicBezTo>
                  <a:pt x="211" y="15"/>
                  <a:pt x="219" y="19"/>
                  <a:pt x="227" y="24"/>
                </a:cubicBezTo>
                <a:cubicBezTo>
                  <a:pt x="235" y="30"/>
                  <a:pt x="242" y="36"/>
                  <a:pt x="249" y="42"/>
                </a:cubicBezTo>
                <a:cubicBezTo>
                  <a:pt x="256" y="49"/>
                  <a:pt x="262" y="57"/>
                  <a:pt x="267" y="65"/>
                </a:cubicBezTo>
                <a:cubicBezTo>
                  <a:pt x="272" y="72"/>
                  <a:pt x="277" y="81"/>
                  <a:pt x="281" y="90"/>
                </a:cubicBezTo>
                <a:cubicBezTo>
                  <a:pt x="284" y="99"/>
                  <a:pt x="287" y="108"/>
                  <a:pt x="289" y="117"/>
                </a:cubicBezTo>
                <a:cubicBezTo>
                  <a:pt x="291"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53" name=""/>
          <p:cNvSpPr txBox="1"/>
          <p:nvPr/>
        </p:nvSpPr>
        <p:spPr>
          <a:xfrm>
            <a:off x="6229440" y="1438200"/>
            <a:ext cx="3233160" cy="375120"/>
          </a:xfrm>
          <a:prstGeom prst="rect">
            <a:avLst/>
          </a:prstGeom>
          <a:noFill/>
          <a:ln w="0">
            <a:noFill/>
          </a:ln>
        </p:spPr>
        <p:txBody>
          <a:bodyPr wrap="none" lIns="0" rIns="0" tIns="0" bIns="0" anchor="t">
            <a:noAutofit/>
          </a:bodyPr>
          <a:p>
            <a:r>
              <a:rPr b="0" lang="en-US" sz="2170" spc="-1" strike="noStrike">
                <a:solidFill>
                  <a:srgbClr val="083a5e"/>
                </a:solidFill>
                <a:latin typeface="NotoSansJP"/>
                <a:ea typeface="NotoSansJP"/>
              </a:rPr>
              <a:t>Narrative Refinement Loop</a:t>
            </a:r>
            <a:endParaRPr b="0" lang="en-US" sz="2170" spc="-1" strike="noStrike">
              <a:solidFill>
                <a:srgbClr val="000000"/>
              </a:solidFill>
              <a:latin typeface="Times New Roman"/>
            </a:endParaRPr>
          </a:p>
        </p:txBody>
      </p:sp>
      <p:sp>
        <p:nvSpPr>
          <p:cNvPr id="154" name=""/>
          <p:cNvSpPr txBox="1"/>
          <p:nvPr/>
        </p:nvSpPr>
        <p:spPr>
          <a:xfrm>
            <a:off x="6781680" y="1942920"/>
            <a:ext cx="41187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専門エージェント </a:t>
            </a:r>
            <a:r>
              <a:rPr b="0" lang="en-US" sz="2170" spc="-1" strike="noStrike">
                <a:solidFill>
                  <a:srgbClr val="111111"/>
                </a:solidFill>
                <a:latin typeface="NotoSansJP"/>
                <a:ea typeface="NotoSansJP"/>
              </a:rPr>
              <a:t>(Planner, Critic,</a:t>
            </a:r>
            <a:endParaRPr b="0" lang="en-US" sz="2170" spc="-1" strike="noStrike">
              <a:solidFill>
                <a:srgbClr val="000000"/>
              </a:solidFill>
              <a:latin typeface="Times New Roman"/>
            </a:endParaRPr>
          </a:p>
        </p:txBody>
      </p:sp>
      <p:sp>
        <p:nvSpPr>
          <p:cNvPr id="155" name=""/>
          <p:cNvSpPr/>
          <p:nvPr/>
        </p:nvSpPr>
        <p:spPr>
          <a:xfrm>
            <a:off x="6505560" y="2990520"/>
            <a:ext cx="105120" cy="105120"/>
          </a:xfrm>
          <a:custGeom>
            <a:avLst/>
            <a:gdLst/>
            <a:ahLst/>
            <a:rect l="0" t="0" r="r" b="b"/>
            <a:pathLst>
              <a:path w="292" h="292">
                <a:moveTo>
                  <a:pt x="292" y="146"/>
                </a:moveTo>
                <a:cubicBezTo>
                  <a:pt x="292" y="155"/>
                  <a:pt x="291" y="165"/>
                  <a:pt x="289" y="174"/>
                </a:cubicBezTo>
                <a:cubicBezTo>
                  <a:pt x="287" y="184"/>
                  <a:pt x="284" y="193"/>
                  <a:pt x="281" y="202"/>
                </a:cubicBezTo>
                <a:cubicBezTo>
                  <a:pt x="277" y="210"/>
                  <a:pt x="272" y="219"/>
                  <a:pt x="267" y="227"/>
                </a:cubicBezTo>
                <a:cubicBezTo>
                  <a:pt x="262" y="235"/>
                  <a:pt x="256" y="242"/>
                  <a:pt x="249" y="249"/>
                </a:cubicBezTo>
                <a:cubicBezTo>
                  <a:pt x="242" y="256"/>
                  <a:pt x="235" y="262"/>
                  <a:pt x="227" y="267"/>
                </a:cubicBezTo>
                <a:cubicBezTo>
                  <a:pt x="219" y="272"/>
                  <a:pt x="211" y="277"/>
                  <a:pt x="202" y="281"/>
                </a:cubicBezTo>
                <a:cubicBezTo>
                  <a:pt x="193" y="285"/>
                  <a:pt x="184" y="288"/>
                  <a:pt x="174" y="290"/>
                </a:cubicBezTo>
                <a:cubicBezTo>
                  <a:pt x="165" y="292"/>
                  <a:pt x="156" y="292"/>
                  <a:pt x="146" y="292"/>
                </a:cubicBezTo>
                <a:cubicBezTo>
                  <a:pt x="137" y="292"/>
                  <a:pt x="127" y="292"/>
                  <a:pt x="118" y="290"/>
                </a:cubicBezTo>
                <a:cubicBezTo>
                  <a:pt x="107" y="288"/>
                  <a:pt x="98" y="285"/>
                  <a:pt x="89" y="281"/>
                </a:cubicBezTo>
                <a:cubicBezTo>
                  <a:pt x="81" y="277"/>
                  <a:pt x="72" y="272"/>
                  <a:pt x="64" y="267"/>
                </a:cubicBezTo>
                <a:cubicBezTo>
                  <a:pt x="56" y="262"/>
                  <a:pt x="49" y="256"/>
                  <a:pt x="42" y="249"/>
                </a:cubicBezTo>
                <a:cubicBezTo>
                  <a:pt x="35" y="242"/>
                  <a:pt x="29" y="235"/>
                  <a:pt x="24" y="227"/>
                </a:cubicBezTo>
                <a:cubicBezTo>
                  <a:pt x="19" y="219"/>
                  <a:pt x="14" y="210"/>
                  <a:pt x="11" y="202"/>
                </a:cubicBezTo>
                <a:cubicBezTo>
                  <a:pt x="7" y="193"/>
                  <a:pt x="4" y="184"/>
                  <a:pt x="2" y="174"/>
                </a:cubicBezTo>
                <a:cubicBezTo>
                  <a:pt x="0" y="165"/>
                  <a:pt x="0" y="155"/>
                  <a:pt x="0" y="146"/>
                </a:cubicBezTo>
                <a:cubicBezTo>
                  <a:pt x="0" y="136"/>
                  <a:pt x="0" y="127"/>
                  <a:pt x="2" y="118"/>
                </a:cubicBezTo>
                <a:cubicBezTo>
                  <a:pt x="4" y="108"/>
                  <a:pt x="7" y="99"/>
                  <a:pt x="11" y="90"/>
                </a:cubicBezTo>
                <a:cubicBezTo>
                  <a:pt x="14" y="81"/>
                  <a:pt x="19" y="73"/>
                  <a:pt x="24" y="65"/>
                </a:cubicBezTo>
                <a:cubicBezTo>
                  <a:pt x="29" y="57"/>
                  <a:pt x="35" y="50"/>
                  <a:pt x="42" y="43"/>
                </a:cubicBezTo>
                <a:cubicBezTo>
                  <a:pt x="49" y="36"/>
                  <a:pt x="56" y="30"/>
                  <a:pt x="64" y="25"/>
                </a:cubicBezTo>
                <a:cubicBezTo>
                  <a:pt x="72" y="20"/>
                  <a:pt x="81" y="15"/>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5"/>
                  <a:pt x="219" y="20"/>
                  <a:pt x="227" y="25"/>
                </a:cubicBezTo>
                <a:cubicBezTo>
                  <a:pt x="235" y="30"/>
                  <a:pt x="242" y="36"/>
                  <a:pt x="249" y="43"/>
                </a:cubicBezTo>
                <a:cubicBezTo>
                  <a:pt x="256" y="50"/>
                  <a:pt x="262" y="57"/>
                  <a:pt x="267" y="65"/>
                </a:cubicBezTo>
                <a:cubicBezTo>
                  <a:pt x="272" y="73"/>
                  <a:pt x="277" y="81"/>
                  <a:pt x="281" y="90"/>
                </a:cubicBezTo>
                <a:cubicBezTo>
                  <a:pt x="284" y="99"/>
                  <a:pt x="287" y="108"/>
                  <a:pt x="289" y="118"/>
                </a:cubicBezTo>
                <a:cubicBezTo>
                  <a:pt x="291"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56" name=""/>
          <p:cNvSpPr txBox="1"/>
          <p:nvPr/>
        </p:nvSpPr>
        <p:spPr>
          <a:xfrm>
            <a:off x="6781680" y="2362320"/>
            <a:ext cx="17370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Judge) </a:t>
            </a:r>
            <a:r>
              <a:rPr b="0" lang="zh-CN" sz="2170" spc="-1" strike="noStrike">
                <a:solidFill>
                  <a:srgbClr val="111111"/>
                </a:solidFill>
                <a:latin typeface="NotoSansJP"/>
                <a:ea typeface="NotoSansJP"/>
              </a:rPr>
              <a:t>が協調</a:t>
            </a:r>
            <a:endParaRPr b="0" lang="en-US" sz="2170" spc="-1" strike="noStrike">
              <a:solidFill>
                <a:srgbClr val="000000"/>
              </a:solidFill>
              <a:latin typeface="Times New Roman"/>
            </a:endParaRPr>
          </a:p>
        </p:txBody>
      </p:sp>
      <p:sp>
        <p:nvSpPr>
          <p:cNvPr id="157" name=""/>
          <p:cNvSpPr txBox="1"/>
          <p:nvPr/>
        </p:nvSpPr>
        <p:spPr>
          <a:xfrm>
            <a:off x="6781680" y="284796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「下書き→批評→判断→修正」のサイ</a:t>
            </a:r>
            <a:endParaRPr b="0" lang="en-US" sz="2170" spc="-1" strike="noStrike">
              <a:solidFill>
                <a:srgbClr val="000000"/>
              </a:solidFill>
              <a:latin typeface="Times New Roman"/>
            </a:endParaRPr>
          </a:p>
        </p:txBody>
      </p:sp>
      <p:sp>
        <p:nvSpPr>
          <p:cNvPr id="158" name=""/>
          <p:cNvSpPr/>
          <p:nvPr/>
        </p:nvSpPr>
        <p:spPr>
          <a:xfrm>
            <a:off x="6505560" y="3885840"/>
            <a:ext cx="105120" cy="105480"/>
          </a:xfrm>
          <a:custGeom>
            <a:avLst/>
            <a:gdLst/>
            <a:ahLst/>
            <a:rect l="0" t="0" r="r" b="b"/>
            <a:pathLst>
              <a:path w="292" h="293">
                <a:moveTo>
                  <a:pt x="292" y="147"/>
                </a:moveTo>
                <a:cubicBezTo>
                  <a:pt x="292" y="157"/>
                  <a:pt x="291" y="166"/>
                  <a:pt x="289" y="175"/>
                </a:cubicBezTo>
                <a:cubicBezTo>
                  <a:pt x="287" y="185"/>
                  <a:pt x="284" y="194"/>
                  <a:pt x="281" y="203"/>
                </a:cubicBezTo>
                <a:cubicBezTo>
                  <a:pt x="277" y="212"/>
                  <a:pt x="272" y="220"/>
                  <a:pt x="267" y="228"/>
                </a:cubicBezTo>
                <a:cubicBezTo>
                  <a:pt x="262" y="236"/>
                  <a:pt x="256" y="243"/>
                  <a:pt x="249" y="250"/>
                </a:cubicBezTo>
                <a:cubicBezTo>
                  <a:pt x="242" y="257"/>
                  <a:pt x="235" y="263"/>
                  <a:pt x="227" y="268"/>
                </a:cubicBezTo>
                <a:cubicBezTo>
                  <a:pt x="219" y="273"/>
                  <a:pt x="211" y="278"/>
                  <a:pt x="202" y="281"/>
                </a:cubicBezTo>
                <a:cubicBezTo>
                  <a:pt x="193" y="285"/>
                  <a:pt x="184" y="288"/>
                  <a:pt x="174" y="290"/>
                </a:cubicBezTo>
                <a:cubicBezTo>
                  <a:pt x="165" y="292"/>
                  <a:pt x="156" y="293"/>
                  <a:pt x="146" y="293"/>
                </a:cubicBezTo>
                <a:cubicBezTo>
                  <a:pt x="137" y="293"/>
                  <a:pt x="127" y="292"/>
                  <a:pt x="118" y="290"/>
                </a:cubicBezTo>
                <a:cubicBezTo>
                  <a:pt x="107" y="288"/>
                  <a:pt x="98" y="285"/>
                  <a:pt x="89" y="281"/>
                </a:cubicBezTo>
                <a:cubicBezTo>
                  <a:pt x="81" y="278"/>
                  <a:pt x="72" y="273"/>
                  <a:pt x="64" y="268"/>
                </a:cubicBezTo>
                <a:cubicBezTo>
                  <a:pt x="56" y="263"/>
                  <a:pt x="49" y="257"/>
                  <a:pt x="42" y="250"/>
                </a:cubicBezTo>
                <a:cubicBezTo>
                  <a:pt x="35" y="243"/>
                  <a:pt x="29" y="236"/>
                  <a:pt x="24" y="228"/>
                </a:cubicBezTo>
                <a:cubicBezTo>
                  <a:pt x="19" y="220"/>
                  <a:pt x="14" y="212"/>
                  <a:pt x="11" y="203"/>
                </a:cubicBezTo>
                <a:cubicBezTo>
                  <a:pt x="7" y="194"/>
                  <a:pt x="4" y="185"/>
                  <a:pt x="2" y="175"/>
                </a:cubicBezTo>
                <a:cubicBezTo>
                  <a:pt x="0" y="166"/>
                  <a:pt x="0" y="157"/>
                  <a:pt x="0" y="147"/>
                </a:cubicBezTo>
                <a:cubicBezTo>
                  <a:pt x="0" y="137"/>
                  <a:pt x="0" y="128"/>
                  <a:pt x="2" y="118"/>
                </a:cubicBezTo>
                <a:cubicBezTo>
                  <a:pt x="4" y="108"/>
                  <a:pt x="7" y="99"/>
                  <a:pt x="11" y="90"/>
                </a:cubicBezTo>
                <a:cubicBezTo>
                  <a:pt x="14" y="82"/>
                  <a:pt x="19" y="73"/>
                  <a:pt x="24" y="65"/>
                </a:cubicBezTo>
                <a:cubicBezTo>
                  <a:pt x="29" y="57"/>
                  <a:pt x="35" y="50"/>
                  <a:pt x="42" y="43"/>
                </a:cubicBezTo>
                <a:cubicBezTo>
                  <a:pt x="49" y="36"/>
                  <a:pt x="56" y="30"/>
                  <a:pt x="64" y="25"/>
                </a:cubicBezTo>
                <a:cubicBezTo>
                  <a:pt x="72" y="20"/>
                  <a:pt x="81" y="15"/>
                  <a:pt x="89" y="12"/>
                </a:cubicBezTo>
                <a:cubicBezTo>
                  <a:pt x="98" y="8"/>
                  <a:pt x="107" y="5"/>
                  <a:pt x="118" y="3"/>
                </a:cubicBezTo>
                <a:cubicBezTo>
                  <a:pt x="127" y="1"/>
                  <a:pt x="137" y="0"/>
                  <a:pt x="146" y="0"/>
                </a:cubicBezTo>
                <a:cubicBezTo>
                  <a:pt x="156" y="0"/>
                  <a:pt x="165" y="1"/>
                  <a:pt x="174" y="3"/>
                </a:cubicBezTo>
                <a:cubicBezTo>
                  <a:pt x="184" y="5"/>
                  <a:pt x="193" y="8"/>
                  <a:pt x="202" y="12"/>
                </a:cubicBezTo>
                <a:cubicBezTo>
                  <a:pt x="211" y="15"/>
                  <a:pt x="219" y="20"/>
                  <a:pt x="227" y="25"/>
                </a:cubicBezTo>
                <a:cubicBezTo>
                  <a:pt x="235" y="30"/>
                  <a:pt x="242" y="36"/>
                  <a:pt x="249" y="43"/>
                </a:cubicBezTo>
                <a:cubicBezTo>
                  <a:pt x="256" y="50"/>
                  <a:pt x="262" y="57"/>
                  <a:pt x="267" y="65"/>
                </a:cubicBezTo>
                <a:cubicBezTo>
                  <a:pt x="272" y="73"/>
                  <a:pt x="277" y="82"/>
                  <a:pt x="281" y="90"/>
                </a:cubicBezTo>
                <a:cubicBezTo>
                  <a:pt x="284" y="99"/>
                  <a:pt x="287" y="108"/>
                  <a:pt x="289" y="118"/>
                </a:cubicBezTo>
                <a:cubicBezTo>
                  <a:pt x="291"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59" name=""/>
          <p:cNvSpPr txBox="1"/>
          <p:nvPr/>
        </p:nvSpPr>
        <p:spPr>
          <a:xfrm>
            <a:off x="6781680" y="325764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クルを繰り返し、アウトラインを洗練</a:t>
            </a:r>
            <a:endParaRPr b="0" lang="en-US" sz="2170" spc="-1" strike="noStrike">
              <a:solidFill>
                <a:srgbClr val="000000"/>
              </a:solidFill>
              <a:latin typeface="Times New Roman"/>
            </a:endParaRPr>
          </a:p>
        </p:txBody>
      </p:sp>
      <p:sp>
        <p:nvSpPr>
          <p:cNvPr id="160" name=""/>
          <p:cNvSpPr txBox="1"/>
          <p:nvPr/>
        </p:nvSpPr>
        <p:spPr>
          <a:xfrm>
            <a:off x="6781680" y="374328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物語の一貫性や論理の流れを向上</a:t>
            </a:r>
            <a:endParaRPr b="0" lang="en-US" sz="2170" spc="-1" strike="noStrike">
              <a:solidFill>
                <a:srgbClr val="000000"/>
              </a:solidFill>
              <a:latin typeface="Times New Roman"/>
            </a:endParaRPr>
          </a:p>
        </p:txBody>
      </p:sp>
      <p:sp>
        <p:nvSpPr>
          <p:cNvPr id="16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62" name=""/>
          <p:cNvSpPr txBox="1"/>
          <p:nvPr/>
        </p:nvSpPr>
        <p:spPr>
          <a:xfrm>
            <a:off x="914400" y="392400"/>
            <a:ext cx="40046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コア技術</a:t>
            </a:r>
            <a:r>
              <a:rPr b="0" lang="en-US" sz="1950" spc="-1" strike="noStrike">
                <a:solidFill>
                  <a:srgbClr val="111111"/>
                </a:solidFill>
                <a:latin typeface="NotoSansJP"/>
                <a:ea typeface="NotoSansJP"/>
              </a:rPr>
              <a:t>(2): </a:t>
            </a:r>
            <a:r>
              <a:rPr b="0" lang="zh-CN" sz="1950" spc="-1" strike="noStrike">
                <a:solidFill>
                  <a:srgbClr val="111111"/>
                </a:solidFill>
                <a:latin typeface="NotoSansJP"/>
                <a:ea typeface="NotoSansJP"/>
              </a:rPr>
              <a:t>全体計画と反復的推敲</a:t>
            </a:r>
            <a:endParaRPr b="0" lang="en-US" sz="1950" spc="-1" strike="noStrike">
              <a:solidFill>
                <a:srgbClr val="000000"/>
              </a:solidFill>
              <a:latin typeface="Times New Roman"/>
            </a:endParaRPr>
          </a:p>
        </p:txBody>
      </p:sp>
      <p:sp>
        <p:nvSpPr>
          <p:cNvPr id="163"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8</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68" name="" descr=""/>
          <p:cNvPicPr/>
          <p:nvPr/>
        </p:nvPicPr>
        <p:blipFill>
          <a:blip r:embed="rId1"/>
          <a:stretch/>
        </p:blipFill>
        <p:spPr>
          <a:xfrm>
            <a:off x="10515600" y="38160"/>
            <a:ext cx="1142640" cy="1142640"/>
          </a:xfrm>
          <a:prstGeom prst="rect">
            <a:avLst/>
          </a:prstGeom>
          <a:ln w="0">
            <a:noFill/>
          </a:ln>
        </p:spPr>
      </p:pic>
      <p:sp>
        <p:nvSpPr>
          <p:cNvPr id="169" name=""/>
          <p:cNvSpPr/>
          <p:nvPr/>
        </p:nvSpPr>
        <p:spPr>
          <a:xfrm>
            <a:off x="809280" y="189540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5"/>
                  <a:pt x="0" y="156"/>
                  <a:pt x="0" y="146"/>
                </a:cubicBezTo>
                <a:cubicBezTo>
                  <a:pt x="0" y="137"/>
                  <a:pt x="1" y="127"/>
                  <a:pt x="3" y="117"/>
                </a:cubicBezTo>
                <a:cubicBezTo>
                  <a:pt x="5" y="107"/>
                  <a:pt x="8" y="98"/>
                  <a:pt x="12" y="90"/>
                </a:cubicBezTo>
                <a:cubicBezTo>
                  <a:pt x="15" y="81"/>
                  <a:pt x="20" y="72"/>
                  <a:pt x="25" y="64"/>
                </a:cubicBezTo>
                <a:cubicBezTo>
                  <a:pt x="30" y="56"/>
                  <a:pt x="36" y="49"/>
                  <a:pt x="43" y="42"/>
                </a:cubicBezTo>
                <a:cubicBezTo>
                  <a:pt x="50" y="36"/>
                  <a:pt x="57" y="30"/>
                  <a:pt x="65" y="24"/>
                </a:cubicBezTo>
                <a:cubicBezTo>
                  <a:pt x="73" y="19"/>
                  <a:pt x="81" y="14"/>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4"/>
                  <a:pt x="219" y="19"/>
                  <a:pt x="228" y="24"/>
                </a:cubicBezTo>
                <a:cubicBezTo>
                  <a:pt x="236" y="30"/>
                  <a:pt x="243" y="36"/>
                  <a:pt x="250" y="42"/>
                </a:cubicBezTo>
                <a:cubicBezTo>
                  <a:pt x="257" y="49"/>
                  <a:pt x="263" y="56"/>
                  <a:pt x="268" y="64"/>
                </a:cubicBezTo>
                <a:cubicBezTo>
                  <a:pt x="273" y="72"/>
                  <a:pt x="278" y="81"/>
                  <a:pt x="281" y="90"/>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0" name=""/>
          <p:cNvSpPr txBox="1"/>
          <p:nvPr/>
        </p:nvSpPr>
        <p:spPr>
          <a:xfrm>
            <a:off x="533520" y="1343160"/>
            <a:ext cx="98629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本研究では、評価のために新たなベンチマーク「</a:t>
            </a:r>
            <a:r>
              <a:rPr b="0" lang="en-US" sz="2170" spc="-1" strike="noStrike">
                <a:solidFill>
                  <a:srgbClr val="111111"/>
                </a:solidFill>
                <a:latin typeface="NotoSansJP"/>
                <a:ea typeface="NotoSansJP"/>
              </a:rPr>
              <a:t>ArcBench</a:t>
            </a:r>
            <a:r>
              <a:rPr b="0" lang="zh-CN" sz="2170" spc="-1" strike="noStrike">
                <a:solidFill>
                  <a:srgbClr val="111111"/>
                </a:solidFill>
                <a:latin typeface="NotoSansJP"/>
                <a:ea typeface="NotoSansJP"/>
              </a:rPr>
              <a:t>」を構築しました。</a:t>
            </a:r>
            <a:endParaRPr b="0" lang="en-US" sz="2170" spc="-1" strike="noStrike">
              <a:solidFill>
                <a:srgbClr val="000000"/>
              </a:solidFill>
              <a:latin typeface="Times New Roman"/>
            </a:endParaRPr>
          </a:p>
        </p:txBody>
      </p:sp>
      <p:sp>
        <p:nvSpPr>
          <p:cNvPr id="171" name=""/>
          <p:cNvSpPr/>
          <p:nvPr/>
        </p:nvSpPr>
        <p:spPr>
          <a:xfrm>
            <a:off x="809280" y="2381040"/>
            <a:ext cx="105120" cy="105120"/>
          </a:xfrm>
          <a:custGeom>
            <a:avLst/>
            <a:gdLst/>
            <a:ahLst/>
            <a:rect l="0" t="0" r="r" b="b"/>
            <a:pathLst>
              <a:path w="292" h="292">
                <a:moveTo>
                  <a:pt x="292" y="146"/>
                </a:moveTo>
                <a:cubicBezTo>
                  <a:pt x="292" y="155"/>
                  <a:pt x="292" y="165"/>
                  <a:pt x="290" y="174"/>
                </a:cubicBezTo>
                <a:cubicBezTo>
                  <a:pt x="288" y="183"/>
                  <a:pt x="285" y="192"/>
                  <a:pt x="281" y="201"/>
                </a:cubicBezTo>
                <a:cubicBezTo>
                  <a:pt x="278" y="210"/>
                  <a:pt x="273" y="219"/>
                  <a:pt x="268" y="227"/>
                </a:cubicBezTo>
                <a:cubicBezTo>
                  <a:pt x="263" y="235"/>
                  <a:pt x="257" y="243"/>
                  <a:pt x="250" y="250"/>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50"/>
                </a:cubicBezTo>
                <a:cubicBezTo>
                  <a:pt x="36" y="243"/>
                  <a:pt x="30" y="235"/>
                  <a:pt x="25" y="227"/>
                </a:cubicBezTo>
                <a:cubicBezTo>
                  <a:pt x="20" y="219"/>
                  <a:pt x="15" y="210"/>
                  <a:pt x="12" y="201"/>
                </a:cubicBezTo>
                <a:cubicBezTo>
                  <a:pt x="8" y="192"/>
                  <a:pt x="5" y="183"/>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49"/>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49"/>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2" name=""/>
          <p:cNvSpPr txBox="1"/>
          <p:nvPr/>
        </p:nvSpPr>
        <p:spPr>
          <a:xfrm>
            <a:off x="1085760" y="1752480"/>
            <a:ext cx="67467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トップレベル国際会議 </a:t>
            </a:r>
            <a:r>
              <a:rPr b="0" lang="en-US" sz="2170" spc="-1" strike="noStrike">
                <a:solidFill>
                  <a:srgbClr val="111111"/>
                </a:solidFill>
                <a:latin typeface="NotoSansJP"/>
                <a:ea typeface="NotoSansJP"/>
              </a:rPr>
              <a:t>(CVPR, NeurIPS</a:t>
            </a:r>
            <a:r>
              <a:rPr b="0" lang="zh-CN" sz="2170" spc="-1" strike="noStrike">
                <a:solidFill>
                  <a:srgbClr val="111111"/>
                </a:solidFill>
                <a:latin typeface="NotoSansJP"/>
                <a:ea typeface="NotoSansJP"/>
              </a:rPr>
              <a:t>など</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から収集</a:t>
            </a:r>
            <a:endParaRPr b="0" lang="en-US" sz="2170" spc="-1" strike="noStrike">
              <a:solidFill>
                <a:srgbClr val="000000"/>
              </a:solidFill>
              <a:latin typeface="Times New Roman"/>
            </a:endParaRPr>
          </a:p>
        </p:txBody>
      </p:sp>
      <p:sp>
        <p:nvSpPr>
          <p:cNvPr id="173" name=""/>
          <p:cNvSpPr/>
          <p:nvPr/>
        </p:nvSpPr>
        <p:spPr>
          <a:xfrm>
            <a:off x="809280" y="2866680"/>
            <a:ext cx="105120" cy="105120"/>
          </a:xfrm>
          <a:custGeom>
            <a:avLst/>
            <a:gdLst/>
            <a:ahLst/>
            <a:rect l="0" t="0" r="r" b="b"/>
            <a:pathLst>
              <a:path w="292" h="292">
                <a:moveTo>
                  <a:pt x="292" y="147"/>
                </a:moveTo>
                <a:cubicBezTo>
                  <a:pt x="292" y="157"/>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7"/>
                  <a:pt x="0" y="147"/>
                </a:cubicBezTo>
                <a:cubicBezTo>
                  <a:pt x="0" y="137"/>
                  <a:pt x="1" y="128"/>
                  <a:pt x="3" y="119"/>
                </a:cubicBezTo>
                <a:cubicBezTo>
                  <a:pt x="5" y="109"/>
                  <a:pt x="8" y="100"/>
                  <a:pt x="12" y="91"/>
                </a:cubicBezTo>
                <a:cubicBezTo>
                  <a:pt x="15" y="82"/>
                  <a:pt x="20" y="74"/>
                  <a:pt x="25" y="66"/>
                </a:cubicBezTo>
                <a:cubicBezTo>
                  <a:pt x="30" y="58"/>
                  <a:pt x="36" y="51"/>
                  <a:pt x="43" y="44"/>
                </a:cubicBezTo>
                <a:cubicBezTo>
                  <a:pt x="50" y="36"/>
                  <a:pt x="57" y="30"/>
                  <a:pt x="65" y="25"/>
                </a:cubicBezTo>
                <a:cubicBezTo>
                  <a:pt x="73" y="20"/>
                  <a:pt x="81" y="15"/>
                  <a:pt x="90" y="12"/>
                </a:cubicBezTo>
                <a:cubicBezTo>
                  <a:pt x="99" y="8"/>
                  <a:pt x="108" y="5"/>
                  <a:pt x="118" y="3"/>
                </a:cubicBezTo>
                <a:cubicBezTo>
                  <a:pt x="127" y="1"/>
                  <a:pt x="136" y="0"/>
                  <a:pt x="146" y="0"/>
                </a:cubicBezTo>
                <a:cubicBezTo>
                  <a:pt x="156" y="0"/>
                  <a:pt x="165" y="1"/>
                  <a:pt x="174" y="3"/>
                </a:cubicBezTo>
                <a:cubicBezTo>
                  <a:pt x="184" y="5"/>
                  <a:pt x="193" y="8"/>
                  <a:pt x="202" y="12"/>
                </a:cubicBezTo>
                <a:cubicBezTo>
                  <a:pt x="210" y="15"/>
                  <a:pt x="219" y="20"/>
                  <a:pt x="228" y="25"/>
                </a:cubicBezTo>
                <a:cubicBezTo>
                  <a:pt x="236" y="30"/>
                  <a:pt x="243" y="36"/>
                  <a:pt x="250" y="44"/>
                </a:cubicBezTo>
                <a:cubicBezTo>
                  <a:pt x="257" y="51"/>
                  <a:pt x="263" y="58"/>
                  <a:pt x="268" y="66"/>
                </a:cubicBezTo>
                <a:cubicBezTo>
                  <a:pt x="273" y="74"/>
                  <a:pt x="278" y="82"/>
                  <a:pt x="281" y="91"/>
                </a:cubicBezTo>
                <a:cubicBezTo>
                  <a:pt x="285" y="100"/>
                  <a:pt x="288" y="109"/>
                  <a:pt x="290" y="119"/>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4" name=""/>
          <p:cNvSpPr txBox="1"/>
          <p:nvPr/>
        </p:nvSpPr>
        <p:spPr>
          <a:xfrm>
            <a:off x="1085760" y="2238480"/>
            <a:ext cx="102009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100</a:t>
            </a:r>
            <a:r>
              <a:rPr b="0" lang="zh-CN" sz="2170" spc="-1" strike="noStrike">
                <a:solidFill>
                  <a:srgbClr val="111111"/>
                </a:solidFill>
                <a:latin typeface="NotoSansJP"/>
                <a:ea typeface="NotoSansJP"/>
              </a:rPr>
              <a:t>組の学術論文と、</a:t>
            </a:r>
            <a:r>
              <a:rPr b="0" lang="zh-CN" sz="2170" spc="-1" strike="noStrike">
                <a:solidFill>
                  <a:srgbClr val="c9342f"/>
                </a:solidFill>
                <a:latin typeface="NotoSansJP"/>
                <a:ea typeface="NotoSansJP"/>
              </a:rPr>
              <a:t>著者自身が作成した高品質な口頭発表スライド</a:t>
            </a:r>
            <a:r>
              <a:rPr b="0" lang="zh-CN" sz="2170" spc="-1" strike="noStrike">
                <a:solidFill>
                  <a:srgbClr val="111111"/>
                </a:solidFill>
                <a:latin typeface="NotoSansJP"/>
                <a:ea typeface="NotoSansJP"/>
              </a:rPr>
              <a:t>のペアで構成</a:t>
            </a:r>
            <a:endParaRPr b="0" lang="en-US" sz="2170" spc="-1" strike="noStrike">
              <a:solidFill>
                <a:srgbClr val="000000"/>
              </a:solidFill>
              <a:latin typeface="Times New Roman"/>
            </a:endParaRPr>
          </a:p>
        </p:txBody>
      </p:sp>
      <p:sp>
        <p:nvSpPr>
          <p:cNvPr id="175" name=""/>
          <p:cNvSpPr txBox="1"/>
          <p:nvPr/>
        </p:nvSpPr>
        <p:spPr>
          <a:xfrm>
            <a:off x="1085760" y="2724120"/>
            <a:ext cx="85518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自動生成スライドの品質を、信頼性の高い「人間の参照」と比較可能</a:t>
            </a:r>
            <a:endParaRPr b="0" lang="en-US" sz="2170" spc="-1" strike="noStrike">
              <a:solidFill>
                <a:srgbClr val="000000"/>
              </a:solidFill>
              <a:latin typeface="Times New Roman"/>
            </a:endParaRPr>
          </a:p>
        </p:txBody>
      </p:sp>
      <p:sp>
        <p:nvSpPr>
          <p:cNvPr id="176" name=""/>
          <p:cNvSpPr txBox="1"/>
          <p:nvPr/>
        </p:nvSpPr>
        <p:spPr>
          <a:xfrm>
            <a:off x="533520" y="3705120"/>
            <a:ext cx="45493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Figure 6. ArcBench</a:t>
            </a:r>
            <a:r>
              <a:rPr b="0" lang="zh-CN" sz="2170" spc="-1" strike="noStrike">
                <a:solidFill>
                  <a:srgbClr val="111111"/>
                </a:solidFill>
                <a:latin typeface="NotoSansJP"/>
                <a:ea typeface="NotoSansJP"/>
              </a:rPr>
              <a:t>の統計情報</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7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8" name=""/>
          <p:cNvSpPr txBox="1"/>
          <p:nvPr/>
        </p:nvSpPr>
        <p:spPr>
          <a:xfrm>
            <a:off x="914400" y="392400"/>
            <a:ext cx="359712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評価用ベンチマーク：</a:t>
            </a:r>
            <a:r>
              <a:rPr b="0" lang="en-US" sz="1950" spc="-1" strike="noStrike">
                <a:solidFill>
                  <a:srgbClr val="111111"/>
                </a:solidFill>
                <a:latin typeface="NotoSansJP"/>
                <a:ea typeface="NotoSansJP"/>
              </a:rPr>
              <a:t>ArcBench</a:t>
            </a:r>
            <a:endParaRPr b="0" lang="en-US" sz="1950" spc="-1" strike="noStrike">
              <a:solidFill>
                <a:srgbClr val="000000"/>
              </a:solidFill>
              <a:latin typeface="Times New Roman"/>
            </a:endParaRPr>
          </a:p>
        </p:txBody>
      </p:sp>
      <p:sp>
        <p:nvSpPr>
          <p:cNvPr id="17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9</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8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84" name="" descr=""/>
          <p:cNvPicPr/>
          <p:nvPr/>
        </p:nvPicPr>
        <p:blipFill>
          <a:blip r:embed="rId1"/>
          <a:stretch/>
        </p:blipFill>
        <p:spPr>
          <a:xfrm>
            <a:off x="10515600" y="38160"/>
            <a:ext cx="1142640" cy="1142640"/>
          </a:xfrm>
          <a:prstGeom prst="rect">
            <a:avLst/>
          </a:prstGeom>
          <a:ln w="0">
            <a:noFill/>
          </a:ln>
        </p:spPr>
      </p:pic>
      <p:sp>
        <p:nvSpPr>
          <p:cNvPr id="185" name=""/>
          <p:cNvSpPr/>
          <p:nvPr/>
        </p:nvSpPr>
        <p:spPr>
          <a:xfrm>
            <a:off x="809280" y="106668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5"/>
                  <a:pt x="0" y="156"/>
                  <a:pt x="0" y="146"/>
                </a:cubicBezTo>
                <a:cubicBezTo>
                  <a:pt x="0" y="137"/>
                  <a:pt x="1" y="127"/>
                  <a:pt x="3" y="118"/>
                </a:cubicBezTo>
                <a:cubicBezTo>
                  <a:pt x="5" y="109"/>
                  <a:pt x="8" y="99"/>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9"/>
                  <a:pt x="288" y="109"/>
                  <a:pt x="290" y="118"/>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6" name=""/>
          <p:cNvSpPr/>
          <p:nvPr/>
        </p:nvSpPr>
        <p:spPr>
          <a:xfrm>
            <a:off x="1361880" y="158112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7"/>
                </a:cubicBezTo>
                <a:cubicBezTo>
                  <a:pt x="5" y="107"/>
                  <a:pt x="7" y="98"/>
                  <a:pt x="11" y="89"/>
                </a:cubicBezTo>
                <a:cubicBezTo>
                  <a:pt x="15" y="81"/>
                  <a:pt x="19" y="72"/>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2"/>
                  <a:pt x="277" y="81"/>
                  <a:pt x="281" y="89"/>
                </a:cubicBezTo>
                <a:cubicBezTo>
                  <a:pt x="285" y="98"/>
                  <a:pt x="287" y="107"/>
                  <a:pt x="289" y="117"/>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87" name=""/>
          <p:cNvSpPr txBox="1"/>
          <p:nvPr/>
        </p:nvSpPr>
        <p:spPr>
          <a:xfrm>
            <a:off x="1085760" y="92376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比較手法</a:t>
            </a:r>
            <a:endParaRPr b="0" lang="en-US" sz="2170" spc="-1" strike="noStrike">
              <a:solidFill>
                <a:srgbClr val="000000"/>
              </a:solidFill>
              <a:latin typeface="Times New Roman"/>
            </a:endParaRPr>
          </a:p>
        </p:txBody>
      </p:sp>
      <p:sp>
        <p:nvSpPr>
          <p:cNvPr id="188" name=""/>
          <p:cNvSpPr/>
          <p:nvPr/>
        </p:nvSpPr>
        <p:spPr>
          <a:xfrm>
            <a:off x="1361880" y="206676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89" name=""/>
          <p:cNvSpPr txBox="1"/>
          <p:nvPr/>
        </p:nvSpPr>
        <p:spPr>
          <a:xfrm>
            <a:off x="1638360" y="1438200"/>
            <a:ext cx="56390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プロンプトベース</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単一の</a:t>
            </a:r>
            <a:r>
              <a:rPr b="0" lang="en-US" sz="2170" spc="-1" strike="noStrike">
                <a:solidFill>
                  <a:srgbClr val="111111"/>
                </a:solidFill>
                <a:latin typeface="NotoSansJP"/>
                <a:ea typeface="NotoSansJP"/>
              </a:rPr>
              <a:t>LLM</a:t>
            </a:r>
            <a:r>
              <a:rPr b="0" lang="zh-CN" sz="2170" spc="-1" strike="noStrike">
                <a:solidFill>
                  <a:srgbClr val="111111"/>
                </a:solidFill>
                <a:latin typeface="NotoSansJP"/>
                <a:ea typeface="NotoSansJP"/>
              </a:rPr>
              <a:t>コールで生成</a:t>
            </a:r>
            <a:endParaRPr b="0" lang="en-US" sz="2170" spc="-1" strike="noStrike">
              <a:solidFill>
                <a:srgbClr val="000000"/>
              </a:solidFill>
              <a:latin typeface="Times New Roman"/>
            </a:endParaRPr>
          </a:p>
        </p:txBody>
      </p:sp>
      <p:sp>
        <p:nvSpPr>
          <p:cNvPr id="190" name=""/>
          <p:cNvSpPr/>
          <p:nvPr/>
        </p:nvSpPr>
        <p:spPr>
          <a:xfrm>
            <a:off x="1361880" y="254304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100"/>
                  <a:pt x="11" y="91"/>
                </a:cubicBezTo>
                <a:cubicBezTo>
                  <a:pt x="15" y="82"/>
                  <a:pt x="19" y="73"/>
                  <a:pt x="25" y="65"/>
                </a:cubicBezTo>
                <a:cubicBezTo>
                  <a:pt x="30" y="57"/>
                  <a:pt x="36" y="49"/>
                  <a:pt x="43" y="42"/>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2"/>
                </a:cubicBezTo>
                <a:cubicBezTo>
                  <a:pt x="256" y="49"/>
                  <a:pt x="262" y="57"/>
                  <a:pt x="268" y="65"/>
                </a:cubicBezTo>
                <a:cubicBezTo>
                  <a:pt x="273" y="73"/>
                  <a:pt x="277" y="82"/>
                  <a:pt x="281" y="91"/>
                </a:cubicBezTo>
                <a:cubicBezTo>
                  <a:pt x="285" y="100"/>
                  <a:pt x="287" y="109"/>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91" name=""/>
          <p:cNvSpPr txBox="1"/>
          <p:nvPr/>
        </p:nvSpPr>
        <p:spPr>
          <a:xfrm>
            <a:off x="1638360" y="1924200"/>
            <a:ext cx="73940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既存マルチエージェント</a:t>
            </a:r>
            <a:r>
              <a:rPr b="0" lang="en-US" sz="2170" spc="-1" strike="noStrike">
                <a:solidFill>
                  <a:srgbClr val="111111"/>
                </a:solidFill>
                <a:latin typeface="NotoSansJP"/>
                <a:ea typeface="NotoSansJP"/>
              </a:rPr>
              <a:t>: Paper2Poster, PPTAgent, SlideGen</a:t>
            </a:r>
            <a:endParaRPr b="0" lang="en-US" sz="2170" spc="-1" strike="noStrike">
              <a:solidFill>
                <a:srgbClr val="000000"/>
              </a:solidFill>
              <a:latin typeface="Times New Roman"/>
            </a:endParaRPr>
          </a:p>
        </p:txBody>
      </p:sp>
      <p:sp>
        <p:nvSpPr>
          <p:cNvPr id="192" name=""/>
          <p:cNvSpPr/>
          <p:nvPr/>
        </p:nvSpPr>
        <p:spPr>
          <a:xfrm>
            <a:off x="809280" y="3028680"/>
            <a:ext cx="105120" cy="105120"/>
          </a:xfrm>
          <a:custGeom>
            <a:avLst/>
            <a:gdLst/>
            <a:ahLst/>
            <a:rect l="0" t="0" r="r" b="b"/>
            <a:pathLst>
              <a:path w="292" h="292">
                <a:moveTo>
                  <a:pt x="292" y="146"/>
                </a:moveTo>
                <a:cubicBezTo>
                  <a:pt x="292" y="155"/>
                  <a:pt x="292" y="165"/>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3" name=""/>
          <p:cNvSpPr txBox="1"/>
          <p:nvPr/>
        </p:nvSpPr>
        <p:spPr>
          <a:xfrm>
            <a:off x="1638360" y="2400120"/>
            <a:ext cx="64540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人間による参照</a:t>
            </a:r>
            <a:r>
              <a:rPr b="0" lang="en-US" sz="2170" spc="-1" strike="noStrike">
                <a:solidFill>
                  <a:srgbClr val="111111"/>
                </a:solidFill>
                <a:latin typeface="NotoSansJP"/>
                <a:ea typeface="NotoSansJP"/>
              </a:rPr>
              <a:t>: ArcBench</a:t>
            </a:r>
            <a:r>
              <a:rPr b="0" lang="zh-CN" sz="2170" spc="-1" strike="noStrike">
                <a:solidFill>
                  <a:srgbClr val="111111"/>
                </a:solidFill>
                <a:latin typeface="NotoSansJP"/>
                <a:ea typeface="NotoSansJP"/>
              </a:rPr>
              <a:t>の著者作成スライド </a:t>
            </a:r>
            <a:r>
              <a:rPr b="0" lang="en-US" sz="2170" spc="-1" strike="noStrike">
                <a:solidFill>
                  <a:srgbClr val="111111"/>
                </a:solidFill>
                <a:latin typeface="NotoSansJP"/>
                <a:ea typeface="NotoSansJP"/>
              </a:rPr>
              <a:t>(AP)</a:t>
            </a:r>
            <a:endParaRPr b="0" lang="en-US" sz="2170" spc="-1" strike="noStrike">
              <a:solidFill>
                <a:srgbClr val="000000"/>
              </a:solidFill>
              <a:latin typeface="Times New Roman"/>
            </a:endParaRPr>
          </a:p>
        </p:txBody>
      </p:sp>
      <p:sp>
        <p:nvSpPr>
          <p:cNvPr id="194" name=""/>
          <p:cNvSpPr/>
          <p:nvPr/>
        </p:nvSpPr>
        <p:spPr>
          <a:xfrm>
            <a:off x="1361880" y="3543120"/>
            <a:ext cx="105120" cy="105120"/>
          </a:xfrm>
          <a:custGeom>
            <a:avLst/>
            <a:gdLst/>
            <a:ahLst/>
            <a:rect l="0" t="0" r="r" b="b"/>
            <a:pathLst>
              <a:path w="292" h="292">
                <a:moveTo>
                  <a:pt x="292" y="146"/>
                </a:moveTo>
                <a:cubicBezTo>
                  <a:pt x="292" y="155"/>
                  <a:pt x="291" y="165"/>
                  <a:pt x="289" y="174"/>
                </a:cubicBezTo>
                <a:cubicBezTo>
                  <a:pt x="287" y="183"/>
                  <a:pt x="285" y="192"/>
                  <a:pt x="281" y="202"/>
                </a:cubicBezTo>
                <a:cubicBezTo>
                  <a:pt x="277" y="211"/>
                  <a:pt x="273" y="219"/>
                  <a:pt x="268" y="227"/>
                </a:cubicBezTo>
                <a:cubicBezTo>
                  <a:pt x="262" y="235"/>
                  <a:pt x="256" y="243"/>
                  <a:pt x="249" y="249"/>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49"/>
                </a:cubicBezTo>
                <a:cubicBezTo>
                  <a:pt x="36" y="243"/>
                  <a:pt x="30" y="235"/>
                  <a:pt x="25" y="227"/>
                </a:cubicBezTo>
                <a:cubicBezTo>
                  <a:pt x="19" y="219"/>
                  <a:pt x="15" y="211"/>
                  <a:pt x="11" y="202"/>
                </a:cubicBezTo>
                <a:cubicBezTo>
                  <a:pt x="7" y="192"/>
                  <a:pt x="5" y="183"/>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49"/>
                  <a:pt x="43" y="43"/>
                </a:cubicBezTo>
                <a:cubicBezTo>
                  <a:pt x="49" y="36"/>
                  <a:pt x="57" y="30"/>
                  <a:pt x="65" y="25"/>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5"/>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95" name=""/>
          <p:cNvSpPr txBox="1"/>
          <p:nvPr/>
        </p:nvSpPr>
        <p:spPr>
          <a:xfrm>
            <a:off x="1085760" y="288612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評価指標</a:t>
            </a:r>
            <a:endParaRPr b="0" lang="en-US" sz="2170" spc="-1" strike="noStrike">
              <a:solidFill>
                <a:srgbClr val="000000"/>
              </a:solidFill>
              <a:latin typeface="Times New Roman"/>
            </a:endParaRPr>
          </a:p>
        </p:txBody>
      </p:sp>
      <p:sp>
        <p:nvSpPr>
          <p:cNvPr id="196" name=""/>
          <p:cNvSpPr/>
          <p:nvPr/>
        </p:nvSpPr>
        <p:spPr>
          <a:xfrm>
            <a:off x="1914480" y="395280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7" name=""/>
          <p:cNvSpPr txBox="1"/>
          <p:nvPr/>
        </p:nvSpPr>
        <p:spPr>
          <a:xfrm>
            <a:off x="1638360" y="3400560"/>
            <a:ext cx="68454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VLM-as-Judge: VLM</a:t>
            </a:r>
            <a:r>
              <a:rPr b="0" lang="zh-CN" sz="2170" spc="-1" strike="noStrike">
                <a:solidFill>
                  <a:srgbClr val="111111"/>
                </a:solidFill>
                <a:latin typeface="NotoSansJP"/>
                <a:ea typeface="NotoSansJP"/>
              </a:rPr>
              <a:t>評価者による</a:t>
            </a:r>
            <a:r>
              <a:rPr b="0" lang="en-US" sz="2170" spc="-1" strike="noStrike">
                <a:solidFill>
                  <a:srgbClr val="111111"/>
                </a:solidFill>
                <a:latin typeface="NotoSansJP"/>
                <a:ea typeface="NotoSansJP"/>
              </a:rPr>
              <a:t>4</a:t>
            </a:r>
            <a:r>
              <a:rPr b="0" lang="zh-CN" sz="2170" spc="-1" strike="noStrike">
                <a:solidFill>
                  <a:srgbClr val="111111"/>
                </a:solidFill>
                <a:latin typeface="NotoSansJP"/>
                <a:ea typeface="NotoSansJP"/>
              </a:rPr>
              <a:t>軸でのスコアリング</a:t>
            </a:r>
            <a:endParaRPr b="0" lang="en-US" sz="2170" spc="-1" strike="noStrike">
              <a:solidFill>
                <a:srgbClr val="000000"/>
              </a:solidFill>
              <a:latin typeface="Times New Roman"/>
            </a:endParaRPr>
          </a:p>
        </p:txBody>
      </p:sp>
      <p:sp>
        <p:nvSpPr>
          <p:cNvPr id="198" name=""/>
          <p:cNvSpPr/>
          <p:nvPr/>
        </p:nvSpPr>
        <p:spPr>
          <a:xfrm>
            <a:off x="1361880" y="4438440"/>
            <a:ext cx="105120" cy="105120"/>
          </a:xfrm>
          <a:custGeom>
            <a:avLst/>
            <a:gdLst/>
            <a:ahLst/>
            <a:rect l="0" t="0" r="r" b="b"/>
            <a:pathLst>
              <a:path w="292" h="292">
                <a:moveTo>
                  <a:pt x="292" y="147"/>
                </a:moveTo>
                <a:cubicBezTo>
                  <a:pt x="292" y="156"/>
                  <a:pt x="291" y="166"/>
                  <a:pt x="289" y="175"/>
                </a:cubicBezTo>
                <a:cubicBezTo>
                  <a:pt x="287" y="184"/>
                  <a:pt x="285" y="193"/>
                  <a:pt x="281" y="202"/>
                </a:cubicBezTo>
                <a:cubicBezTo>
                  <a:pt x="277" y="211"/>
                  <a:pt x="273" y="220"/>
                  <a:pt x="268" y="227"/>
                </a:cubicBezTo>
                <a:cubicBezTo>
                  <a:pt x="262" y="235"/>
                  <a:pt x="256" y="243"/>
                  <a:pt x="249" y="250"/>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50"/>
                </a:cubicBezTo>
                <a:cubicBezTo>
                  <a:pt x="36" y="243"/>
                  <a:pt x="30" y="235"/>
                  <a:pt x="25" y="227"/>
                </a:cubicBezTo>
                <a:cubicBezTo>
                  <a:pt x="19" y="220"/>
                  <a:pt x="15" y="211"/>
                  <a:pt x="11" y="202"/>
                </a:cubicBezTo>
                <a:cubicBezTo>
                  <a:pt x="7" y="193"/>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0"/>
                  <a:pt x="43" y="44"/>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4"/>
                </a:cubicBezTo>
                <a:cubicBezTo>
                  <a:pt x="256" y="50"/>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99" name=""/>
          <p:cNvSpPr txBox="1"/>
          <p:nvPr/>
        </p:nvSpPr>
        <p:spPr>
          <a:xfrm>
            <a:off x="2190600" y="3809880"/>
            <a:ext cx="7724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テキスト品質、ナラティブフロー、視覚レイアウト、テーマ性</a:t>
            </a:r>
            <a:endParaRPr b="0" lang="en-US" sz="2170" spc="-1" strike="noStrike">
              <a:solidFill>
                <a:srgbClr val="000000"/>
              </a:solidFill>
              <a:latin typeface="Times New Roman"/>
            </a:endParaRPr>
          </a:p>
        </p:txBody>
      </p:sp>
      <p:sp>
        <p:nvSpPr>
          <p:cNvPr id="200" name=""/>
          <p:cNvSpPr/>
          <p:nvPr/>
        </p:nvSpPr>
        <p:spPr>
          <a:xfrm>
            <a:off x="1361880" y="4924080"/>
            <a:ext cx="105120" cy="105120"/>
          </a:xfrm>
          <a:custGeom>
            <a:avLst/>
            <a:gdLst/>
            <a:ahLst/>
            <a:rect l="0" t="0" r="r" b="b"/>
            <a:pathLst>
              <a:path w="292" h="292">
                <a:moveTo>
                  <a:pt x="292" y="147"/>
                </a:moveTo>
                <a:cubicBezTo>
                  <a:pt x="292" y="157"/>
                  <a:pt x="291" y="166"/>
                  <a:pt x="289" y="175"/>
                </a:cubicBezTo>
                <a:cubicBezTo>
                  <a:pt x="287" y="185"/>
                  <a:pt x="285" y="194"/>
                  <a:pt x="281" y="203"/>
                </a:cubicBezTo>
                <a:cubicBezTo>
                  <a:pt x="277" y="211"/>
                  <a:pt x="273" y="220"/>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2"/>
                  <a:pt x="156" y="292"/>
                  <a:pt x="147" y="292"/>
                </a:cubicBezTo>
                <a:cubicBezTo>
                  <a:pt x="136" y="292"/>
                  <a:pt x="127" y="292"/>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20"/>
                  <a:pt x="15" y="211"/>
                  <a:pt x="11" y="203"/>
                </a:cubicBezTo>
                <a:cubicBezTo>
                  <a:pt x="7" y="194"/>
                  <a:pt x="5" y="185"/>
                  <a:pt x="3" y="175"/>
                </a:cubicBezTo>
                <a:cubicBezTo>
                  <a:pt x="1" y="166"/>
                  <a:pt x="0" y="157"/>
                  <a:pt x="0" y="147"/>
                </a:cubicBezTo>
                <a:cubicBezTo>
                  <a:pt x="0" y="136"/>
                  <a:pt x="1" y="127"/>
                  <a:pt x="3" y="118"/>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2"/>
                </a:cubicBezTo>
                <a:cubicBezTo>
                  <a:pt x="99" y="8"/>
                  <a:pt x="108" y="5"/>
                  <a:pt x="117" y="3"/>
                </a:cubicBezTo>
                <a:cubicBezTo>
                  <a:pt x="127" y="1"/>
                  <a:pt x="136" y="0"/>
                  <a:pt x="147" y="0"/>
                </a:cubicBezTo>
                <a:cubicBezTo>
                  <a:pt x="156" y="0"/>
                  <a:pt x="166" y="1"/>
                  <a:pt x="175" y="3"/>
                </a:cubicBezTo>
                <a:cubicBezTo>
                  <a:pt x="184" y="5"/>
                  <a:pt x="193" y="8"/>
                  <a:pt x="202" y="12"/>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8"/>
                </a:cubicBezTo>
                <a:cubicBezTo>
                  <a:pt x="291" y="127"/>
                  <a:pt x="292" y="136"/>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01" name=""/>
          <p:cNvSpPr txBox="1"/>
          <p:nvPr/>
        </p:nvSpPr>
        <p:spPr>
          <a:xfrm>
            <a:off x="1638360" y="4295880"/>
            <a:ext cx="77094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VLM-based Q&amp;A: </a:t>
            </a:r>
            <a:r>
              <a:rPr b="0" lang="zh-CN" sz="2170" spc="-1" strike="noStrike">
                <a:solidFill>
                  <a:srgbClr val="111111"/>
                </a:solidFill>
                <a:latin typeface="NotoSansJP"/>
                <a:ea typeface="NotoSansJP"/>
              </a:rPr>
              <a:t>生成スライドのみで論文に関する質問に回答</a:t>
            </a:r>
            <a:endParaRPr b="0" lang="en-US" sz="2170" spc="-1" strike="noStrike">
              <a:solidFill>
                <a:srgbClr val="000000"/>
              </a:solidFill>
              <a:latin typeface="Times New Roman"/>
            </a:endParaRPr>
          </a:p>
        </p:txBody>
      </p:sp>
      <p:sp>
        <p:nvSpPr>
          <p:cNvPr id="202" name=""/>
          <p:cNvSpPr txBox="1"/>
          <p:nvPr/>
        </p:nvSpPr>
        <p:spPr>
          <a:xfrm>
            <a:off x="1638360" y="4781520"/>
            <a:ext cx="67892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ペアワイズ比較</a:t>
            </a:r>
            <a:r>
              <a:rPr b="0" lang="en-US" sz="2170" spc="-1" strike="noStrike">
                <a:solidFill>
                  <a:srgbClr val="111111"/>
                </a:solidFill>
                <a:latin typeface="NotoSansJP"/>
                <a:ea typeface="NotoSansJP"/>
              </a:rPr>
              <a:t>: 2</a:t>
            </a:r>
            <a:r>
              <a:rPr b="0" lang="zh-CN" sz="2170" spc="-1" strike="noStrike">
                <a:solidFill>
                  <a:srgbClr val="111111"/>
                </a:solidFill>
                <a:latin typeface="NotoSansJP"/>
                <a:ea typeface="NotoSansJP"/>
              </a:rPr>
              <a:t>つのスライドを比較し、優劣を判断</a:t>
            </a:r>
            <a:endParaRPr b="0" lang="en-US" sz="2170" spc="-1" strike="noStrike">
              <a:solidFill>
                <a:srgbClr val="000000"/>
              </a:solidFill>
              <a:latin typeface="Times New Roman"/>
            </a:endParaRPr>
          </a:p>
        </p:txBody>
      </p:sp>
      <p:sp>
        <p:nvSpPr>
          <p:cNvPr id="203"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4" name=""/>
          <p:cNvSpPr txBox="1"/>
          <p:nvPr/>
        </p:nvSpPr>
        <p:spPr>
          <a:xfrm>
            <a:off x="914400" y="392400"/>
            <a:ext cx="9943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実験設定</a:t>
            </a:r>
            <a:endParaRPr b="0" lang="en-US" sz="1950" spc="-1" strike="noStrike">
              <a:solidFill>
                <a:srgbClr val="000000"/>
              </a:solidFill>
              <a:latin typeface="Times New Roman"/>
            </a:endParaRPr>
          </a:p>
        </p:txBody>
      </p:sp>
      <p:sp>
        <p:nvSpPr>
          <p:cNvPr id="205"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10</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9"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10" name="" descr=""/>
          <p:cNvPicPr/>
          <p:nvPr/>
        </p:nvPicPr>
        <p:blipFill>
          <a:blip r:embed="rId1"/>
          <a:stretch/>
        </p:blipFill>
        <p:spPr>
          <a:xfrm>
            <a:off x="10515600" y="38160"/>
            <a:ext cx="1142640" cy="1142640"/>
          </a:xfrm>
          <a:prstGeom prst="rect">
            <a:avLst/>
          </a:prstGeom>
          <a:ln w="0">
            <a:noFill/>
          </a:ln>
        </p:spPr>
      </p:pic>
      <p:pic>
        <p:nvPicPr>
          <p:cNvPr id="211" name="" descr=""/>
          <p:cNvPicPr/>
          <p:nvPr/>
        </p:nvPicPr>
        <p:blipFill>
          <a:blip r:embed="rId2"/>
          <a:stretch/>
        </p:blipFill>
        <p:spPr>
          <a:xfrm>
            <a:off x="533520" y="1409760"/>
            <a:ext cx="6095520" cy="4114440"/>
          </a:xfrm>
          <a:prstGeom prst="rect">
            <a:avLst/>
          </a:prstGeom>
          <a:ln w="0">
            <a:noFill/>
          </a:ln>
        </p:spPr>
      </p:pic>
      <p:sp>
        <p:nvSpPr>
          <p:cNvPr id="212" name=""/>
          <p:cNvSpPr txBox="1"/>
          <p:nvPr/>
        </p:nvSpPr>
        <p:spPr>
          <a:xfrm>
            <a:off x="533520" y="923760"/>
            <a:ext cx="98899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は、既存手法より一貫したナラティブを持つスライドを生成しました。</a:t>
            </a:r>
            <a:endParaRPr b="0" lang="en-US" sz="2170" spc="-1" strike="noStrike">
              <a:solidFill>
                <a:srgbClr val="000000"/>
              </a:solidFill>
              <a:latin typeface="Times New Roman"/>
            </a:endParaRPr>
          </a:p>
        </p:txBody>
      </p:sp>
      <p:sp>
        <p:nvSpPr>
          <p:cNvPr id="213" name=""/>
          <p:cNvSpPr txBox="1"/>
          <p:nvPr/>
        </p:nvSpPr>
        <p:spPr>
          <a:xfrm>
            <a:off x="533520" y="5743440"/>
            <a:ext cx="1027548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Figure 7: Qualitative Comparison. Unlike baselines, ArcDeck shows clear narrative flow</a:t>
            </a:r>
            <a:endParaRPr b="0" lang="en-US" sz="2170" spc="-1" strike="noStrike">
              <a:solidFill>
                <a:srgbClr val="000000"/>
              </a:solidFill>
              <a:latin typeface="Times New Roman"/>
            </a:endParaRPr>
          </a:p>
        </p:txBody>
      </p:sp>
      <p:sp>
        <p:nvSpPr>
          <p:cNvPr id="214" name=""/>
          <p:cNvSpPr/>
          <p:nvPr/>
        </p:nvSpPr>
        <p:spPr>
          <a:xfrm>
            <a:off x="809280" y="6810120"/>
            <a:ext cx="105120" cy="105120"/>
          </a:xfrm>
          <a:custGeom>
            <a:avLst/>
            <a:gdLst/>
            <a:ahLst/>
            <a:rect l="0" t="0" r="r" b="b"/>
            <a:pathLst>
              <a:path w="292" h="292">
                <a:moveTo>
                  <a:pt x="292" y="147"/>
                </a:moveTo>
                <a:cubicBezTo>
                  <a:pt x="292" y="156"/>
                  <a:pt x="292" y="166"/>
                  <a:pt x="290" y="175"/>
                </a:cubicBezTo>
                <a:cubicBezTo>
                  <a:pt x="288" y="184"/>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4"/>
                  <a:pt x="3" y="175"/>
                </a:cubicBezTo>
                <a:cubicBezTo>
                  <a:pt x="1" y="166"/>
                  <a:pt x="0" y="156"/>
                  <a:pt x="0" y="147"/>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5" name=""/>
          <p:cNvSpPr txBox="1"/>
          <p:nvPr/>
        </p:nvSpPr>
        <p:spPr>
          <a:xfrm>
            <a:off x="533520" y="6153120"/>
            <a:ext cx="88020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instead</a:t>
            </a:r>
            <a:endParaRPr b="0" lang="en-US" sz="2170" spc="-1" strike="noStrike">
              <a:solidFill>
                <a:srgbClr val="000000"/>
              </a:solidFill>
              <a:latin typeface="Times New Roman"/>
            </a:endParaRPr>
          </a:p>
        </p:txBody>
      </p:sp>
      <p:sp>
        <p:nvSpPr>
          <p:cNvPr id="216" name=""/>
          <p:cNvSpPr txBox="1"/>
          <p:nvPr/>
        </p:nvSpPr>
        <p:spPr>
          <a:xfrm>
            <a:off x="1085760" y="6667560"/>
            <a:ext cx="2207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既存手法の問題点</a:t>
            </a:r>
            <a:endParaRPr b="0" lang="en-US" sz="2170" spc="-1" strike="noStrike">
              <a:solidFill>
                <a:srgbClr val="000000"/>
              </a:solidFill>
              <a:latin typeface="Times New Roman"/>
            </a:endParaRPr>
          </a:p>
        </p:txBody>
      </p:sp>
      <p:sp>
        <p:nvSpPr>
          <p:cNvPr id="21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8" name=""/>
          <p:cNvSpPr txBox="1"/>
          <p:nvPr/>
        </p:nvSpPr>
        <p:spPr>
          <a:xfrm>
            <a:off x="914400" y="392400"/>
            <a:ext cx="30110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結果</a:t>
            </a:r>
            <a:r>
              <a:rPr b="0" lang="en-US" sz="1950" spc="-1" strike="noStrike">
                <a:solidFill>
                  <a:srgbClr val="111111"/>
                </a:solidFill>
                <a:latin typeface="NotoSansJP"/>
                <a:ea typeface="NotoSansJP"/>
              </a:rPr>
              <a:t>(1): </a:t>
            </a:r>
            <a:r>
              <a:rPr b="0" lang="zh-CN" sz="1950" spc="-1" strike="noStrike">
                <a:solidFill>
                  <a:srgbClr val="111111"/>
                </a:solidFill>
                <a:latin typeface="NotoSansJP"/>
                <a:ea typeface="NotoSansJP"/>
              </a:rPr>
              <a:t>定性的な品質比較</a:t>
            </a:r>
            <a:endParaRPr b="0" lang="en-US" sz="1950" spc="-1" strike="noStrike">
              <a:solidFill>
                <a:srgbClr val="000000"/>
              </a:solidFill>
              <a:latin typeface="Times New Roman"/>
            </a:endParaRPr>
          </a:p>
        </p:txBody>
      </p:sp>
      <p:sp>
        <p:nvSpPr>
          <p:cNvPr id="219"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11</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24" name="" descr=""/>
          <p:cNvPicPr/>
          <p:nvPr/>
        </p:nvPicPr>
        <p:blipFill>
          <a:blip r:embed="rId1"/>
          <a:stretch/>
        </p:blipFill>
        <p:spPr>
          <a:xfrm>
            <a:off x="10515600" y="38160"/>
            <a:ext cx="1142640" cy="1142640"/>
          </a:xfrm>
          <a:prstGeom prst="rect">
            <a:avLst/>
          </a:prstGeom>
          <a:ln w="0">
            <a:noFill/>
          </a:ln>
        </p:spPr>
      </p:pic>
      <p:sp>
        <p:nvSpPr>
          <p:cNvPr id="225" name=""/>
          <p:cNvSpPr txBox="1"/>
          <p:nvPr/>
        </p:nvSpPr>
        <p:spPr>
          <a:xfrm>
            <a:off x="533520" y="923760"/>
            <a:ext cx="94654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VLM</a:t>
            </a:r>
            <a:r>
              <a:rPr b="0" lang="zh-CN" sz="2170" spc="-1" strike="noStrike">
                <a:solidFill>
                  <a:srgbClr val="111111"/>
                </a:solidFill>
                <a:latin typeface="NotoSansJP"/>
                <a:ea typeface="NotoSansJP"/>
              </a:rPr>
              <a:t>によるペアワイズ比較で、</a:t>
            </a:r>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は全ベースラインを上回りました。</a:t>
            </a:r>
            <a:endParaRPr b="0" lang="en-US" sz="2170" spc="-1" strike="noStrike">
              <a:solidFill>
                <a:srgbClr val="000000"/>
              </a:solidFill>
              <a:latin typeface="Times New Roman"/>
            </a:endParaRPr>
          </a:p>
        </p:txBody>
      </p:sp>
      <p:sp>
        <p:nvSpPr>
          <p:cNvPr id="226" name=""/>
          <p:cNvSpPr/>
          <p:nvPr/>
        </p:nvSpPr>
        <p:spPr>
          <a:xfrm>
            <a:off x="809280" y="2085840"/>
            <a:ext cx="105120" cy="105120"/>
          </a:xfrm>
          <a:custGeom>
            <a:avLst/>
            <a:gdLst/>
            <a:ahLst/>
            <a:rect l="0" t="0" r="r" b="b"/>
            <a:pathLst>
              <a:path w="292" h="292">
                <a:moveTo>
                  <a:pt x="292" y="145"/>
                </a:moveTo>
                <a:cubicBezTo>
                  <a:pt x="292" y="155"/>
                  <a:pt x="292" y="164"/>
                  <a:pt x="290" y="175"/>
                </a:cubicBezTo>
                <a:cubicBezTo>
                  <a:pt x="288" y="184"/>
                  <a:pt x="285" y="193"/>
                  <a:pt x="281" y="202"/>
                </a:cubicBezTo>
                <a:cubicBezTo>
                  <a:pt x="278" y="211"/>
                  <a:pt x="273" y="219"/>
                  <a:pt x="268" y="227"/>
                </a:cubicBezTo>
                <a:cubicBezTo>
                  <a:pt x="263" y="235"/>
                  <a:pt x="257" y="243"/>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4"/>
                  <a:pt x="0" y="155"/>
                  <a:pt x="0" y="145"/>
                </a:cubicBezTo>
                <a:cubicBezTo>
                  <a:pt x="0" y="136"/>
                  <a:pt x="1" y="126"/>
                  <a:pt x="3" y="117"/>
                </a:cubicBezTo>
                <a:cubicBezTo>
                  <a:pt x="5" y="108"/>
                  <a:pt x="8" y="99"/>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27" name=""/>
          <p:cNvSpPr txBox="1"/>
          <p:nvPr/>
        </p:nvSpPr>
        <p:spPr>
          <a:xfrm>
            <a:off x="533520" y="1438200"/>
            <a:ext cx="81061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表</a:t>
            </a:r>
            <a:r>
              <a:rPr b="0" lang="en-US" sz="2170" spc="-1" strike="noStrike">
                <a:solidFill>
                  <a:srgbClr val="111111"/>
                </a:solidFill>
                <a:latin typeface="NotoSansJP"/>
                <a:ea typeface="NotoSansJP"/>
              </a:rPr>
              <a:t>: Table 4a. </a:t>
            </a:r>
            <a:r>
              <a:rPr b="0" lang="zh-CN" sz="2170" spc="-1" strike="noStrike">
                <a:solidFill>
                  <a:srgbClr val="111111"/>
                </a:solidFill>
                <a:latin typeface="NotoSansJP"/>
                <a:ea typeface="NotoSansJP"/>
              </a:rPr>
              <a:t>ナラティブフローに関するペアワイズ比較の結果</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228" name=""/>
          <p:cNvSpPr/>
          <p:nvPr/>
        </p:nvSpPr>
        <p:spPr>
          <a:xfrm>
            <a:off x="1361880" y="2504880"/>
            <a:ext cx="105120" cy="105120"/>
          </a:xfrm>
          <a:custGeom>
            <a:avLst/>
            <a:gdLst/>
            <a:ahLst/>
            <a:rect l="0" t="0" r="r" b="b"/>
            <a:pathLst>
              <a:path w="292" h="292">
                <a:moveTo>
                  <a:pt x="292" y="146"/>
                </a:moveTo>
                <a:cubicBezTo>
                  <a:pt x="292" y="155"/>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49"/>
                  <a:pt x="43" y="43"/>
                </a:cubicBezTo>
                <a:cubicBezTo>
                  <a:pt x="49" y="36"/>
                  <a:pt x="57" y="30"/>
                  <a:pt x="65" y="25"/>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5"/>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29" name=""/>
          <p:cNvSpPr txBox="1"/>
          <p:nvPr/>
        </p:nvSpPr>
        <p:spPr>
          <a:xfrm>
            <a:off x="1085760" y="1942920"/>
            <a:ext cx="368892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Ours vs. Baselines (Win rate %)</a:t>
            </a:r>
            <a:endParaRPr b="0" lang="en-US" sz="2170" spc="-1" strike="noStrike">
              <a:solidFill>
                <a:srgbClr val="000000"/>
              </a:solidFill>
              <a:latin typeface="Times New Roman"/>
            </a:endParaRPr>
          </a:p>
        </p:txBody>
      </p:sp>
      <p:sp>
        <p:nvSpPr>
          <p:cNvPr id="230" name=""/>
          <p:cNvSpPr txBox="1"/>
          <p:nvPr/>
        </p:nvSpPr>
        <p:spPr>
          <a:xfrm>
            <a:off x="1638360" y="2362320"/>
            <a:ext cx="98899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は、既存のマルチエージェント手法やプロンプトベース手法に対し、</a:t>
            </a:r>
            <a:r>
              <a:rPr b="0" lang="zh-CN" sz="2170" spc="-1" strike="noStrike">
                <a:solidFill>
                  <a:srgbClr val="083a5e"/>
                </a:solidFill>
                <a:latin typeface="NotoSansJP"/>
                <a:ea typeface="NotoSansJP"/>
              </a:rPr>
              <a:t>一</a:t>
            </a:r>
            <a:endParaRPr b="0" lang="en-US" sz="2170" spc="-1" strike="noStrike">
              <a:solidFill>
                <a:srgbClr val="000000"/>
              </a:solidFill>
              <a:latin typeface="Times New Roman"/>
            </a:endParaRPr>
          </a:p>
        </p:txBody>
      </p:sp>
      <p:sp>
        <p:nvSpPr>
          <p:cNvPr id="231" name=""/>
          <p:cNvSpPr/>
          <p:nvPr/>
        </p:nvSpPr>
        <p:spPr>
          <a:xfrm>
            <a:off x="1361880" y="3400200"/>
            <a:ext cx="105120" cy="105120"/>
          </a:xfrm>
          <a:custGeom>
            <a:avLst/>
            <a:gdLst/>
            <a:ahLst/>
            <a:rect l="0" t="0" r="r" b="b"/>
            <a:pathLst>
              <a:path w="292" h="292">
                <a:moveTo>
                  <a:pt x="292" y="147"/>
                </a:moveTo>
                <a:cubicBezTo>
                  <a:pt x="292" y="156"/>
                  <a:pt x="291" y="166"/>
                  <a:pt x="289" y="175"/>
                </a:cubicBezTo>
                <a:cubicBezTo>
                  <a:pt x="287" y="184"/>
                  <a:pt x="285" y="194"/>
                  <a:pt x="281" y="202"/>
                </a:cubicBezTo>
                <a:cubicBezTo>
                  <a:pt x="277" y="211"/>
                  <a:pt x="273" y="220"/>
                  <a:pt x="268" y="227"/>
                </a:cubicBezTo>
                <a:cubicBezTo>
                  <a:pt x="262" y="235"/>
                  <a:pt x="256" y="243"/>
                  <a:pt x="249" y="250"/>
                </a:cubicBezTo>
                <a:cubicBezTo>
                  <a:pt x="243" y="256"/>
                  <a:pt x="235" y="262"/>
                  <a:pt x="227" y="268"/>
                </a:cubicBezTo>
                <a:cubicBezTo>
                  <a:pt x="219" y="273"/>
                  <a:pt x="211" y="277"/>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7"/>
                  <a:pt x="73" y="273"/>
                  <a:pt x="65" y="268"/>
                </a:cubicBezTo>
                <a:cubicBezTo>
                  <a:pt x="57" y="262"/>
                  <a:pt x="49" y="256"/>
                  <a:pt x="43" y="250"/>
                </a:cubicBezTo>
                <a:cubicBezTo>
                  <a:pt x="36" y="243"/>
                  <a:pt x="30" y="235"/>
                  <a:pt x="25" y="227"/>
                </a:cubicBezTo>
                <a:cubicBezTo>
                  <a:pt x="19" y="220"/>
                  <a:pt x="15" y="211"/>
                  <a:pt x="11" y="202"/>
                </a:cubicBezTo>
                <a:cubicBezTo>
                  <a:pt x="7" y="194"/>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1"/>
                  <a:pt x="43" y="44"/>
                </a:cubicBezTo>
                <a:cubicBezTo>
                  <a:pt x="49" y="37"/>
                  <a:pt x="57" y="31"/>
                  <a:pt x="65" y="26"/>
                </a:cubicBezTo>
                <a:cubicBezTo>
                  <a:pt x="73" y="20"/>
                  <a:pt x="81" y="16"/>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6"/>
                  <a:pt x="219" y="20"/>
                  <a:pt x="227" y="26"/>
                </a:cubicBezTo>
                <a:cubicBezTo>
                  <a:pt x="235" y="31"/>
                  <a:pt x="243" y="37"/>
                  <a:pt x="249" y="44"/>
                </a:cubicBezTo>
                <a:cubicBezTo>
                  <a:pt x="256" y="51"/>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2" name=""/>
          <p:cNvSpPr txBox="1"/>
          <p:nvPr/>
        </p:nvSpPr>
        <p:spPr>
          <a:xfrm>
            <a:off x="1638360" y="2771640"/>
            <a:ext cx="275940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貫して高い勝率</a:t>
            </a:r>
            <a:r>
              <a:rPr b="0" lang="zh-CN" sz="2170" spc="-1" strike="noStrike">
                <a:solidFill>
                  <a:srgbClr val="111111"/>
                </a:solidFill>
                <a:latin typeface="NotoSansJP"/>
                <a:ea typeface="NotoSansJP"/>
              </a:rPr>
              <a:t>を記録</a:t>
            </a:r>
            <a:endParaRPr b="0" lang="en-US" sz="2170" spc="-1" strike="noStrike">
              <a:solidFill>
                <a:srgbClr val="000000"/>
              </a:solidFill>
              <a:latin typeface="Times New Roman"/>
            </a:endParaRPr>
          </a:p>
        </p:txBody>
      </p:sp>
      <p:sp>
        <p:nvSpPr>
          <p:cNvPr id="233" name=""/>
          <p:cNvSpPr txBox="1"/>
          <p:nvPr/>
        </p:nvSpPr>
        <p:spPr>
          <a:xfrm>
            <a:off x="1638360" y="3257640"/>
            <a:ext cx="99309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この結果は、</a:t>
            </a:r>
            <a:r>
              <a:rPr b="0" lang="zh-CN" sz="2170" spc="-1" strike="noStrike">
                <a:solidFill>
                  <a:srgbClr val="c9342f"/>
                </a:solidFill>
                <a:latin typeface="NotoSansJP"/>
                <a:ea typeface="NotoSansJP"/>
              </a:rPr>
              <a:t>談話構造の明示的モデリングと反復的推敲</a:t>
            </a:r>
            <a:r>
              <a:rPr b="0" lang="zh-CN" sz="2170" spc="-1" strike="noStrike">
                <a:solidFill>
                  <a:srgbClr val="111111"/>
                </a:solidFill>
                <a:latin typeface="NotoSansJP"/>
                <a:ea typeface="NotoSansJP"/>
              </a:rPr>
              <a:t>が、物語の一貫性向上に</a:t>
            </a:r>
            <a:endParaRPr b="0" lang="en-US" sz="2170" spc="-1" strike="noStrike">
              <a:solidFill>
                <a:srgbClr val="000000"/>
              </a:solidFill>
              <a:latin typeface="Times New Roman"/>
            </a:endParaRPr>
          </a:p>
        </p:txBody>
      </p:sp>
      <p:sp>
        <p:nvSpPr>
          <p:cNvPr id="234" name=""/>
          <p:cNvSpPr txBox="1"/>
          <p:nvPr/>
        </p:nvSpPr>
        <p:spPr>
          <a:xfrm>
            <a:off x="1638360" y="3676680"/>
            <a:ext cx="35866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極めて有効であることを示唆</a:t>
            </a:r>
            <a:endParaRPr b="0" lang="en-US" sz="2170" spc="-1" strike="noStrike">
              <a:solidFill>
                <a:srgbClr val="000000"/>
              </a:solidFill>
              <a:latin typeface="Times New Roman"/>
            </a:endParaRPr>
          </a:p>
        </p:txBody>
      </p:sp>
      <p:sp>
        <p:nvSpPr>
          <p:cNvPr id="235"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36" name=""/>
          <p:cNvSpPr txBox="1"/>
          <p:nvPr/>
        </p:nvSpPr>
        <p:spPr>
          <a:xfrm>
            <a:off x="914400" y="392400"/>
            <a:ext cx="45014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結果</a:t>
            </a:r>
            <a:r>
              <a:rPr b="0" lang="en-US" sz="1950" spc="-1" strike="noStrike">
                <a:solidFill>
                  <a:srgbClr val="111111"/>
                </a:solidFill>
                <a:latin typeface="NotoSansJP"/>
                <a:ea typeface="NotoSansJP"/>
              </a:rPr>
              <a:t>(2): </a:t>
            </a:r>
            <a:r>
              <a:rPr b="0" lang="zh-CN" sz="1950" spc="-1" strike="noStrike">
                <a:solidFill>
                  <a:srgbClr val="111111"/>
                </a:solidFill>
                <a:latin typeface="NotoSansJP"/>
                <a:ea typeface="NotoSansJP"/>
              </a:rPr>
              <a:t>ナラティブフローの定量的評価</a:t>
            </a:r>
            <a:endParaRPr b="0" lang="en-US" sz="1950" spc="-1" strike="noStrike">
              <a:solidFill>
                <a:srgbClr val="000000"/>
              </a:solidFill>
              <a:latin typeface="Times New Roman"/>
            </a:endParaRPr>
          </a:p>
        </p:txBody>
      </p:sp>
      <p:sp>
        <p:nvSpPr>
          <p:cNvPr id="237"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12</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1"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42" name="" descr=""/>
          <p:cNvPicPr/>
          <p:nvPr/>
        </p:nvPicPr>
        <p:blipFill>
          <a:blip r:embed="rId1"/>
          <a:stretch/>
        </p:blipFill>
        <p:spPr>
          <a:xfrm>
            <a:off x="10515600" y="38160"/>
            <a:ext cx="1142640" cy="1142640"/>
          </a:xfrm>
          <a:prstGeom prst="rect">
            <a:avLst/>
          </a:prstGeom>
          <a:ln w="0">
            <a:noFill/>
          </a:ln>
        </p:spPr>
      </p:pic>
      <p:sp>
        <p:nvSpPr>
          <p:cNvPr id="243"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44" name=""/>
          <p:cNvSpPr txBox="1"/>
          <p:nvPr/>
        </p:nvSpPr>
        <p:spPr>
          <a:xfrm>
            <a:off x="533520" y="923760"/>
            <a:ext cx="106041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Q&amp;A</a:t>
            </a:r>
            <a:r>
              <a:rPr b="0" lang="zh-CN" sz="2170" spc="-1" strike="noStrike">
                <a:solidFill>
                  <a:srgbClr val="111111"/>
                </a:solidFill>
                <a:latin typeface="NotoSansJP"/>
                <a:ea typeface="NotoSansJP"/>
              </a:rPr>
              <a:t>クイズにおいて、</a:t>
            </a:r>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は論文の核心を深く保持していることを示しました。</a:t>
            </a:r>
            <a:endParaRPr b="0" lang="en-US" sz="2170" spc="-1" strike="noStrike">
              <a:solidFill>
                <a:srgbClr val="000000"/>
              </a:solidFill>
              <a:latin typeface="Times New Roman"/>
            </a:endParaRPr>
          </a:p>
        </p:txBody>
      </p:sp>
      <p:sp>
        <p:nvSpPr>
          <p:cNvPr id="245"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46" name=""/>
          <p:cNvSpPr txBox="1"/>
          <p:nvPr/>
        </p:nvSpPr>
        <p:spPr>
          <a:xfrm>
            <a:off x="1085760" y="1438200"/>
            <a:ext cx="34758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VLM-based Q/A Quiz </a:t>
            </a:r>
            <a:r>
              <a:rPr b="0" lang="zh-CN" sz="2170" spc="-1" strike="noStrike">
                <a:solidFill>
                  <a:srgbClr val="111111"/>
                </a:solidFill>
                <a:latin typeface="NotoSansJP"/>
                <a:ea typeface="NotoSansJP"/>
              </a:rPr>
              <a:t>の結果</a:t>
            </a:r>
            <a:endParaRPr b="0" lang="en-US" sz="2170" spc="-1" strike="noStrike">
              <a:solidFill>
                <a:srgbClr val="000000"/>
              </a:solidFill>
              <a:latin typeface="Times New Roman"/>
            </a:endParaRPr>
          </a:p>
        </p:txBody>
      </p:sp>
      <p:sp>
        <p:nvSpPr>
          <p:cNvPr id="247" name=""/>
          <p:cNvSpPr txBox="1"/>
          <p:nvPr/>
        </p:nvSpPr>
        <p:spPr>
          <a:xfrm>
            <a:off x="1638360" y="1847880"/>
            <a:ext cx="96908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特に</a:t>
            </a:r>
            <a:r>
              <a:rPr b="0" lang="zh-CN" sz="2170" spc="-1" strike="noStrike">
                <a:solidFill>
                  <a:srgbClr val="083a5e"/>
                </a:solidFill>
                <a:latin typeface="NotoSansJP"/>
                <a:ea typeface="NotoSansJP"/>
              </a:rPr>
              <a:t>「物語性 </a:t>
            </a:r>
            <a:r>
              <a:rPr b="0" lang="en-US" sz="2170" spc="-1" strike="noStrike">
                <a:solidFill>
                  <a:srgbClr val="083a5e"/>
                </a:solidFill>
                <a:latin typeface="NotoSansJP"/>
                <a:ea typeface="NotoSansJP"/>
              </a:rPr>
              <a:t>(Story)</a:t>
            </a:r>
            <a:r>
              <a:rPr b="0" lang="zh-CN" sz="2170" spc="-1" strike="noStrike">
                <a:solidFill>
                  <a:srgbClr val="083a5e"/>
                </a:solidFill>
                <a:latin typeface="NotoSansJP"/>
                <a:ea typeface="NotoSansJP"/>
              </a:rPr>
              <a:t>」</a:t>
            </a:r>
            <a:r>
              <a:rPr b="0" lang="zh-CN" sz="2170" spc="-1" strike="noStrike">
                <a:solidFill>
                  <a:srgbClr val="111111"/>
                </a:solidFill>
                <a:latin typeface="NotoSansJP"/>
                <a:ea typeface="NotoSansJP"/>
              </a:rPr>
              <a:t>や</a:t>
            </a:r>
            <a:r>
              <a:rPr b="0" lang="zh-CN" sz="2170" spc="-1" strike="noStrike">
                <a:solidFill>
                  <a:srgbClr val="083a5e"/>
                </a:solidFill>
                <a:latin typeface="NotoSansJP"/>
                <a:ea typeface="NotoSansJP"/>
              </a:rPr>
              <a:t>「深い概念理解 </a:t>
            </a:r>
            <a:r>
              <a:rPr b="0" lang="en-US" sz="2170" spc="-1" strike="noStrike">
                <a:solidFill>
                  <a:srgbClr val="083a5e"/>
                </a:solidFill>
                <a:latin typeface="NotoSansJP"/>
                <a:ea typeface="NotoSansJP"/>
              </a:rPr>
              <a:t>(Hard, Depth)</a:t>
            </a:r>
            <a:r>
              <a:rPr b="0" lang="zh-CN" sz="2170" spc="-1" strike="noStrike">
                <a:solidFill>
                  <a:srgbClr val="083a5e"/>
                </a:solidFill>
                <a:latin typeface="NotoSansJP"/>
                <a:ea typeface="NotoSansJP"/>
              </a:rPr>
              <a:t>」</a:t>
            </a:r>
            <a:r>
              <a:rPr b="0" lang="zh-CN" sz="2170" spc="-1" strike="noStrike">
                <a:solidFill>
                  <a:srgbClr val="111111"/>
                </a:solidFill>
                <a:latin typeface="NotoSansJP"/>
                <a:ea typeface="NotoSansJP"/>
              </a:rPr>
              <a:t>を問うカテゴリで、</a:t>
            </a:r>
            <a:endParaRPr b="0" lang="en-US" sz="2170" spc="-1" strike="noStrike">
              <a:solidFill>
                <a:srgbClr val="000000"/>
              </a:solidFill>
              <a:latin typeface="Times New Roman"/>
            </a:endParaRPr>
          </a:p>
        </p:txBody>
      </p:sp>
      <p:sp>
        <p:nvSpPr>
          <p:cNvPr id="248" name=""/>
          <p:cNvSpPr/>
          <p:nvPr/>
        </p:nvSpPr>
        <p:spPr>
          <a:xfrm>
            <a:off x="1361880" y="289548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8"/>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8"/>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49" name=""/>
          <p:cNvSpPr txBox="1"/>
          <p:nvPr/>
        </p:nvSpPr>
        <p:spPr>
          <a:xfrm>
            <a:off x="1638360" y="226692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ベースラインを上回る高いスコアを達成</a:t>
            </a:r>
            <a:endParaRPr b="0" lang="en-US" sz="2170" spc="-1" strike="noStrike">
              <a:solidFill>
                <a:srgbClr val="000000"/>
              </a:solidFill>
              <a:latin typeface="Times New Roman"/>
            </a:endParaRPr>
          </a:p>
        </p:txBody>
      </p:sp>
      <p:sp>
        <p:nvSpPr>
          <p:cNvPr id="250" name=""/>
          <p:cNvSpPr txBox="1"/>
          <p:nvPr/>
        </p:nvSpPr>
        <p:spPr>
          <a:xfrm>
            <a:off x="1638360" y="2752560"/>
            <a:ext cx="99309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表面的な要約に留まらず、論文の背景にある論理や詳細な技術内容を忠実にスラ</a:t>
            </a:r>
            <a:endParaRPr b="0" lang="en-US" sz="2170" spc="-1" strike="noStrike">
              <a:solidFill>
                <a:srgbClr val="000000"/>
              </a:solidFill>
              <a:latin typeface="Times New Roman"/>
            </a:endParaRPr>
          </a:p>
        </p:txBody>
      </p:sp>
      <p:sp>
        <p:nvSpPr>
          <p:cNvPr id="251" name=""/>
          <p:cNvSpPr txBox="1"/>
          <p:nvPr/>
        </p:nvSpPr>
        <p:spPr>
          <a:xfrm>
            <a:off x="1638360" y="316224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イドへ反映できていることを示唆</a:t>
            </a:r>
            <a:endParaRPr b="0" lang="en-US" sz="2170" spc="-1" strike="noStrike">
              <a:solidFill>
                <a:srgbClr val="000000"/>
              </a:solidFill>
              <a:latin typeface="Times New Roman"/>
            </a:endParaRPr>
          </a:p>
        </p:txBody>
      </p:sp>
      <p:sp>
        <p:nvSpPr>
          <p:cNvPr id="252"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3" name=""/>
          <p:cNvSpPr txBox="1"/>
          <p:nvPr/>
        </p:nvSpPr>
        <p:spPr>
          <a:xfrm>
            <a:off x="914400" y="392400"/>
            <a:ext cx="30110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結果</a:t>
            </a:r>
            <a:r>
              <a:rPr b="0" lang="en-US" sz="1950" spc="-1" strike="noStrike">
                <a:solidFill>
                  <a:srgbClr val="111111"/>
                </a:solidFill>
                <a:latin typeface="NotoSansJP"/>
                <a:ea typeface="NotoSansJP"/>
              </a:rPr>
              <a:t>(3): </a:t>
            </a:r>
            <a:r>
              <a:rPr b="0" lang="zh-CN" sz="1950" spc="-1" strike="noStrike">
                <a:solidFill>
                  <a:srgbClr val="111111"/>
                </a:solidFill>
                <a:latin typeface="NotoSansJP"/>
                <a:ea typeface="NotoSansJP"/>
              </a:rPr>
              <a:t>内容保持力の評価</a:t>
            </a:r>
            <a:endParaRPr b="0" lang="en-US" sz="1950" spc="-1" strike="noStrike">
              <a:solidFill>
                <a:srgbClr val="000000"/>
              </a:solidFill>
              <a:latin typeface="Times New Roman"/>
            </a:endParaRPr>
          </a:p>
        </p:txBody>
      </p:sp>
      <p:sp>
        <p:nvSpPr>
          <p:cNvPr id="254"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13</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8"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59" name="" descr=""/>
          <p:cNvPicPr/>
          <p:nvPr/>
        </p:nvPicPr>
        <p:blipFill>
          <a:blip r:embed="rId1"/>
          <a:stretch/>
        </p:blipFill>
        <p:spPr>
          <a:xfrm>
            <a:off x="10515600" y="38160"/>
            <a:ext cx="1142640" cy="1142640"/>
          </a:xfrm>
          <a:prstGeom prst="rect">
            <a:avLst/>
          </a:prstGeom>
          <a:ln w="0">
            <a:noFill/>
          </a:ln>
        </p:spPr>
      </p:pic>
      <p:sp>
        <p:nvSpPr>
          <p:cNvPr id="260"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1" name=""/>
          <p:cNvSpPr txBox="1"/>
          <p:nvPr/>
        </p:nvSpPr>
        <p:spPr>
          <a:xfrm>
            <a:off x="533520" y="923760"/>
            <a:ext cx="107586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提案手法の各コンポーネントが、ナラティブ生成に不可欠であることを確認しました。</a:t>
            </a:r>
            <a:endParaRPr b="0" lang="en-US" sz="2170" spc="-1" strike="noStrike">
              <a:solidFill>
                <a:srgbClr val="000000"/>
              </a:solidFill>
              <a:latin typeface="Times New Roman"/>
            </a:endParaRPr>
          </a:p>
        </p:txBody>
      </p:sp>
      <p:sp>
        <p:nvSpPr>
          <p:cNvPr id="262"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3" name=""/>
          <p:cNvSpPr txBox="1"/>
          <p:nvPr/>
        </p:nvSpPr>
        <p:spPr>
          <a:xfrm>
            <a:off x="1085760" y="143820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評価</a:t>
            </a:r>
            <a:endParaRPr b="0" lang="en-US" sz="2170" spc="-1" strike="noStrike">
              <a:solidFill>
                <a:srgbClr val="000000"/>
              </a:solidFill>
              <a:latin typeface="Times New Roman"/>
            </a:endParaRPr>
          </a:p>
        </p:txBody>
      </p:sp>
      <p:sp>
        <p:nvSpPr>
          <p:cNvPr id="264" name=""/>
          <p:cNvSpPr/>
          <p:nvPr/>
        </p:nvSpPr>
        <p:spPr>
          <a:xfrm>
            <a:off x="1914480" y="240948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5" name=""/>
          <p:cNvSpPr/>
          <p:nvPr/>
        </p:nvSpPr>
        <p:spPr>
          <a:xfrm>
            <a:off x="2190600" y="2238120"/>
            <a:ext cx="2457720" cy="438480"/>
          </a:xfrm>
          <a:custGeom>
            <a:avLst/>
            <a:gdLst/>
            <a:ahLst/>
            <a:rect l="0" t="0" r="r" b="b"/>
            <a:pathLst>
              <a:path w="6827" h="1218">
                <a:moveTo>
                  <a:pt x="0" y="1060"/>
                </a:moveTo>
                <a:lnTo>
                  <a:pt x="0" y="159"/>
                </a:lnTo>
                <a:cubicBezTo>
                  <a:pt x="0" y="149"/>
                  <a:pt x="1" y="138"/>
                  <a:pt x="3" y="128"/>
                </a:cubicBezTo>
                <a:cubicBezTo>
                  <a:pt x="5" y="118"/>
                  <a:pt x="8" y="108"/>
                  <a:pt x="12" y="98"/>
                </a:cubicBezTo>
                <a:cubicBezTo>
                  <a:pt x="16" y="89"/>
                  <a:pt x="21" y="79"/>
                  <a:pt x="27" y="71"/>
                </a:cubicBezTo>
                <a:cubicBezTo>
                  <a:pt x="32" y="62"/>
                  <a:pt x="39" y="54"/>
                  <a:pt x="46" y="47"/>
                </a:cubicBezTo>
                <a:cubicBezTo>
                  <a:pt x="54" y="39"/>
                  <a:pt x="62" y="33"/>
                  <a:pt x="70" y="27"/>
                </a:cubicBezTo>
                <a:cubicBezTo>
                  <a:pt x="79" y="21"/>
                  <a:pt x="88" y="16"/>
                  <a:pt x="98" y="12"/>
                </a:cubicBezTo>
                <a:cubicBezTo>
                  <a:pt x="108" y="8"/>
                  <a:pt x="117" y="5"/>
                  <a:pt x="128" y="3"/>
                </a:cubicBezTo>
                <a:cubicBezTo>
                  <a:pt x="138" y="1"/>
                  <a:pt x="148" y="0"/>
                  <a:pt x="159" y="0"/>
                </a:cubicBezTo>
                <a:lnTo>
                  <a:pt x="6668" y="0"/>
                </a:lnTo>
                <a:cubicBezTo>
                  <a:pt x="6679" y="0"/>
                  <a:pt x="6689" y="1"/>
                  <a:pt x="6699" y="3"/>
                </a:cubicBezTo>
                <a:cubicBezTo>
                  <a:pt x="6710" y="5"/>
                  <a:pt x="6720" y="8"/>
                  <a:pt x="6729" y="12"/>
                </a:cubicBezTo>
                <a:cubicBezTo>
                  <a:pt x="6739" y="16"/>
                  <a:pt x="6748" y="21"/>
                  <a:pt x="6757" y="27"/>
                </a:cubicBezTo>
                <a:cubicBezTo>
                  <a:pt x="6765" y="33"/>
                  <a:pt x="6773" y="39"/>
                  <a:pt x="6781" y="47"/>
                </a:cubicBezTo>
                <a:cubicBezTo>
                  <a:pt x="6788" y="54"/>
                  <a:pt x="6795" y="62"/>
                  <a:pt x="6800" y="71"/>
                </a:cubicBezTo>
                <a:cubicBezTo>
                  <a:pt x="6806" y="79"/>
                  <a:pt x="6811" y="89"/>
                  <a:pt x="6815" y="98"/>
                </a:cubicBezTo>
                <a:cubicBezTo>
                  <a:pt x="6819" y="108"/>
                  <a:pt x="6822" y="118"/>
                  <a:pt x="6824" y="128"/>
                </a:cubicBezTo>
                <a:cubicBezTo>
                  <a:pt x="6826" y="138"/>
                  <a:pt x="6827" y="149"/>
                  <a:pt x="6827" y="159"/>
                </a:cubicBezTo>
                <a:lnTo>
                  <a:pt x="6827" y="1060"/>
                </a:lnTo>
                <a:cubicBezTo>
                  <a:pt x="6827" y="1070"/>
                  <a:pt x="6826" y="1080"/>
                  <a:pt x="6824" y="1091"/>
                </a:cubicBezTo>
                <a:cubicBezTo>
                  <a:pt x="6822" y="1101"/>
                  <a:pt x="6819" y="1111"/>
                  <a:pt x="6815" y="1120"/>
                </a:cubicBezTo>
                <a:cubicBezTo>
                  <a:pt x="6811" y="1130"/>
                  <a:pt x="6806" y="1139"/>
                  <a:pt x="6800" y="1148"/>
                </a:cubicBezTo>
                <a:cubicBezTo>
                  <a:pt x="6795" y="1156"/>
                  <a:pt x="6788" y="1164"/>
                  <a:pt x="6781" y="1172"/>
                </a:cubicBezTo>
                <a:cubicBezTo>
                  <a:pt x="6773" y="1179"/>
                  <a:pt x="6765" y="1186"/>
                  <a:pt x="6757" y="1192"/>
                </a:cubicBezTo>
                <a:cubicBezTo>
                  <a:pt x="6748" y="1197"/>
                  <a:pt x="6739" y="1202"/>
                  <a:pt x="6729" y="1206"/>
                </a:cubicBezTo>
                <a:cubicBezTo>
                  <a:pt x="6720" y="1210"/>
                  <a:pt x="6710" y="1213"/>
                  <a:pt x="6699" y="1215"/>
                </a:cubicBezTo>
                <a:cubicBezTo>
                  <a:pt x="6689" y="1217"/>
                  <a:pt x="6679" y="1218"/>
                  <a:pt x="6668" y="1218"/>
                </a:cubicBezTo>
                <a:lnTo>
                  <a:pt x="159" y="1218"/>
                </a:lnTo>
                <a:cubicBezTo>
                  <a:pt x="148" y="1218"/>
                  <a:pt x="138" y="1217"/>
                  <a:pt x="128" y="1215"/>
                </a:cubicBezTo>
                <a:cubicBezTo>
                  <a:pt x="117" y="1213"/>
                  <a:pt x="108" y="1210"/>
                  <a:pt x="98" y="1206"/>
                </a:cubicBezTo>
                <a:cubicBezTo>
                  <a:pt x="88" y="1202"/>
                  <a:pt x="79" y="1197"/>
                  <a:pt x="70" y="1192"/>
                </a:cubicBezTo>
                <a:cubicBezTo>
                  <a:pt x="62" y="1186"/>
                  <a:pt x="54" y="1179"/>
                  <a:pt x="46" y="1172"/>
                </a:cubicBezTo>
                <a:cubicBezTo>
                  <a:pt x="39" y="1164"/>
                  <a:pt x="32" y="1156"/>
                  <a:pt x="27" y="1148"/>
                </a:cubicBezTo>
                <a:cubicBezTo>
                  <a:pt x="21" y="1139"/>
                  <a:pt x="16" y="1130"/>
                  <a:pt x="12" y="1120"/>
                </a:cubicBezTo>
                <a:cubicBezTo>
                  <a:pt x="8" y="1111"/>
                  <a:pt x="5" y="1101"/>
                  <a:pt x="3" y="1091"/>
                </a:cubicBezTo>
                <a:cubicBezTo>
                  <a:pt x="1" y="1080"/>
                  <a:pt x="0" y="1070"/>
                  <a:pt x="0" y="1060"/>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6" name=""/>
          <p:cNvSpPr txBox="1"/>
          <p:nvPr/>
        </p:nvSpPr>
        <p:spPr>
          <a:xfrm>
            <a:off x="1638360" y="1847880"/>
            <a:ext cx="85107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から主要コンポーネントを個別に取り除き、性能変化を測定</a:t>
            </a:r>
            <a:endParaRPr b="0" lang="en-US" sz="2170" spc="-1" strike="noStrike">
              <a:solidFill>
                <a:srgbClr val="000000"/>
              </a:solidFill>
              <a:latin typeface="Times New Roman"/>
            </a:endParaRPr>
          </a:p>
        </p:txBody>
      </p:sp>
      <p:sp>
        <p:nvSpPr>
          <p:cNvPr id="267" name=""/>
          <p:cNvSpPr/>
          <p:nvPr/>
        </p:nvSpPr>
        <p:spPr>
          <a:xfrm>
            <a:off x="1914480" y="289548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8" name=""/>
          <p:cNvSpPr/>
          <p:nvPr/>
        </p:nvSpPr>
        <p:spPr>
          <a:xfrm>
            <a:off x="2190600" y="2724120"/>
            <a:ext cx="2876760" cy="428760"/>
          </a:xfrm>
          <a:custGeom>
            <a:avLst/>
            <a:gdLst/>
            <a:ahLst/>
            <a:rect l="0" t="0" r="r" b="b"/>
            <a:pathLst>
              <a:path w="7991" h="1191">
                <a:moveTo>
                  <a:pt x="0" y="1032"/>
                </a:moveTo>
                <a:lnTo>
                  <a:pt x="0" y="158"/>
                </a:lnTo>
                <a:cubicBezTo>
                  <a:pt x="0" y="148"/>
                  <a:pt x="1" y="138"/>
                  <a:pt x="3" y="127"/>
                </a:cubicBezTo>
                <a:cubicBezTo>
                  <a:pt x="5" y="117"/>
                  <a:pt x="8" y="107"/>
                  <a:pt x="12" y="98"/>
                </a:cubicBezTo>
                <a:cubicBezTo>
                  <a:pt x="16" y="88"/>
                  <a:pt x="21" y="79"/>
                  <a:pt x="27" y="70"/>
                </a:cubicBezTo>
                <a:cubicBezTo>
                  <a:pt x="32" y="61"/>
                  <a:pt x="39" y="53"/>
                  <a:pt x="46" y="46"/>
                </a:cubicBezTo>
                <a:cubicBezTo>
                  <a:pt x="54" y="39"/>
                  <a:pt x="62" y="32"/>
                  <a:pt x="70" y="26"/>
                </a:cubicBezTo>
                <a:cubicBezTo>
                  <a:pt x="79" y="21"/>
                  <a:pt x="88" y="16"/>
                  <a:pt x="98" y="12"/>
                </a:cubicBezTo>
                <a:cubicBezTo>
                  <a:pt x="108" y="8"/>
                  <a:pt x="117" y="5"/>
                  <a:pt x="128" y="3"/>
                </a:cubicBezTo>
                <a:cubicBezTo>
                  <a:pt x="138" y="1"/>
                  <a:pt x="148" y="0"/>
                  <a:pt x="159" y="0"/>
                </a:cubicBezTo>
                <a:lnTo>
                  <a:pt x="7833" y="0"/>
                </a:lnTo>
                <a:cubicBezTo>
                  <a:pt x="7843" y="0"/>
                  <a:pt x="7853" y="1"/>
                  <a:pt x="7864" y="3"/>
                </a:cubicBezTo>
                <a:cubicBezTo>
                  <a:pt x="7874" y="5"/>
                  <a:pt x="7884" y="8"/>
                  <a:pt x="7893" y="12"/>
                </a:cubicBezTo>
                <a:cubicBezTo>
                  <a:pt x="7903" y="16"/>
                  <a:pt x="7912" y="21"/>
                  <a:pt x="7921" y="26"/>
                </a:cubicBezTo>
                <a:cubicBezTo>
                  <a:pt x="7929" y="32"/>
                  <a:pt x="7937" y="39"/>
                  <a:pt x="7945" y="46"/>
                </a:cubicBezTo>
                <a:cubicBezTo>
                  <a:pt x="7952" y="53"/>
                  <a:pt x="7959" y="61"/>
                  <a:pt x="7965" y="70"/>
                </a:cubicBezTo>
                <a:cubicBezTo>
                  <a:pt x="7970" y="79"/>
                  <a:pt x="7975" y="88"/>
                  <a:pt x="7979" y="98"/>
                </a:cubicBezTo>
                <a:cubicBezTo>
                  <a:pt x="7983" y="107"/>
                  <a:pt x="7986" y="117"/>
                  <a:pt x="7988" y="127"/>
                </a:cubicBezTo>
                <a:cubicBezTo>
                  <a:pt x="7990" y="138"/>
                  <a:pt x="7991" y="148"/>
                  <a:pt x="7991" y="158"/>
                </a:cubicBezTo>
                <a:lnTo>
                  <a:pt x="7991" y="1032"/>
                </a:lnTo>
                <a:cubicBezTo>
                  <a:pt x="7991" y="1043"/>
                  <a:pt x="7990" y="1053"/>
                  <a:pt x="7988" y="1063"/>
                </a:cubicBezTo>
                <a:cubicBezTo>
                  <a:pt x="7986" y="1074"/>
                  <a:pt x="7983" y="1084"/>
                  <a:pt x="7979" y="1093"/>
                </a:cubicBezTo>
                <a:cubicBezTo>
                  <a:pt x="7975" y="1103"/>
                  <a:pt x="7970" y="1112"/>
                  <a:pt x="7965" y="1121"/>
                </a:cubicBezTo>
                <a:cubicBezTo>
                  <a:pt x="7959" y="1129"/>
                  <a:pt x="7952" y="1137"/>
                  <a:pt x="7945" y="1145"/>
                </a:cubicBezTo>
                <a:cubicBezTo>
                  <a:pt x="7937" y="1152"/>
                  <a:pt x="7929" y="1159"/>
                  <a:pt x="7921" y="1164"/>
                </a:cubicBezTo>
                <a:cubicBezTo>
                  <a:pt x="7912" y="1170"/>
                  <a:pt x="7903" y="1175"/>
                  <a:pt x="7893" y="1179"/>
                </a:cubicBezTo>
                <a:cubicBezTo>
                  <a:pt x="7884" y="1183"/>
                  <a:pt x="7874" y="1186"/>
                  <a:pt x="7864" y="1188"/>
                </a:cubicBezTo>
                <a:cubicBezTo>
                  <a:pt x="7853" y="1190"/>
                  <a:pt x="7843" y="1191"/>
                  <a:pt x="7833" y="1191"/>
                </a:cubicBezTo>
                <a:lnTo>
                  <a:pt x="159" y="1191"/>
                </a:lnTo>
                <a:cubicBezTo>
                  <a:pt x="148" y="1191"/>
                  <a:pt x="138" y="1190"/>
                  <a:pt x="128" y="1188"/>
                </a:cubicBezTo>
                <a:cubicBezTo>
                  <a:pt x="117" y="1186"/>
                  <a:pt x="108" y="1183"/>
                  <a:pt x="98" y="1179"/>
                </a:cubicBezTo>
                <a:cubicBezTo>
                  <a:pt x="88" y="1175"/>
                  <a:pt x="79" y="1170"/>
                  <a:pt x="70" y="1164"/>
                </a:cubicBezTo>
                <a:cubicBezTo>
                  <a:pt x="62" y="1159"/>
                  <a:pt x="54" y="1152"/>
                  <a:pt x="46" y="1145"/>
                </a:cubicBezTo>
                <a:cubicBezTo>
                  <a:pt x="39" y="1137"/>
                  <a:pt x="32" y="1129"/>
                  <a:pt x="27" y="1121"/>
                </a:cubicBezTo>
                <a:cubicBezTo>
                  <a:pt x="21" y="1112"/>
                  <a:pt x="16" y="1103"/>
                  <a:pt x="12" y="1093"/>
                </a:cubicBezTo>
                <a:cubicBezTo>
                  <a:pt x="8" y="1084"/>
                  <a:pt x="5" y="1074"/>
                  <a:pt x="3" y="1063"/>
                </a:cubicBezTo>
                <a:cubicBezTo>
                  <a:pt x="1" y="1053"/>
                  <a:pt x="0" y="1043"/>
                  <a:pt x="0" y="1032"/>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9" name=""/>
          <p:cNvSpPr txBox="1"/>
          <p:nvPr/>
        </p:nvSpPr>
        <p:spPr>
          <a:xfrm>
            <a:off x="2284560" y="2310480"/>
            <a:ext cx="2178360" cy="320760"/>
          </a:xfrm>
          <a:prstGeom prst="rect">
            <a:avLst/>
          </a:prstGeom>
          <a:noFill/>
          <a:ln w="0">
            <a:noFill/>
          </a:ln>
        </p:spPr>
        <p:txBody>
          <a:bodyPr wrap="none" lIns="0" rIns="0" tIns="0" bIns="0" anchor="t">
            <a:noAutofit/>
          </a:bodyPr>
          <a:p>
            <a:r>
              <a:rPr b="0" lang="en-US" sz="1850" spc="-1" strike="noStrike">
                <a:solidFill>
                  <a:srgbClr val="111111"/>
                </a:solidFill>
                <a:latin typeface="NotoSansJP"/>
                <a:ea typeface="NotoSansJP"/>
              </a:rPr>
              <a:t>w/o Discourse Parser</a:t>
            </a:r>
            <a:endParaRPr b="0" lang="en-US" sz="1850" spc="-1" strike="noStrike">
              <a:solidFill>
                <a:srgbClr val="000000"/>
              </a:solidFill>
              <a:latin typeface="Times New Roman"/>
            </a:endParaRPr>
          </a:p>
        </p:txBody>
      </p:sp>
      <p:sp>
        <p:nvSpPr>
          <p:cNvPr id="270" name=""/>
          <p:cNvSpPr/>
          <p:nvPr/>
        </p:nvSpPr>
        <p:spPr>
          <a:xfrm>
            <a:off x="1914480" y="337176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1" name=""/>
          <p:cNvSpPr/>
          <p:nvPr/>
        </p:nvSpPr>
        <p:spPr>
          <a:xfrm>
            <a:off x="2190600" y="3200040"/>
            <a:ext cx="3591360" cy="438840"/>
          </a:xfrm>
          <a:custGeom>
            <a:avLst/>
            <a:gdLst/>
            <a:ahLst/>
            <a:rect l="0" t="0" r="r" b="b"/>
            <a:pathLst>
              <a:path w="9976" h="1219">
                <a:moveTo>
                  <a:pt x="0" y="1060"/>
                </a:moveTo>
                <a:lnTo>
                  <a:pt x="0" y="159"/>
                </a:lnTo>
                <a:cubicBezTo>
                  <a:pt x="0" y="149"/>
                  <a:pt x="1" y="139"/>
                  <a:pt x="3" y="128"/>
                </a:cubicBezTo>
                <a:cubicBezTo>
                  <a:pt x="5" y="118"/>
                  <a:pt x="8" y="108"/>
                  <a:pt x="12" y="98"/>
                </a:cubicBezTo>
                <a:cubicBezTo>
                  <a:pt x="16" y="89"/>
                  <a:pt x="21" y="80"/>
                  <a:pt x="27" y="71"/>
                </a:cubicBezTo>
                <a:cubicBezTo>
                  <a:pt x="32" y="62"/>
                  <a:pt x="39" y="54"/>
                  <a:pt x="46" y="47"/>
                </a:cubicBezTo>
                <a:cubicBezTo>
                  <a:pt x="54" y="40"/>
                  <a:pt x="62" y="33"/>
                  <a:pt x="70" y="27"/>
                </a:cubicBezTo>
                <a:cubicBezTo>
                  <a:pt x="79" y="21"/>
                  <a:pt x="88" y="17"/>
                  <a:pt x="98" y="13"/>
                </a:cubicBezTo>
                <a:cubicBezTo>
                  <a:pt x="108" y="9"/>
                  <a:pt x="117" y="6"/>
                  <a:pt x="128" y="4"/>
                </a:cubicBezTo>
                <a:cubicBezTo>
                  <a:pt x="138" y="2"/>
                  <a:pt x="148" y="0"/>
                  <a:pt x="159" y="0"/>
                </a:cubicBezTo>
                <a:lnTo>
                  <a:pt x="9817" y="0"/>
                </a:lnTo>
                <a:cubicBezTo>
                  <a:pt x="9827" y="0"/>
                  <a:pt x="9838" y="2"/>
                  <a:pt x="9848" y="4"/>
                </a:cubicBezTo>
                <a:cubicBezTo>
                  <a:pt x="9858" y="6"/>
                  <a:pt x="9868" y="9"/>
                  <a:pt x="9878" y="13"/>
                </a:cubicBezTo>
                <a:cubicBezTo>
                  <a:pt x="9887" y="17"/>
                  <a:pt x="9896" y="21"/>
                  <a:pt x="9905" y="27"/>
                </a:cubicBezTo>
                <a:cubicBezTo>
                  <a:pt x="9914" y="33"/>
                  <a:pt x="9922" y="40"/>
                  <a:pt x="9929" y="47"/>
                </a:cubicBezTo>
                <a:cubicBezTo>
                  <a:pt x="9937" y="54"/>
                  <a:pt x="9943" y="62"/>
                  <a:pt x="9949" y="71"/>
                </a:cubicBezTo>
                <a:cubicBezTo>
                  <a:pt x="9955" y="80"/>
                  <a:pt x="9960" y="89"/>
                  <a:pt x="9964" y="98"/>
                </a:cubicBezTo>
                <a:cubicBezTo>
                  <a:pt x="9968" y="108"/>
                  <a:pt x="9971" y="118"/>
                  <a:pt x="9973" y="128"/>
                </a:cubicBezTo>
                <a:cubicBezTo>
                  <a:pt x="9975" y="139"/>
                  <a:pt x="9976" y="149"/>
                  <a:pt x="9976" y="159"/>
                </a:cubicBezTo>
                <a:lnTo>
                  <a:pt x="9976" y="1060"/>
                </a:lnTo>
                <a:cubicBezTo>
                  <a:pt x="9976" y="1070"/>
                  <a:pt x="9975" y="1081"/>
                  <a:pt x="9973" y="1091"/>
                </a:cubicBezTo>
                <a:cubicBezTo>
                  <a:pt x="9971" y="1101"/>
                  <a:pt x="9968" y="1111"/>
                  <a:pt x="9964" y="1121"/>
                </a:cubicBezTo>
                <a:cubicBezTo>
                  <a:pt x="9960" y="1130"/>
                  <a:pt x="9955" y="1139"/>
                  <a:pt x="9949" y="1148"/>
                </a:cubicBezTo>
                <a:cubicBezTo>
                  <a:pt x="9943" y="1157"/>
                  <a:pt x="9937" y="1165"/>
                  <a:pt x="9929" y="1172"/>
                </a:cubicBezTo>
                <a:cubicBezTo>
                  <a:pt x="9922" y="1179"/>
                  <a:pt x="9914" y="1186"/>
                  <a:pt x="9905" y="1192"/>
                </a:cubicBezTo>
                <a:cubicBezTo>
                  <a:pt x="9896" y="1198"/>
                  <a:pt x="9887" y="1203"/>
                  <a:pt x="9878" y="1206"/>
                </a:cubicBezTo>
                <a:cubicBezTo>
                  <a:pt x="9868" y="1210"/>
                  <a:pt x="9858" y="1213"/>
                  <a:pt x="9848" y="1216"/>
                </a:cubicBezTo>
                <a:cubicBezTo>
                  <a:pt x="9838" y="1218"/>
                  <a:pt x="9827" y="1219"/>
                  <a:pt x="9817" y="1219"/>
                </a:cubicBezTo>
                <a:lnTo>
                  <a:pt x="159" y="1219"/>
                </a:lnTo>
                <a:cubicBezTo>
                  <a:pt x="148" y="1219"/>
                  <a:pt x="138" y="1218"/>
                  <a:pt x="128" y="1216"/>
                </a:cubicBezTo>
                <a:cubicBezTo>
                  <a:pt x="117" y="1213"/>
                  <a:pt x="108" y="1210"/>
                  <a:pt x="98" y="1206"/>
                </a:cubicBezTo>
                <a:cubicBezTo>
                  <a:pt x="88" y="1203"/>
                  <a:pt x="79" y="1198"/>
                  <a:pt x="70" y="1192"/>
                </a:cubicBezTo>
                <a:cubicBezTo>
                  <a:pt x="62" y="1186"/>
                  <a:pt x="54" y="1179"/>
                  <a:pt x="46" y="1172"/>
                </a:cubicBezTo>
                <a:cubicBezTo>
                  <a:pt x="39" y="1165"/>
                  <a:pt x="32" y="1157"/>
                  <a:pt x="27" y="1148"/>
                </a:cubicBezTo>
                <a:cubicBezTo>
                  <a:pt x="21" y="1139"/>
                  <a:pt x="16" y="1130"/>
                  <a:pt x="12" y="1121"/>
                </a:cubicBezTo>
                <a:cubicBezTo>
                  <a:pt x="8" y="1111"/>
                  <a:pt x="5" y="1101"/>
                  <a:pt x="3" y="1091"/>
                </a:cubicBezTo>
                <a:cubicBezTo>
                  <a:pt x="1" y="1081"/>
                  <a:pt x="0" y="1070"/>
                  <a:pt x="0" y="1060"/>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2" name=""/>
          <p:cNvSpPr txBox="1"/>
          <p:nvPr/>
        </p:nvSpPr>
        <p:spPr>
          <a:xfrm>
            <a:off x="2284560" y="2796120"/>
            <a:ext cx="2489400" cy="320760"/>
          </a:xfrm>
          <a:prstGeom prst="rect">
            <a:avLst/>
          </a:prstGeom>
          <a:noFill/>
          <a:ln w="0">
            <a:noFill/>
          </a:ln>
        </p:spPr>
        <p:txBody>
          <a:bodyPr wrap="none" lIns="0" rIns="0" tIns="0" bIns="0" anchor="t">
            <a:noAutofit/>
          </a:bodyPr>
          <a:p>
            <a:r>
              <a:rPr b="0" lang="en-US" sz="1850" spc="-1" strike="noStrike">
                <a:solidFill>
                  <a:srgbClr val="111111"/>
                </a:solidFill>
                <a:latin typeface="NotoSansJP"/>
                <a:ea typeface="NotoSansJP"/>
              </a:rPr>
              <a:t>w/o Global Commitment</a:t>
            </a:r>
            <a:endParaRPr b="0" lang="en-US" sz="1850" spc="-1" strike="noStrike">
              <a:solidFill>
                <a:srgbClr val="000000"/>
              </a:solidFill>
              <a:latin typeface="Times New Roman"/>
            </a:endParaRPr>
          </a:p>
        </p:txBody>
      </p:sp>
      <p:sp>
        <p:nvSpPr>
          <p:cNvPr id="273" name=""/>
          <p:cNvSpPr/>
          <p:nvPr/>
        </p:nvSpPr>
        <p:spPr>
          <a:xfrm>
            <a:off x="809280" y="3857400"/>
            <a:ext cx="105120" cy="105120"/>
          </a:xfrm>
          <a:custGeom>
            <a:avLst/>
            <a:gdLst/>
            <a:ahLst/>
            <a:rect l="0" t="0" r="r" b="b"/>
            <a:pathLst>
              <a:path w="292" h="292">
                <a:moveTo>
                  <a:pt x="292" y="146"/>
                </a:moveTo>
                <a:cubicBezTo>
                  <a:pt x="292" y="155"/>
                  <a:pt x="292" y="165"/>
                  <a:pt x="290" y="174"/>
                </a:cubicBezTo>
                <a:cubicBezTo>
                  <a:pt x="288" y="183"/>
                  <a:pt x="285" y="193"/>
                  <a:pt x="281" y="202"/>
                </a:cubicBezTo>
                <a:cubicBezTo>
                  <a:pt x="278" y="211"/>
                  <a:pt x="273" y="220"/>
                  <a:pt x="268" y="227"/>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7"/>
                </a:cubicBezTo>
                <a:cubicBezTo>
                  <a:pt x="20" y="220"/>
                  <a:pt x="15" y="211"/>
                  <a:pt x="12" y="202"/>
                </a:cubicBezTo>
                <a:cubicBezTo>
                  <a:pt x="8" y="193"/>
                  <a:pt x="5" y="183"/>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4" name=""/>
          <p:cNvSpPr txBox="1"/>
          <p:nvPr/>
        </p:nvSpPr>
        <p:spPr>
          <a:xfrm>
            <a:off x="2284560" y="3272400"/>
            <a:ext cx="3182760" cy="320760"/>
          </a:xfrm>
          <a:prstGeom prst="rect">
            <a:avLst/>
          </a:prstGeom>
          <a:noFill/>
          <a:ln w="0">
            <a:noFill/>
          </a:ln>
        </p:spPr>
        <p:txBody>
          <a:bodyPr wrap="none" lIns="0" rIns="0" tIns="0" bIns="0" anchor="t">
            <a:noAutofit/>
          </a:bodyPr>
          <a:p>
            <a:r>
              <a:rPr b="0" lang="en-US" sz="1850" spc="-1" strike="noStrike">
                <a:solidFill>
                  <a:srgbClr val="111111"/>
                </a:solidFill>
                <a:latin typeface="NotoSansJP"/>
                <a:ea typeface="NotoSansJP"/>
              </a:rPr>
              <a:t>w/o Narrative Refinement Loop</a:t>
            </a:r>
            <a:endParaRPr b="0" lang="en-US" sz="1850" spc="-1" strike="noStrike">
              <a:solidFill>
                <a:srgbClr val="000000"/>
              </a:solidFill>
              <a:latin typeface="Times New Roman"/>
            </a:endParaRPr>
          </a:p>
        </p:txBody>
      </p:sp>
      <p:sp>
        <p:nvSpPr>
          <p:cNvPr id="275" name=""/>
          <p:cNvSpPr/>
          <p:nvPr/>
        </p:nvSpPr>
        <p:spPr>
          <a:xfrm>
            <a:off x="1361880" y="427644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76" name=""/>
          <p:cNvSpPr txBox="1"/>
          <p:nvPr/>
        </p:nvSpPr>
        <p:spPr>
          <a:xfrm>
            <a:off x="1085760" y="371484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結果</a:t>
            </a:r>
            <a:endParaRPr b="0" lang="en-US" sz="2170" spc="-1" strike="noStrike">
              <a:solidFill>
                <a:srgbClr val="000000"/>
              </a:solidFill>
              <a:latin typeface="Times New Roman"/>
            </a:endParaRPr>
          </a:p>
        </p:txBody>
      </p:sp>
      <p:sp>
        <p:nvSpPr>
          <p:cNvPr id="277" name=""/>
          <p:cNvSpPr/>
          <p:nvPr/>
        </p:nvSpPr>
        <p:spPr>
          <a:xfrm>
            <a:off x="1361880" y="4752720"/>
            <a:ext cx="105120" cy="105120"/>
          </a:xfrm>
          <a:custGeom>
            <a:avLst/>
            <a:gdLst/>
            <a:ahLst/>
            <a:rect l="0" t="0" r="r" b="b"/>
            <a:pathLst>
              <a:path w="292" h="292">
                <a:moveTo>
                  <a:pt x="292" y="147"/>
                </a:moveTo>
                <a:cubicBezTo>
                  <a:pt x="292" y="156"/>
                  <a:pt x="291" y="166"/>
                  <a:pt x="289" y="175"/>
                </a:cubicBezTo>
                <a:cubicBezTo>
                  <a:pt x="287" y="184"/>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1"/>
                  <a:pt x="43" y="44"/>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4"/>
                </a:cubicBezTo>
                <a:cubicBezTo>
                  <a:pt x="256" y="51"/>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78" name=""/>
          <p:cNvSpPr txBox="1"/>
          <p:nvPr/>
        </p:nvSpPr>
        <p:spPr>
          <a:xfrm>
            <a:off x="1638360" y="4133880"/>
            <a:ext cx="993096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いずれのコンポーネントを除去しても、ナラティブフローのスコアが大幅に低下</a:t>
            </a:r>
            <a:endParaRPr b="0" lang="en-US" sz="2170" spc="-1" strike="noStrike">
              <a:solidFill>
                <a:srgbClr val="000000"/>
              </a:solidFill>
              <a:latin typeface="Times New Roman"/>
            </a:endParaRPr>
          </a:p>
        </p:txBody>
      </p:sp>
      <p:sp>
        <p:nvSpPr>
          <p:cNvPr id="279" name=""/>
          <p:cNvSpPr txBox="1"/>
          <p:nvPr/>
        </p:nvSpPr>
        <p:spPr>
          <a:xfrm>
            <a:off x="1638360" y="4610160"/>
            <a:ext cx="99309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提案手法の各要素が、高品質なナラティブを持つスライド生成にそれぞれ重要な</a:t>
            </a:r>
            <a:endParaRPr b="0" lang="en-US" sz="2170" spc="-1" strike="noStrike">
              <a:solidFill>
                <a:srgbClr val="000000"/>
              </a:solidFill>
              <a:latin typeface="Times New Roman"/>
            </a:endParaRPr>
          </a:p>
        </p:txBody>
      </p:sp>
      <p:sp>
        <p:nvSpPr>
          <p:cNvPr id="280" name=""/>
          <p:cNvSpPr txBox="1"/>
          <p:nvPr/>
        </p:nvSpPr>
        <p:spPr>
          <a:xfrm>
            <a:off x="1638360" y="502920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役割を果たしていることが証明された</a:t>
            </a:r>
            <a:endParaRPr b="0" lang="en-US" sz="2170" spc="-1" strike="noStrike">
              <a:solidFill>
                <a:srgbClr val="000000"/>
              </a:solidFill>
              <a:latin typeface="Times New Roman"/>
            </a:endParaRPr>
          </a:p>
        </p:txBody>
      </p:sp>
      <p:sp>
        <p:nvSpPr>
          <p:cNvPr id="28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2" name=""/>
          <p:cNvSpPr txBox="1"/>
          <p:nvPr/>
        </p:nvSpPr>
        <p:spPr>
          <a:xfrm>
            <a:off x="914400" y="392400"/>
            <a:ext cx="27331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アブレーションスタディ</a:t>
            </a:r>
            <a:endParaRPr b="0" lang="en-US" sz="1950" spc="-1" strike="noStrike">
              <a:solidFill>
                <a:srgbClr val="000000"/>
              </a:solidFill>
              <a:latin typeface="Times New Roman"/>
            </a:endParaRPr>
          </a:p>
        </p:txBody>
      </p:sp>
      <p:sp>
        <p:nvSpPr>
          <p:cNvPr id="283"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14</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8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8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8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88" name="" descr=""/>
          <p:cNvPicPr/>
          <p:nvPr/>
        </p:nvPicPr>
        <p:blipFill>
          <a:blip r:embed="rId1"/>
          <a:stretch/>
        </p:blipFill>
        <p:spPr>
          <a:xfrm>
            <a:off x="10515600" y="38160"/>
            <a:ext cx="1142640" cy="1142640"/>
          </a:xfrm>
          <a:prstGeom prst="rect">
            <a:avLst/>
          </a:prstGeom>
          <a:ln w="0">
            <a:noFill/>
          </a:ln>
        </p:spPr>
      </p:pic>
      <p:sp>
        <p:nvSpPr>
          <p:cNvPr id="289" name=""/>
          <p:cNvSpPr txBox="1"/>
          <p:nvPr/>
        </p:nvSpPr>
        <p:spPr>
          <a:xfrm>
            <a:off x="533520" y="923760"/>
            <a:ext cx="110728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本研究では、ナラティブ駆動な論文スライド自動生成フレームワーク「</a:t>
            </a:r>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」を提案</a:t>
            </a:r>
            <a:endParaRPr b="0" lang="en-US" sz="2170" spc="-1" strike="noStrike">
              <a:solidFill>
                <a:srgbClr val="000000"/>
              </a:solidFill>
              <a:latin typeface="Times New Roman"/>
            </a:endParaRPr>
          </a:p>
        </p:txBody>
      </p:sp>
      <p:sp>
        <p:nvSpPr>
          <p:cNvPr id="290" name=""/>
          <p:cNvSpPr/>
          <p:nvPr/>
        </p:nvSpPr>
        <p:spPr>
          <a:xfrm>
            <a:off x="809280" y="199044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91" name=""/>
          <p:cNvSpPr txBox="1"/>
          <p:nvPr/>
        </p:nvSpPr>
        <p:spPr>
          <a:xfrm>
            <a:off x="533520" y="1343160"/>
            <a:ext cx="13798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しました。</a:t>
            </a:r>
            <a:endParaRPr b="0" lang="en-US" sz="2170" spc="-1" strike="noStrike">
              <a:solidFill>
                <a:srgbClr val="000000"/>
              </a:solidFill>
              <a:latin typeface="Times New Roman"/>
            </a:endParaRPr>
          </a:p>
        </p:txBody>
      </p:sp>
      <p:sp>
        <p:nvSpPr>
          <p:cNvPr id="292" name=""/>
          <p:cNvSpPr txBox="1"/>
          <p:nvPr/>
        </p:nvSpPr>
        <p:spPr>
          <a:xfrm>
            <a:off x="1085760" y="184788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貢献</a:t>
            </a:r>
            <a:endParaRPr b="0" lang="en-US" sz="2170" spc="-1" strike="noStrike">
              <a:solidFill>
                <a:srgbClr val="000000"/>
              </a:solidFill>
              <a:latin typeface="Times New Roman"/>
            </a:endParaRPr>
          </a:p>
        </p:txBody>
      </p:sp>
      <p:sp>
        <p:nvSpPr>
          <p:cNvPr id="293" name=""/>
          <p:cNvSpPr txBox="1"/>
          <p:nvPr/>
        </p:nvSpPr>
        <p:spPr>
          <a:xfrm>
            <a:off x="1423440" y="2266920"/>
            <a:ext cx="101948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i. </a:t>
            </a:r>
            <a:r>
              <a:rPr b="0" lang="zh-CN" sz="2170" spc="-1" strike="noStrike">
                <a:solidFill>
                  <a:srgbClr val="111111"/>
                </a:solidFill>
                <a:latin typeface="NotoSansJP"/>
                <a:ea typeface="NotoSansJP"/>
              </a:rPr>
              <a:t>談話構造の明示的モデリングにより、論文の論理的骨格を捉え、物語性のあるア</a:t>
            </a:r>
            <a:endParaRPr b="0" lang="en-US" sz="2170" spc="-1" strike="noStrike">
              <a:solidFill>
                <a:srgbClr val="000000"/>
              </a:solidFill>
              <a:latin typeface="Times New Roman"/>
            </a:endParaRPr>
          </a:p>
        </p:txBody>
      </p:sp>
      <p:sp>
        <p:nvSpPr>
          <p:cNvPr id="294" name=""/>
          <p:cNvSpPr txBox="1"/>
          <p:nvPr/>
        </p:nvSpPr>
        <p:spPr>
          <a:xfrm>
            <a:off x="1638360" y="267660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ウトラインを生成する手法を確立</a:t>
            </a:r>
            <a:endParaRPr b="0" lang="en-US" sz="2170" spc="-1" strike="noStrike">
              <a:solidFill>
                <a:srgbClr val="000000"/>
              </a:solidFill>
              <a:latin typeface="Times New Roman"/>
            </a:endParaRPr>
          </a:p>
        </p:txBody>
      </p:sp>
      <p:sp>
        <p:nvSpPr>
          <p:cNvPr id="295" name=""/>
          <p:cNvSpPr txBox="1"/>
          <p:nvPr/>
        </p:nvSpPr>
        <p:spPr>
          <a:xfrm>
            <a:off x="1347480" y="3162240"/>
            <a:ext cx="102513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ii. </a:t>
            </a:r>
            <a:r>
              <a:rPr b="0" lang="zh-CN" sz="2170" spc="-1" strike="noStrike">
                <a:solidFill>
                  <a:srgbClr val="111111"/>
                </a:solidFill>
                <a:latin typeface="NotoSansJP"/>
                <a:ea typeface="NotoSansJP"/>
              </a:rPr>
              <a:t>全体計画とマルチエージェントによる反復的推敲ループを導入し、スライド全体</a:t>
            </a:r>
            <a:endParaRPr b="0" lang="en-US" sz="2170" spc="-1" strike="noStrike">
              <a:solidFill>
                <a:srgbClr val="000000"/>
              </a:solidFill>
              <a:latin typeface="Times New Roman"/>
            </a:endParaRPr>
          </a:p>
        </p:txBody>
      </p:sp>
      <p:sp>
        <p:nvSpPr>
          <p:cNvPr id="296" name=""/>
          <p:cNvSpPr txBox="1"/>
          <p:nvPr/>
        </p:nvSpPr>
        <p:spPr>
          <a:xfrm>
            <a:off x="1638360" y="3581280"/>
            <a:ext cx="35866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の一貫性と品質を大幅に向上</a:t>
            </a:r>
            <a:endParaRPr b="0" lang="en-US" sz="2170" spc="-1" strike="noStrike">
              <a:solidFill>
                <a:srgbClr val="000000"/>
              </a:solidFill>
              <a:latin typeface="Times New Roman"/>
            </a:endParaRPr>
          </a:p>
        </p:txBody>
      </p:sp>
      <p:sp>
        <p:nvSpPr>
          <p:cNvPr id="297" name=""/>
          <p:cNvSpPr txBox="1"/>
          <p:nvPr/>
        </p:nvSpPr>
        <p:spPr>
          <a:xfrm>
            <a:off x="1271880" y="4057560"/>
            <a:ext cx="88617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iii. </a:t>
            </a:r>
            <a:r>
              <a:rPr b="0" lang="zh-CN" sz="2170" spc="-1" strike="noStrike">
                <a:solidFill>
                  <a:srgbClr val="111111"/>
                </a:solidFill>
                <a:latin typeface="NotoSansJP"/>
                <a:ea typeface="NotoSansJP"/>
              </a:rPr>
              <a:t>高品質な評価を可能にするベンチマーク「</a:t>
            </a:r>
            <a:r>
              <a:rPr b="0" lang="en-US" sz="2170" spc="-1" strike="noStrike">
                <a:solidFill>
                  <a:srgbClr val="111111"/>
                </a:solidFill>
                <a:latin typeface="NotoSansJP"/>
                <a:ea typeface="NotoSansJP"/>
              </a:rPr>
              <a:t>ArcBench</a:t>
            </a:r>
            <a:r>
              <a:rPr b="0" lang="zh-CN" sz="2170" spc="-1" strike="noStrike">
                <a:solidFill>
                  <a:srgbClr val="111111"/>
                </a:solidFill>
                <a:latin typeface="NotoSansJP"/>
                <a:ea typeface="NotoSansJP"/>
              </a:rPr>
              <a:t>」を構築‧公開</a:t>
            </a:r>
            <a:endParaRPr b="0" lang="en-US" sz="2170" spc="-1" strike="noStrike">
              <a:solidFill>
                <a:srgbClr val="000000"/>
              </a:solidFill>
              <a:latin typeface="Times New Roman"/>
            </a:endParaRPr>
          </a:p>
        </p:txBody>
      </p:sp>
      <p:sp>
        <p:nvSpPr>
          <p:cNvPr id="298" name=""/>
          <p:cNvSpPr txBox="1"/>
          <p:nvPr/>
        </p:nvSpPr>
        <p:spPr>
          <a:xfrm>
            <a:off x="3080880" y="5038560"/>
            <a:ext cx="606924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論文の「魂」であるナラティブを捉えることで、</a:t>
            </a:r>
            <a:endParaRPr b="0" lang="en-US" sz="2170" spc="-1" strike="noStrike">
              <a:solidFill>
                <a:srgbClr val="000000"/>
              </a:solidFill>
              <a:latin typeface="Times New Roman"/>
            </a:endParaRPr>
          </a:p>
        </p:txBody>
      </p:sp>
      <p:sp>
        <p:nvSpPr>
          <p:cNvPr id="299" name=""/>
          <p:cNvSpPr txBox="1"/>
          <p:nvPr/>
        </p:nvSpPr>
        <p:spPr>
          <a:xfrm>
            <a:off x="2781000" y="5457960"/>
            <a:ext cx="662112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人間が作成したスライドに近い品質の自動生成を実現</a:t>
            </a:r>
            <a:endParaRPr b="0" lang="en-US" sz="2170" spc="-1" strike="noStrike">
              <a:solidFill>
                <a:srgbClr val="000000"/>
              </a:solidFill>
              <a:latin typeface="Times New Roman"/>
            </a:endParaRPr>
          </a:p>
        </p:txBody>
      </p:sp>
      <p:sp>
        <p:nvSpPr>
          <p:cNvPr id="300"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301" name=""/>
          <p:cNvSpPr txBox="1"/>
          <p:nvPr/>
        </p:nvSpPr>
        <p:spPr>
          <a:xfrm>
            <a:off x="914400" y="392400"/>
            <a:ext cx="7459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まとめ</a:t>
            </a:r>
            <a:endParaRPr b="0" lang="en-US" sz="1950" spc="-1" strike="noStrike">
              <a:solidFill>
                <a:srgbClr val="000000"/>
              </a:solidFill>
              <a:latin typeface="Times New Roman"/>
            </a:endParaRPr>
          </a:p>
        </p:txBody>
      </p:sp>
      <p:sp>
        <p:nvSpPr>
          <p:cNvPr id="302"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15</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LibreOffice/24.2.7.2$Linux_AARCH64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