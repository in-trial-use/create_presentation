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 name=""/>
          <p:cNvSpPr txBox="1"/>
          <p:nvPr/>
        </p:nvSpPr>
        <p:spPr>
          <a:xfrm>
            <a:off x="4223160" y="1859400"/>
            <a:ext cx="3930120" cy="361440"/>
          </a:xfrm>
          <a:prstGeom prst="rect">
            <a:avLst/>
          </a:prstGeom>
          <a:noFill/>
          <a:ln w="0">
            <a:noFill/>
          </a:ln>
        </p:spPr>
        <p:txBody>
          <a:bodyPr wrap="none" lIns="0" rIns="0" tIns="0" bIns="0" anchor="t">
            <a:noAutofit/>
          </a:bodyPr>
          <a:p>
            <a:r>
              <a:rPr b="0" lang="zh-CN" sz="1950" spc="-1" strike="noStrike">
                <a:solidFill>
                  <a:srgbClr val="0b4b78"/>
                </a:solidFill>
                <a:latin typeface="NotoSansJP"/>
                <a:ea typeface="NotoSansJP"/>
              </a:rPr>
              <a:t>論文紹介</a:t>
            </a:r>
            <a:r>
              <a:rPr b="0" lang="en-US" sz="1950" spc="-1" strike="noStrike">
                <a:solidFill>
                  <a:srgbClr val="0b4b78"/>
                </a:solidFill>
                <a:latin typeface="NotoSansJP"/>
                <a:ea typeface="NotoSansJP"/>
              </a:rPr>
              <a:t>(</a:t>
            </a:r>
            <a:r>
              <a:rPr b="0" lang="zh-CN" sz="1950" spc="-1" strike="noStrike">
                <a:solidFill>
                  <a:srgbClr val="0b4b78"/>
                </a:solidFill>
                <a:latin typeface="NotoSansJP"/>
                <a:ea typeface="NotoSansJP"/>
              </a:rPr>
              <a:t>時系列系統</a:t>
            </a:r>
            <a:r>
              <a:rPr b="0" lang="en-US" sz="1950" spc="-1" strike="noStrike">
                <a:solidFill>
                  <a:srgbClr val="0b4b78"/>
                </a:solidFill>
                <a:latin typeface="NotoSansJP"/>
                <a:ea typeface="NotoSansJP"/>
              </a:rPr>
              <a:t>) 2026/05/21</a:t>
            </a:r>
            <a:endParaRPr b="0" lang="en-US" sz="1950" spc="-1" strike="noStrike">
              <a:solidFill>
                <a:srgbClr val="000000"/>
              </a:solidFill>
              <a:latin typeface="Times New Roman"/>
            </a:endParaRPr>
          </a:p>
        </p:txBody>
      </p:sp>
      <p:pic>
        <p:nvPicPr>
          <p:cNvPr id="8" name="" descr=""/>
          <p:cNvPicPr/>
          <p:nvPr/>
        </p:nvPicPr>
        <p:blipFill>
          <a:blip r:embed="rId1"/>
          <a:stretch/>
        </p:blipFill>
        <p:spPr>
          <a:xfrm>
            <a:off x="4809960" y="-190440"/>
            <a:ext cx="2571480" cy="2571480"/>
          </a:xfrm>
          <a:prstGeom prst="rect">
            <a:avLst/>
          </a:prstGeom>
          <a:ln w="0">
            <a:noFill/>
          </a:ln>
        </p:spPr>
      </p:pic>
      <p:sp>
        <p:nvSpPr>
          <p:cNvPr id="9" name=""/>
          <p:cNvSpPr/>
          <p:nvPr/>
        </p:nvSpPr>
        <p:spPr>
          <a:xfrm>
            <a:off x="0" y="3771720"/>
            <a:ext cx="12192120" cy="3086280"/>
          </a:xfrm>
          <a:custGeom>
            <a:avLst/>
            <a:gdLst/>
            <a:ahLst/>
            <a:rect l="0" t="0" r="r" b="b"/>
            <a:pathLst>
              <a:path w="33867" h="8573">
                <a:moveTo>
                  <a:pt x="0" y="0"/>
                </a:moveTo>
                <a:lnTo>
                  <a:pt x="33867" y="0"/>
                </a:lnTo>
                <a:lnTo>
                  <a:pt x="33867" y="8573"/>
                </a:lnTo>
                <a:lnTo>
                  <a:pt x="0" y="8573"/>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 name=""/>
          <p:cNvSpPr txBox="1"/>
          <p:nvPr/>
        </p:nvSpPr>
        <p:spPr>
          <a:xfrm>
            <a:off x="5473080" y="2500920"/>
            <a:ext cx="1140840" cy="651240"/>
          </a:xfrm>
          <a:prstGeom prst="rect">
            <a:avLst/>
          </a:prstGeom>
          <a:noFill/>
          <a:ln w="0">
            <a:noFill/>
          </a:ln>
        </p:spPr>
        <p:txBody>
          <a:bodyPr wrap="none" lIns="0" rIns="0" tIns="0" bIns="0" anchor="t">
            <a:noAutofit/>
          </a:bodyPr>
          <a:p>
            <a:r>
              <a:rPr b="0" lang="en-US" sz="3750" spc="-1" strike="noStrike">
                <a:solidFill>
                  <a:srgbClr val="0b4b78"/>
                </a:solidFill>
                <a:latin typeface="NotoSansJP"/>
                <a:ea typeface="NotoSansJP"/>
              </a:rPr>
              <a:t>LSTM</a:t>
            </a:r>
            <a:endParaRPr b="0" lang="en-US" sz="3750" spc="-1" strike="noStrike">
              <a:solidFill>
                <a:srgbClr val="000000"/>
              </a:solidFill>
              <a:latin typeface="Times New Roman"/>
            </a:endParaRPr>
          </a:p>
        </p:txBody>
      </p:sp>
      <p:sp>
        <p:nvSpPr>
          <p:cNvPr id="11" name=""/>
          <p:cNvSpPr txBox="1"/>
          <p:nvPr/>
        </p:nvSpPr>
        <p:spPr>
          <a:xfrm>
            <a:off x="4084920" y="4537080"/>
            <a:ext cx="3886920" cy="331200"/>
          </a:xfrm>
          <a:prstGeom prst="rect">
            <a:avLst/>
          </a:prstGeom>
          <a:noFill/>
          <a:ln w="0">
            <a:noFill/>
          </a:ln>
        </p:spPr>
        <p:txBody>
          <a:bodyPr wrap="none" lIns="0" rIns="0" tIns="0" bIns="0" anchor="t">
            <a:noAutofit/>
          </a:bodyPr>
          <a:p>
            <a:r>
              <a:rPr b="0" lang="zh-CN" sz="1800" spc="-1" strike="noStrike">
                <a:solidFill>
                  <a:srgbClr val="ffffff"/>
                </a:solidFill>
                <a:latin typeface="NotoSansJP"/>
                <a:ea typeface="NotoSansJP"/>
              </a:rPr>
              <a:t>京都大学工学部情報学科数理工学コー</a:t>
            </a:r>
            <a:endParaRPr b="0" lang="en-US" sz="1800" spc="-1" strike="noStrike">
              <a:solidFill>
                <a:srgbClr val="000000"/>
              </a:solidFill>
              <a:latin typeface="Times New Roman"/>
            </a:endParaRPr>
          </a:p>
        </p:txBody>
      </p:sp>
      <p:sp>
        <p:nvSpPr>
          <p:cNvPr id="12" name=""/>
          <p:cNvSpPr txBox="1"/>
          <p:nvPr/>
        </p:nvSpPr>
        <p:spPr>
          <a:xfrm>
            <a:off x="5913720" y="4880160"/>
            <a:ext cx="229320" cy="331200"/>
          </a:xfrm>
          <a:prstGeom prst="rect">
            <a:avLst/>
          </a:prstGeom>
          <a:noFill/>
          <a:ln w="0">
            <a:noFill/>
          </a:ln>
        </p:spPr>
        <p:txBody>
          <a:bodyPr wrap="none" lIns="0" rIns="0" tIns="0" bIns="0" anchor="t">
            <a:noAutofit/>
          </a:bodyPr>
          <a:p>
            <a:r>
              <a:rPr b="0" lang="zh-CN" sz="1800" spc="-1" strike="noStrike">
                <a:solidFill>
                  <a:srgbClr val="ffffff"/>
                </a:solidFill>
                <a:latin typeface="NotoSansJP"/>
                <a:ea typeface="NotoSansJP"/>
              </a:rPr>
              <a:t>ス</a:t>
            </a:r>
            <a:endParaRPr b="0" lang="en-US" sz="1800" spc="-1" strike="noStrike">
              <a:solidFill>
                <a:srgbClr val="000000"/>
              </a:solidFill>
              <a:latin typeface="Times New Roman"/>
            </a:endParaRPr>
          </a:p>
        </p:txBody>
      </p:sp>
      <p:sp>
        <p:nvSpPr>
          <p:cNvPr id="13" name=""/>
          <p:cNvSpPr txBox="1"/>
          <p:nvPr/>
        </p:nvSpPr>
        <p:spPr>
          <a:xfrm>
            <a:off x="5313600" y="5457240"/>
            <a:ext cx="1433160" cy="415080"/>
          </a:xfrm>
          <a:prstGeom prst="rect">
            <a:avLst/>
          </a:prstGeom>
          <a:noFill/>
          <a:ln w="0">
            <a:noFill/>
          </a:ln>
        </p:spPr>
        <p:txBody>
          <a:bodyPr wrap="none" lIns="0" rIns="0" tIns="0" bIns="0" anchor="t">
            <a:noAutofit/>
          </a:bodyPr>
          <a:p>
            <a:r>
              <a:rPr b="0" lang="zh-CN" sz="2250" spc="-1" strike="noStrike">
                <a:solidFill>
                  <a:srgbClr val="ffffff"/>
                </a:solidFill>
                <a:latin typeface="NotoSansJP"/>
                <a:ea typeface="NotoSansJP"/>
              </a:rPr>
              <a:t>知能　太郎</a:t>
            </a:r>
            <a:endParaRPr b="0" lang="en-US" sz="2250" spc="-1" strike="noStrike">
              <a:solidFill>
                <a:srgbClr val="000000"/>
              </a:solidFill>
              <a:latin typeface="Times New Roman"/>
            </a:endParaRPr>
          </a:p>
        </p:txBody>
      </p:sp>
      <p:sp>
        <p:nvSpPr>
          <p:cNvPr id="14"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8" name=""/>
          <p:cNvSpPr txBox="1"/>
          <p:nvPr/>
        </p:nvSpPr>
        <p:spPr>
          <a:xfrm>
            <a:off x="3009960" y="2436480"/>
            <a:ext cx="635724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1. </a:t>
            </a:r>
            <a:r>
              <a:rPr b="0" lang="zh-CN" sz="2400" spc="-1" strike="noStrike">
                <a:solidFill>
                  <a:srgbClr val="0b4b78"/>
                </a:solidFill>
                <a:latin typeface="NotoSansJP"/>
                <a:ea typeface="NotoSansJP"/>
              </a:rPr>
              <a:t>はじめに：時系列予測の変遷と</a:t>
            </a:r>
            <a:r>
              <a:rPr b="0" lang="en-US" sz="2400" spc="-1" strike="noStrike">
                <a:solidFill>
                  <a:srgbClr val="0b4b78"/>
                </a:solidFill>
                <a:latin typeface="NotoSansJP"/>
                <a:ea typeface="NotoSansJP"/>
              </a:rPr>
              <a:t>RNN</a:t>
            </a:r>
            <a:r>
              <a:rPr b="0" lang="zh-CN" sz="2400" spc="-1" strike="noStrike">
                <a:solidFill>
                  <a:srgbClr val="0b4b78"/>
                </a:solidFill>
                <a:latin typeface="NotoSansJP"/>
                <a:ea typeface="NotoSansJP"/>
              </a:rPr>
              <a:t>の課題</a:t>
            </a:r>
            <a:endParaRPr b="0" lang="en-US" sz="2400" spc="-1" strike="noStrike">
              <a:solidFill>
                <a:srgbClr val="000000"/>
              </a:solidFill>
              <a:latin typeface="Times New Roman"/>
            </a:endParaRPr>
          </a:p>
        </p:txBody>
      </p:sp>
      <p:sp>
        <p:nvSpPr>
          <p:cNvPr id="19" name=""/>
          <p:cNvSpPr txBox="1"/>
          <p:nvPr/>
        </p:nvSpPr>
        <p:spPr>
          <a:xfrm>
            <a:off x="3009960" y="2893680"/>
            <a:ext cx="570456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2. LSTM</a:t>
            </a:r>
            <a:r>
              <a:rPr b="0" lang="zh-CN" sz="2400" spc="-1" strike="noStrike">
                <a:solidFill>
                  <a:srgbClr val="0b4b78"/>
                </a:solidFill>
                <a:latin typeface="NotoSansJP"/>
                <a:ea typeface="NotoSansJP"/>
              </a:rPr>
              <a:t>の仕組み：勾配消失問題の解決策</a:t>
            </a:r>
            <a:endParaRPr b="0" lang="en-US" sz="2400" spc="-1" strike="noStrike">
              <a:solidFill>
                <a:srgbClr val="000000"/>
              </a:solidFill>
              <a:latin typeface="Times New Roman"/>
            </a:endParaRPr>
          </a:p>
        </p:txBody>
      </p:sp>
      <p:sp>
        <p:nvSpPr>
          <p:cNvPr id="20" name=""/>
          <p:cNvSpPr txBox="1"/>
          <p:nvPr/>
        </p:nvSpPr>
        <p:spPr>
          <a:xfrm>
            <a:off x="3009960" y="3350880"/>
            <a:ext cx="619524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3. </a:t>
            </a:r>
            <a:r>
              <a:rPr b="0" lang="zh-CN" sz="2400" spc="-1" strike="noStrike">
                <a:solidFill>
                  <a:srgbClr val="0b4b78"/>
                </a:solidFill>
                <a:latin typeface="NotoSansJP"/>
                <a:ea typeface="NotoSansJP"/>
              </a:rPr>
              <a:t>応用事例：太陽光発電予測と自然言語処理</a:t>
            </a:r>
            <a:endParaRPr b="0" lang="en-US" sz="2400" spc="-1" strike="noStrike">
              <a:solidFill>
                <a:srgbClr val="000000"/>
              </a:solidFill>
              <a:latin typeface="Times New Roman"/>
            </a:endParaRPr>
          </a:p>
        </p:txBody>
      </p:sp>
      <p:sp>
        <p:nvSpPr>
          <p:cNvPr id="21" name=""/>
          <p:cNvSpPr txBox="1"/>
          <p:nvPr/>
        </p:nvSpPr>
        <p:spPr>
          <a:xfrm>
            <a:off x="3009960" y="3808080"/>
            <a:ext cx="223272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4. </a:t>
            </a:r>
            <a:r>
              <a:rPr b="0" lang="zh-CN" sz="2400" spc="-1" strike="noStrike">
                <a:solidFill>
                  <a:srgbClr val="0b4b78"/>
                </a:solidFill>
                <a:latin typeface="NotoSansJP"/>
                <a:ea typeface="NotoSansJP"/>
              </a:rPr>
              <a:t>考察とまとめ</a:t>
            </a:r>
            <a:endParaRPr b="0" lang="en-US" sz="2400" spc="-1" strike="noStrike">
              <a:solidFill>
                <a:srgbClr val="000000"/>
              </a:solidFill>
              <a:latin typeface="Times New Roman"/>
            </a:endParaRPr>
          </a:p>
        </p:txBody>
      </p:sp>
      <p:sp>
        <p:nvSpPr>
          <p:cNvPr id="22" name=""/>
          <p:cNvSpPr/>
          <p:nvPr/>
        </p:nvSpPr>
        <p:spPr>
          <a:xfrm>
            <a:off x="209520" y="266400"/>
            <a:ext cx="152640" cy="305280"/>
          </a:xfrm>
          <a:custGeom>
            <a:avLst/>
            <a:gdLst/>
            <a:ahLst/>
            <a:rect l="0" t="0" r="r" b="b"/>
            <a:pathLst>
              <a:path w="424" h="848">
                <a:moveTo>
                  <a:pt x="0" y="0"/>
                </a:moveTo>
                <a:lnTo>
                  <a:pt x="424" y="0"/>
                </a:lnTo>
                <a:lnTo>
                  <a:pt x="424" y="848"/>
                </a:lnTo>
                <a:lnTo>
                  <a:pt x="0" y="848"/>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pic>
        <p:nvPicPr>
          <p:cNvPr id="23" name="" descr=""/>
          <p:cNvPicPr/>
          <p:nvPr/>
        </p:nvPicPr>
        <p:blipFill>
          <a:blip r:embed="rId1"/>
          <a:stretch/>
        </p:blipFill>
        <p:spPr>
          <a:xfrm>
            <a:off x="10744200" y="-219240"/>
            <a:ext cx="1256760" cy="1256760"/>
          </a:xfrm>
          <a:prstGeom prst="rect">
            <a:avLst/>
          </a:prstGeom>
          <a:ln w="0">
            <a:noFill/>
          </a:ln>
        </p:spPr>
      </p:pic>
      <p:sp>
        <p:nvSpPr>
          <p:cNvPr id="24" name=""/>
          <p:cNvSpPr/>
          <p:nvPr/>
        </p:nvSpPr>
        <p:spPr>
          <a:xfrm>
            <a:off x="2666880" y="25621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 name=""/>
          <p:cNvSpPr/>
          <p:nvPr/>
        </p:nvSpPr>
        <p:spPr>
          <a:xfrm>
            <a:off x="2666880" y="30193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 name=""/>
          <p:cNvSpPr/>
          <p:nvPr/>
        </p:nvSpPr>
        <p:spPr>
          <a:xfrm>
            <a:off x="2666880" y="34765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 name=""/>
          <p:cNvSpPr/>
          <p:nvPr/>
        </p:nvSpPr>
        <p:spPr>
          <a:xfrm>
            <a:off x="2666880" y="39337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 name=""/>
          <p:cNvSpPr txBox="1"/>
          <p:nvPr/>
        </p:nvSpPr>
        <p:spPr>
          <a:xfrm>
            <a:off x="495360" y="187200"/>
            <a:ext cx="1623960" cy="469800"/>
          </a:xfrm>
          <a:prstGeom prst="rect">
            <a:avLst/>
          </a:prstGeom>
          <a:noFill/>
          <a:ln w="0">
            <a:noFill/>
          </a:ln>
        </p:spPr>
        <p:txBody>
          <a:bodyPr wrap="none" lIns="0" rIns="0" tIns="0" bIns="0" anchor="t">
            <a:noAutofit/>
          </a:bodyPr>
          <a:p>
            <a:r>
              <a:rPr b="0" lang="zh-CN" sz="2550" spc="-1" strike="noStrike">
                <a:solidFill>
                  <a:srgbClr val="111111"/>
                </a:solidFill>
                <a:latin typeface="NotoSansJP"/>
                <a:ea typeface="NotoSansJP"/>
              </a:rPr>
              <a:t>アジェンダ</a:t>
            </a:r>
            <a:endParaRPr b="0" lang="en-US" sz="2550" spc="-1" strike="noStrike">
              <a:solidFill>
                <a:srgbClr val="000000"/>
              </a:solidFill>
              <a:latin typeface="Times New Roman"/>
            </a:endParaRPr>
          </a:p>
        </p:txBody>
      </p:sp>
      <p:sp>
        <p:nvSpPr>
          <p:cNvPr id="2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3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34" name="" descr=""/>
          <p:cNvPicPr/>
          <p:nvPr/>
        </p:nvPicPr>
        <p:blipFill>
          <a:blip r:embed="rId1"/>
          <a:stretch/>
        </p:blipFill>
        <p:spPr>
          <a:xfrm>
            <a:off x="10515600" y="38160"/>
            <a:ext cx="1142640" cy="1142640"/>
          </a:xfrm>
          <a:prstGeom prst="rect">
            <a:avLst/>
          </a:prstGeom>
          <a:ln w="0">
            <a:noFill/>
          </a:ln>
        </p:spPr>
      </p:pic>
      <p:sp>
        <p:nvSpPr>
          <p:cNvPr id="35" name=""/>
          <p:cNvSpPr txBox="1"/>
          <p:nvPr/>
        </p:nvSpPr>
        <p:spPr>
          <a:xfrm>
            <a:off x="533520" y="923760"/>
            <a:ext cx="9379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従来は統計モデルが主流でしたが、近年は機械学習モデルが台頭しています</a:t>
            </a:r>
            <a:endParaRPr b="0" lang="en-US" sz="2170" spc="-1" strike="noStrike">
              <a:solidFill>
                <a:srgbClr val="000000"/>
              </a:solidFill>
              <a:latin typeface="Times New Roman"/>
            </a:endParaRPr>
          </a:p>
        </p:txBody>
      </p:sp>
      <p:sp>
        <p:nvSpPr>
          <p:cNvPr id="36"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37" name=""/>
          <p:cNvSpPr txBox="1"/>
          <p:nvPr/>
        </p:nvSpPr>
        <p:spPr>
          <a:xfrm>
            <a:off x="533520" y="1627920"/>
            <a:ext cx="346464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統計モデル </a:t>
            </a:r>
            <a:r>
              <a:rPr b="0" lang="en-US" sz="2390" spc="-1" strike="noStrike">
                <a:solidFill>
                  <a:srgbClr val="111111"/>
                </a:solidFill>
                <a:latin typeface="NotoSansJP"/>
                <a:ea typeface="NotoSansJP"/>
              </a:rPr>
              <a:t>(ARIMA</a:t>
            </a:r>
            <a:r>
              <a:rPr b="0" lang="zh-CN" sz="2390" spc="-1" strike="noStrike">
                <a:solidFill>
                  <a:srgbClr val="111111"/>
                </a:solidFill>
                <a:latin typeface="NotoSansJP"/>
                <a:ea typeface="NotoSansJP"/>
              </a:rPr>
              <a:t>など</a:t>
            </a:r>
            <a:r>
              <a:rPr b="0" lang="en-US" sz="2390" spc="-1" strike="noStrike">
                <a:solidFill>
                  <a:srgbClr val="111111"/>
                </a:solidFill>
                <a:latin typeface="NotoSansJP"/>
                <a:ea typeface="NotoSansJP"/>
              </a:rPr>
              <a:t>)</a:t>
            </a:r>
            <a:endParaRPr b="0" lang="en-US" sz="2390" spc="-1" strike="noStrike">
              <a:solidFill>
                <a:srgbClr val="000000"/>
              </a:solidFill>
              <a:latin typeface="Times New Roman"/>
            </a:endParaRPr>
          </a:p>
        </p:txBody>
      </p:sp>
      <p:sp>
        <p:nvSpPr>
          <p:cNvPr id="38" name=""/>
          <p:cNvSpPr txBox="1"/>
          <p:nvPr/>
        </p:nvSpPr>
        <p:spPr>
          <a:xfrm>
            <a:off x="1085760" y="2200320"/>
            <a:ext cx="48823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過去</a:t>
            </a:r>
            <a:r>
              <a:rPr b="0" lang="en-US" sz="2170" spc="-1" strike="noStrike">
                <a:solidFill>
                  <a:srgbClr val="111111"/>
                </a:solidFill>
                <a:latin typeface="NotoSansJP"/>
                <a:ea typeface="NotoSansJP"/>
              </a:rPr>
              <a:t>50</a:t>
            </a:r>
            <a:r>
              <a:rPr b="0" lang="zh-CN" sz="2170" spc="-1" strike="noStrike">
                <a:solidFill>
                  <a:srgbClr val="111111"/>
                </a:solidFill>
                <a:latin typeface="NotoSansJP"/>
                <a:ea typeface="NotoSansJP"/>
              </a:rPr>
              <a:t>年以上にわたり、時系列予測の</a:t>
            </a:r>
            <a:endParaRPr b="0" lang="en-US" sz="2170" spc="-1" strike="noStrike">
              <a:solidFill>
                <a:srgbClr val="000000"/>
              </a:solidFill>
              <a:latin typeface="Times New Roman"/>
            </a:endParaRPr>
          </a:p>
        </p:txBody>
      </p:sp>
      <p:sp>
        <p:nvSpPr>
          <p:cNvPr id="39" name=""/>
          <p:cNvSpPr/>
          <p:nvPr/>
        </p:nvSpPr>
        <p:spPr>
          <a:xfrm>
            <a:off x="809280" y="3238200"/>
            <a:ext cx="105120" cy="105120"/>
          </a:xfrm>
          <a:custGeom>
            <a:avLst/>
            <a:gdLst/>
            <a:ahLst/>
            <a:rect l="0" t="0" r="r" b="b"/>
            <a:pathLst>
              <a:path w="292" h="292">
                <a:moveTo>
                  <a:pt x="292" y="146"/>
                </a:moveTo>
                <a:cubicBezTo>
                  <a:pt x="292" y="155"/>
                  <a:pt x="292" y="165"/>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0" name=""/>
          <p:cNvSpPr txBox="1"/>
          <p:nvPr/>
        </p:nvSpPr>
        <p:spPr>
          <a:xfrm>
            <a:off x="1085760" y="261000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主流</a:t>
            </a:r>
            <a:endParaRPr b="0" lang="en-US" sz="2170" spc="-1" strike="noStrike">
              <a:solidFill>
                <a:srgbClr val="000000"/>
              </a:solidFill>
              <a:latin typeface="Times New Roman"/>
            </a:endParaRPr>
          </a:p>
        </p:txBody>
      </p:sp>
      <p:sp>
        <p:nvSpPr>
          <p:cNvPr id="41" name=""/>
          <p:cNvSpPr txBox="1"/>
          <p:nvPr/>
        </p:nvSpPr>
        <p:spPr>
          <a:xfrm>
            <a:off x="1085760" y="309564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データの生成過程を数式で記述する構</a:t>
            </a:r>
            <a:endParaRPr b="0" lang="en-US" sz="2170" spc="-1" strike="noStrike">
              <a:solidFill>
                <a:srgbClr val="000000"/>
              </a:solidFill>
              <a:latin typeface="Times New Roman"/>
            </a:endParaRPr>
          </a:p>
        </p:txBody>
      </p:sp>
      <p:sp>
        <p:nvSpPr>
          <p:cNvPr id="42" name=""/>
          <p:cNvSpPr/>
          <p:nvPr/>
        </p:nvSpPr>
        <p:spPr>
          <a:xfrm>
            <a:off x="809280" y="413352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9"/>
                </a:cubicBezTo>
                <a:cubicBezTo>
                  <a:pt x="5" y="109"/>
                  <a:pt x="8" y="100"/>
                  <a:pt x="12" y="91"/>
                </a:cubicBezTo>
                <a:cubicBezTo>
                  <a:pt x="15" y="82"/>
                  <a:pt x="20" y="74"/>
                  <a:pt x="25" y="66"/>
                </a:cubicBezTo>
                <a:cubicBezTo>
                  <a:pt x="30" y="58"/>
                  <a:pt x="36" y="51"/>
                  <a:pt x="43" y="44"/>
                </a:cubicBezTo>
                <a:cubicBezTo>
                  <a:pt x="50" y="37"/>
                  <a:pt x="57" y="31"/>
                  <a:pt x="65" y="26"/>
                </a:cubicBezTo>
                <a:cubicBezTo>
                  <a:pt x="73" y="21"/>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1"/>
                  <a:pt x="228" y="26"/>
                </a:cubicBezTo>
                <a:cubicBezTo>
                  <a:pt x="236" y="31"/>
                  <a:pt x="243" y="37"/>
                  <a:pt x="250" y="44"/>
                </a:cubicBezTo>
                <a:cubicBezTo>
                  <a:pt x="257" y="51"/>
                  <a:pt x="263" y="58"/>
                  <a:pt x="268" y="66"/>
                </a:cubicBezTo>
                <a:cubicBezTo>
                  <a:pt x="273" y="74"/>
                  <a:pt x="278" y="82"/>
                  <a:pt x="281" y="91"/>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3" name=""/>
          <p:cNvSpPr txBox="1"/>
          <p:nvPr/>
        </p:nvSpPr>
        <p:spPr>
          <a:xfrm>
            <a:off x="1085760" y="3505320"/>
            <a:ext cx="13798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造化モデル</a:t>
            </a:r>
            <a:endParaRPr b="0" lang="en-US" sz="2170" spc="-1" strike="noStrike">
              <a:solidFill>
                <a:srgbClr val="000000"/>
              </a:solidFill>
              <a:latin typeface="Times New Roman"/>
            </a:endParaRPr>
          </a:p>
        </p:txBody>
      </p:sp>
      <p:sp>
        <p:nvSpPr>
          <p:cNvPr id="44" name=""/>
          <p:cNvSpPr txBox="1"/>
          <p:nvPr/>
        </p:nvSpPr>
        <p:spPr>
          <a:xfrm>
            <a:off x="1085760" y="399096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トレンドや季節性を捉えるのに長けて</a:t>
            </a:r>
            <a:endParaRPr b="0" lang="en-US" sz="2170" spc="-1" strike="noStrike">
              <a:solidFill>
                <a:srgbClr val="000000"/>
              </a:solidFill>
              <a:latin typeface="Times New Roman"/>
            </a:endParaRPr>
          </a:p>
        </p:txBody>
      </p:sp>
      <p:sp>
        <p:nvSpPr>
          <p:cNvPr id="45" name=""/>
          <p:cNvSpPr txBox="1"/>
          <p:nvPr/>
        </p:nvSpPr>
        <p:spPr>
          <a:xfrm>
            <a:off x="1085760" y="441000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いる</a:t>
            </a:r>
            <a:endParaRPr b="0" lang="en-US" sz="2170" spc="-1" strike="noStrike">
              <a:solidFill>
                <a:srgbClr val="000000"/>
              </a:solidFill>
              <a:latin typeface="Times New Roman"/>
            </a:endParaRPr>
          </a:p>
        </p:txBody>
      </p:sp>
      <p:sp>
        <p:nvSpPr>
          <p:cNvPr id="46" name=""/>
          <p:cNvSpPr/>
          <p:nvPr/>
        </p:nvSpPr>
        <p:spPr>
          <a:xfrm>
            <a:off x="6505560" y="2342880"/>
            <a:ext cx="105120" cy="105120"/>
          </a:xfrm>
          <a:custGeom>
            <a:avLst/>
            <a:gdLst/>
            <a:ahLst/>
            <a:rect l="0" t="0" r="r" b="b"/>
            <a:pathLst>
              <a:path w="292" h="292">
                <a:moveTo>
                  <a:pt x="292" y="147"/>
                </a:moveTo>
                <a:cubicBezTo>
                  <a:pt x="292" y="156"/>
                  <a:pt x="291" y="166"/>
                  <a:pt x="289" y="175"/>
                </a:cubicBezTo>
                <a:cubicBezTo>
                  <a:pt x="287" y="185"/>
                  <a:pt x="284" y="194"/>
                  <a:pt x="281" y="202"/>
                </a:cubicBezTo>
                <a:cubicBezTo>
                  <a:pt x="277" y="211"/>
                  <a:pt x="272" y="220"/>
                  <a:pt x="267" y="228"/>
                </a:cubicBezTo>
                <a:cubicBezTo>
                  <a:pt x="262" y="236"/>
                  <a:pt x="256" y="243"/>
                  <a:pt x="249" y="250"/>
                </a:cubicBezTo>
                <a:cubicBezTo>
                  <a:pt x="242" y="256"/>
                  <a:pt x="235" y="262"/>
                  <a:pt x="227" y="268"/>
                </a:cubicBezTo>
                <a:cubicBezTo>
                  <a:pt x="219" y="273"/>
                  <a:pt x="211" y="278"/>
                  <a:pt x="202" y="281"/>
                </a:cubicBezTo>
                <a:cubicBezTo>
                  <a:pt x="193" y="285"/>
                  <a:pt x="184" y="288"/>
                  <a:pt x="174" y="289"/>
                </a:cubicBezTo>
                <a:cubicBezTo>
                  <a:pt x="165" y="291"/>
                  <a:pt x="156" y="292"/>
                  <a:pt x="146" y="292"/>
                </a:cubicBezTo>
                <a:cubicBezTo>
                  <a:pt x="137" y="292"/>
                  <a:pt x="127" y="291"/>
                  <a:pt x="118" y="289"/>
                </a:cubicBezTo>
                <a:cubicBezTo>
                  <a:pt x="107" y="288"/>
                  <a:pt x="98" y="285"/>
                  <a:pt x="89" y="281"/>
                </a:cubicBezTo>
                <a:cubicBezTo>
                  <a:pt x="81" y="278"/>
                  <a:pt x="72" y="273"/>
                  <a:pt x="64" y="268"/>
                </a:cubicBezTo>
                <a:cubicBezTo>
                  <a:pt x="56" y="262"/>
                  <a:pt x="49" y="256"/>
                  <a:pt x="42" y="250"/>
                </a:cubicBezTo>
                <a:cubicBezTo>
                  <a:pt x="35" y="243"/>
                  <a:pt x="29" y="236"/>
                  <a:pt x="24" y="228"/>
                </a:cubicBezTo>
                <a:cubicBezTo>
                  <a:pt x="19" y="220"/>
                  <a:pt x="14" y="211"/>
                  <a:pt x="11" y="202"/>
                </a:cubicBezTo>
                <a:cubicBezTo>
                  <a:pt x="7" y="194"/>
                  <a:pt x="4" y="185"/>
                  <a:pt x="2" y="175"/>
                </a:cubicBezTo>
                <a:cubicBezTo>
                  <a:pt x="0" y="166"/>
                  <a:pt x="0" y="156"/>
                  <a:pt x="0" y="147"/>
                </a:cubicBezTo>
                <a:cubicBezTo>
                  <a:pt x="0" y="137"/>
                  <a:pt x="0" y="128"/>
                  <a:pt x="2" y="118"/>
                </a:cubicBezTo>
                <a:cubicBezTo>
                  <a:pt x="4" y="109"/>
                  <a:pt x="7" y="100"/>
                  <a:pt x="11" y="91"/>
                </a:cubicBezTo>
                <a:cubicBezTo>
                  <a:pt x="14" y="82"/>
                  <a:pt x="19" y="74"/>
                  <a:pt x="24" y="66"/>
                </a:cubicBezTo>
                <a:cubicBezTo>
                  <a:pt x="29" y="58"/>
                  <a:pt x="35" y="51"/>
                  <a:pt x="42" y="44"/>
                </a:cubicBezTo>
                <a:cubicBezTo>
                  <a:pt x="49" y="36"/>
                  <a:pt x="56" y="30"/>
                  <a:pt x="64" y="25"/>
                </a:cubicBezTo>
                <a:cubicBezTo>
                  <a:pt x="72" y="19"/>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19"/>
                  <a:pt x="227" y="25"/>
                </a:cubicBezTo>
                <a:cubicBezTo>
                  <a:pt x="235" y="30"/>
                  <a:pt x="242" y="36"/>
                  <a:pt x="249" y="44"/>
                </a:cubicBezTo>
                <a:cubicBezTo>
                  <a:pt x="256" y="51"/>
                  <a:pt x="262" y="58"/>
                  <a:pt x="267" y="66"/>
                </a:cubicBezTo>
                <a:cubicBezTo>
                  <a:pt x="272" y="74"/>
                  <a:pt x="277" y="82"/>
                  <a:pt x="281" y="91"/>
                </a:cubicBezTo>
                <a:cubicBezTo>
                  <a:pt x="284" y="100"/>
                  <a:pt x="287" y="109"/>
                  <a:pt x="289" y="118"/>
                </a:cubicBezTo>
                <a:cubicBezTo>
                  <a:pt x="291"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7" name=""/>
          <p:cNvSpPr txBox="1"/>
          <p:nvPr/>
        </p:nvSpPr>
        <p:spPr>
          <a:xfrm>
            <a:off x="6229440" y="1627920"/>
            <a:ext cx="380448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機械学習モデル </a:t>
            </a:r>
            <a:r>
              <a:rPr b="0" lang="en-US" sz="2390" spc="-1" strike="noStrike">
                <a:solidFill>
                  <a:srgbClr val="111111"/>
                </a:solidFill>
                <a:latin typeface="NotoSansJP"/>
                <a:ea typeface="NotoSansJP"/>
              </a:rPr>
              <a:t>(RNN</a:t>
            </a:r>
            <a:r>
              <a:rPr b="0" lang="zh-CN" sz="2390" spc="-1" strike="noStrike">
                <a:solidFill>
                  <a:srgbClr val="111111"/>
                </a:solidFill>
                <a:latin typeface="NotoSansJP"/>
                <a:ea typeface="NotoSansJP"/>
              </a:rPr>
              <a:t>など</a:t>
            </a:r>
            <a:r>
              <a:rPr b="0" lang="en-US" sz="2390" spc="-1" strike="noStrike">
                <a:solidFill>
                  <a:srgbClr val="111111"/>
                </a:solidFill>
                <a:latin typeface="NotoSansJP"/>
                <a:ea typeface="NotoSansJP"/>
              </a:rPr>
              <a:t>)</a:t>
            </a:r>
            <a:endParaRPr b="0" lang="en-US" sz="2390" spc="-1" strike="noStrike">
              <a:solidFill>
                <a:srgbClr val="000000"/>
              </a:solidFill>
              <a:latin typeface="Times New Roman"/>
            </a:endParaRPr>
          </a:p>
        </p:txBody>
      </p:sp>
      <p:sp>
        <p:nvSpPr>
          <p:cNvPr id="48" name=""/>
          <p:cNvSpPr txBox="1"/>
          <p:nvPr/>
        </p:nvSpPr>
        <p:spPr>
          <a:xfrm>
            <a:off x="6781680" y="220032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データ量の増大と計算能力の向上によ</a:t>
            </a:r>
            <a:endParaRPr b="0" lang="en-US" sz="2170" spc="-1" strike="noStrike">
              <a:solidFill>
                <a:srgbClr val="000000"/>
              </a:solidFill>
              <a:latin typeface="Times New Roman"/>
            </a:endParaRPr>
          </a:p>
        </p:txBody>
      </p:sp>
      <p:sp>
        <p:nvSpPr>
          <p:cNvPr id="49" name=""/>
          <p:cNvSpPr/>
          <p:nvPr/>
        </p:nvSpPr>
        <p:spPr>
          <a:xfrm>
            <a:off x="6505560" y="3238200"/>
            <a:ext cx="105120" cy="105120"/>
          </a:xfrm>
          <a:custGeom>
            <a:avLst/>
            <a:gdLst/>
            <a:ahLst/>
            <a:rect l="0" t="0" r="r" b="b"/>
            <a:pathLst>
              <a:path w="292" h="292">
                <a:moveTo>
                  <a:pt x="292" y="146"/>
                </a:moveTo>
                <a:cubicBezTo>
                  <a:pt x="292" y="155"/>
                  <a:pt x="291" y="165"/>
                  <a:pt x="289" y="175"/>
                </a:cubicBezTo>
                <a:cubicBezTo>
                  <a:pt x="287" y="185"/>
                  <a:pt x="284" y="194"/>
                  <a:pt x="281" y="203"/>
                </a:cubicBezTo>
                <a:cubicBezTo>
                  <a:pt x="277" y="211"/>
                  <a:pt x="272" y="220"/>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1"/>
                  <a:pt x="156" y="292"/>
                  <a:pt x="146" y="292"/>
                </a:cubicBezTo>
                <a:cubicBezTo>
                  <a:pt x="137" y="292"/>
                  <a:pt x="127" y="291"/>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20"/>
                  <a:pt x="14" y="211"/>
                  <a:pt x="11" y="203"/>
                </a:cubicBezTo>
                <a:cubicBezTo>
                  <a:pt x="7" y="194"/>
                  <a:pt x="4" y="185"/>
                  <a:pt x="2" y="175"/>
                </a:cubicBezTo>
                <a:cubicBezTo>
                  <a:pt x="0" y="165"/>
                  <a:pt x="0" y="155"/>
                  <a:pt x="0" y="146"/>
                </a:cubicBezTo>
                <a:cubicBezTo>
                  <a:pt x="0" y="136"/>
                  <a:pt x="0" y="127"/>
                  <a:pt x="2" y="117"/>
                </a:cubicBezTo>
                <a:cubicBezTo>
                  <a:pt x="4" y="108"/>
                  <a:pt x="7" y="99"/>
                  <a:pt x="11" y="90"/>
                </a:cubicBezTo>
                <a:cubicBezTo>
                  <a:pt x="14" y="81"/>
                  <a:pt x="19" y="73"/>
                  <a:pt x="24" y="65"/>
                </a:cubicBezTo>
                <a:cubicBezTo>
                  <a:pt x="29" y="57"/>
                  <a:pt x="35" y="50"/>
                  <a:pt x="42" y="43"/>
                </a:cubicBezTo>
                <a:cubicBezTo>
                  <a:pt x="49" y="36"/>
                  <a:pt x="56" y="30"/>
                  <a:pt x="64" y="25"/>
                </a:cubicBezTo>
                <a:cubicBezTo>
                  <a:pt x="72" y="20"/>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20"/>
                  <a:pt x="227" y="25"/>
                </a:cubicBezTo>
                <a:cubicBezTo>
                  <a:pt x="235" y="30"/>
                  <a:pt x="242" y="36"/>
                  <a:pt x="249" y="43"/>
                </a:cubicBezTo>
                <a:cubicBezTo>
                  <a:pt x="256" y="50"/>
                  <a:pt x="262" y="57"/>
                  <a:pt x="267" y="65"/>
                </a:cubicBezTo>
                <a:cubicBezTo>
                  <a:pt x="272" y="73"/>
                  <a:pt x="277" y="81"/>
                  <a:pt x="281" y="90"/>
                </a:cubicBezTo>
                <a:cubicBezTo>
                  <a:pt x="284" y="99"/>
                  <a:pt x="287" y="108"/>
                  <a:pt x="289" y="117"/>
                </a:cubicBezTo>
                <a:cubicBezTo>
                  <a:pt x="291"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50" name=""/>
          <p:cNvSpPr txBox="1"/>
          <p:nvPr/>
        </p:nvSpPr>
        <p:spPr>
          <a:xfrm>
            <a:off x="6781680" y="261000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り注目</a:t>
            </a:r>
            <a:endParaRPr b="0" lang="en-US" sz="2170" spc="-1" strike="noStrike">
              <a:solidFill>
                <a:srgbClr val="000000"/>
              </a:solidFill>
              <a:latin typeface="Times New Roman"/>
            </a:endParaRPr>
          </a:p>
        </p:txBody>
      </p:sp>
      <p:sp>
        <p:nvSpPr>
          <p:cNvPr id="51" name=""/>
          <p:cNvSpPr txBox="1"/>
          <p:nvPr/>
        </p:nvSpPr>
        <p:spPr>
          <a:xfrm>
            <a:off x="6781680" y="3095640"/>
            <a:ext cx="46033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Recurrent Neural Network (RNN) </a:t>
            </a:r>
            <a:r>
              <a:rPr b="0" lang="zh-CN" sz="2170" spc="-1" strike="noStrike">
                <a:solidFill>
                  <a:srgbClr val="111111"/>
                </a:solidFill>
                <a:latin typeface="NotoSansJP"/>
                <a:ea typeface="NotoSansJP"/>
              </a:rPr>
              <a:t>は時</a:t>
            </a:r>
            <a:endParaRPr b="0" lang="en-US" sz="2170" spc="-1" strike="noStrike">
              <a:solidFill>
                <a:srgbClr val="000000"/>
              </a:solidFill>
              <a:latin typeface="Times New Roman"/>
            </a:endParaRPr>
          </a:p>
        </p:txBody>
      </p:sp>
      <p:sp>
        <p:nvSpPr>
          <p:cNvPr id="52" name=""/>
          <p:cNvSpPr/>
          <p:nvPr/>
        </p:nvSpPr>
        <p:spPr>
          <a:xfrm>
            <a:off x="6505560" y="4133520"/>
            <a:ext cx="105120" cy="105120"/>
          </a:xfrm>
          <a:custGeom>
            <a:avLst/>
            <a:gdLst/>
            <a:ahLst/>
            <a:rect l="0" t="0" r="r" b="b"/>
            <a:pathLst>
              <a:path w="292" h="292">
                <a:moveTo>
                  <a:pt x="292" y="147"/>
                </a:moveTo>
                <a:cubicBezTo>
                  <a:pt x="292" y="156"/>
                  <a:pt x="291" y="166"/>
                  <a:pt x="289" y="175"/>
                </a:cubicBezTo>
                <a:cubicBezTo>
                  <a:pt x="287" y="185"/>
                  <a:pt x="284" y="194"/>
                  <a:pt x="281" y="203"/>
                </a:cubicBezTo>
                <a:cubicBezTo>
                  <a:pt x="277" y="211"/>
                  <a:pt x="272" y="220"/>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2"/>
                  <a:pt x="156" y="292"/>
                  <a:pt x="146" y="292"/>
                </a:cubicBezTo>
                <a:cubicBezTo>
                  <a:pt x="137" y="292"/>
                  <a:pt x="127" y="292"/>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20"/>
                  <a:pt x="14" y="211"/>
                  <a:pt x="11" y="203"/>
                </a:cubicBezTo>
                <a:cubicBezTo>
                  <a:pt x="7" y="194"/>
                  <a:pt x="4" y="185"/>
                  <a:pt x="2" y="175"/>
                </a:cubicBezTo>
                <a:cubicBezTo>
                  <a:pt x="0" y="166"/>
                  <a:pt x="0" y="156"/>
                  <a:pt x="0" y="147"/>
                </a:cubicBezTo>
                <a:cubicBezTo>
                  <a:pt x="0" y="137"/>
                  <a:pt x="0" y="128"/>
                  <a:pt x="2" y="119"/>
                </a:cubicBezTo>
                <a:cubicBezTo>
                  <a:pt x="4" y="109"/>
                  <a:pt x="7" y="100"/>
                  <a:pt x="11" y="91"/>
                </a:cubicBezTo>
                <a:cubicBezTo>
                  <a:pt x="14" y="82"/>
                  <a:pt x="19" y="74"/>
                  <a:pt x="24" y="66"/>
                </a:cubicBezTo>
                <a:cubicBezTo>
                  <a:pt x="29" y="58"/>
                  <a:pt x="35" y="51"/>
                  <a:pt x="42" y="44"/>
                </a:cubicBezTo>
                <a:cubicBezTo>
                  <a:pt x="49" y="37"/>
                  <a:pt x="56" y="31"/>
                  <a:pt x="64" y="26"/>
                </a:cubicBezTo>
                <a:cubicBezTo>
                  <a:pt x="72" y="21"/>
                  <a:pt x="81" y="16"/>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6"/>
                  <a:pt x="219" y="21"/>
                  <a:pt x="227" y="26"/>
                </a:cubicBezTo>
                <a:cubicBezTo>
                  <a:pt x="235" y="31"/>
                  <a:pt x="242" y="37"/>
                  <a:pt x="249" y="44"/>
                </a:cubicBezTo>
                <a:cubicBezTo>
                  <a:pt x="256" y="51"/>
                  <a:pt x="262" y="58"/>
                  <a:pt x="267" y="66"/>
                </a:cubicBezTo>
                <a:cubicBezTo>
                  <a:pt x="272" y="74"/>
                  <a:pt x="277" y="82"/>
                  <a:pt x="281" y="91"/>
                </a:cubicBezTo>
                <a:cubicBezTo>
                  <a:pt x="284" y="100"/>
                  <a:pt x="287" y="109"/>
                  <a:pt x="289" y="119"/>
                </a:cubicBezTo>
                <a:cubicBezTo>
                  <a:pt x="291"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53" name=""/>
          <p:cNvSpPr txBox="1"/>
          <p:nvPr/>
        </p:nvSpPr>
        <p:spPr>
          <a:xfrm>
            <a:off x="6781680" y="350532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間的情報を扱うのに適している</a:t>
            </a:r>
            <a:endParaRPr b="0" lang="en-US" sz="2170" spc="-1" strike="noStrike">
              <a:solidFill>
                <a:srgbClr val="000000"/>
              </a:solidFill>
              <a:latin typeface="Times New Roman"/>
            </a:endParaRPr>
          </a:p>
        </p:txBody>
      </p:sp>
      <p:sp>
        <p:nvSpPr>
          <p:cNvPr id="54" name=""/>
          <p:cNvSpPr txBox="1"/>
          <p:nvPr/>
        </p:nvSpPr>
        <p:spPr>
          <a:xfrm>
            <a:off x="6781680" y="399096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内部のループ構造で過去の情報を記憶</a:t>
            </a:r>
            <a:endParaRPr b="0" lang="en-US" sz="2170" spc="-1" strike="noStrike">
              <a:solidFill>
                <a:srgbClr val="000000"/>
              </a:solidFill>
              <a:latin typeface="Times New Roman"/>
            </a:endParaRPr>
          </a:p>
        </p:txBody>
      </p:sp>
      <p:sp>
        <p:nvSpPr>
          <p:cNvPr id="55" name=""/>
          <p:cNvSpPr txBox="1"/>
          <p:nvPr/>
        </p:nvSpPr>
        <p:spPr>
          <a:xfrm>
            <a:off x="6781680" y="441000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する</a:t>
            </a:r>
            <a:endParaRPr b="0" lang="en-US" sz="2170" spc="-1" strike="noStrike">
              <a:solidFill>
                <a:srgbClr val="000000"/>
              </a:solidFill>
              <a:latin typeface="Times New Roman"/>
            </a:endParaRPr>
          </a:p>
        </p:txBody>
      </p:sp>
      <p:sp>
        <p:nvSpPr>
          <p:cNvPr id="56" name=""/>
          <p:cNvSpPr txBox="1"/>
          <p:nvPr/>
        </p:nvSpPr>
        <p:spPr>
          <a:xfrm>
            <a:off x="3018960" y="5391000"/>
            <a:ext cx="64792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機械学習における</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の位置付け </a:t>
            </a:r>
            <a:r>
              <a:rPr b="0" lang="en-US" sz="2170" spc="-1" strike="noStrike">
                <a:solidFill>
                  <a:srgbClr val="111111"/>
                </a:solidFill>
                <a:latin typeface="NotoSansJP"/>
                <a:ea typeface="NotoSansJP"/>
              </a:rPr>
              <a:t>(Figure 1)]</a:t>
            </a:r>
            <a:endParaRPr b="0" lang="en-US" sz="2170" spc="-1" strike="noStrike">
              <a:solidFill>
                <a:srgbClr val="000000"/>
              </a:solidFill>
              <a:latin typeface="Times New Roman"/>
            </a:endParaRPr>
          </a:p>
        </p:txBody>
      </p:sp>
      <p:sp>
        <p:nvSpPr>
          <p:cNvPr id="5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8" name=""/>
          <p:cNvSpPr txBox="1"/>
          <p:nvPr/>
        </p:nvSpPr>
        <p:spPr>
          <a:xfrm>
            <a:off x="914400" y="392400"/>
            <a:ext cx="355824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1. </a:t>
            </a:r>
            <a:r>
              <a:rPr b="0" lang="zh-CN" sz="1950" spc="-1" strike="noStrike">
                <a:solidFill>
                  <a:srgbClr val="111111"/>
                </a:solidFill>
                <a:latin typeface="NotoSansJP"/>
                <a:ea typeface="NotoSansJP"/>
              </a:rPr>
              <a:t>はじめに：時系列予測の背景</a:t>
            </a:r>
            <a:endParaRPr b="0" lang="en-US" sz="1950" spc="-1" strike="noStrike">
              <a:solidFill>
                <a:srgbClr val="000000"/>
              </a:solidFill>
              <a:latin typeface="Times New Roman"/>
            </a:endParaRPr>
          </a:p>
        </p:txBody>
      </p:sp>
      <p:sp>
        <p:nvSpPr>
          <p:cNvPr id="5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3</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6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64" name="" descr=""/>
          <p:cNvPicPr/>
          <p:nvPr/>
        </p:nvPicPr>
        <p:blipFill>
          <a:blip r:embed="rId1"/>
          <a:stretch/>
        </p:blipFill>
        <p:spPr>
          <a:xfrm>
            <a:off x="10515600" y="38160"/>
            <a:ext cx="1142640" cy="1142640"/>
          </a:xfrm>
          <a:prstGeom prst="rect">
            <a:avLst/>
          </a:prstGeom>
          <a:ln w="0">
            <a:noFill/>
          </a:ln>
        </p:spPr>
      </p:pic>
      <p:sp>
        <p:nvSpPr>
          <p:cNvPr id="65" name=""/>
          <p:cNvSpPr txBox="1"/>
          <p:nvPr/>
        </p:nvSpPr>
        <p:spPr>
          <a:xfrm>
            <a:off x="533520" y="923760"/>
            <a:ext cx="91706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RNN</a:t>
            </a:r>
            <a:r>
              <a:rPr b="0" lang="zh-CN" sz="2170" spc="-1" strike="noStrike">
                <a:solidFill>
                  <a:srgbClr val="111111"/>
                </a:solidFill>
                <a:latin typeface="NotoSansJP"/>
                <a:ea typeface="NotoSansJP"/>
              </a:rPr>
              <a:t>は、時系列が長くなると過去の情報を忘れてしまう弱点がありました</a:t>
            </a:r>
            <a:endParaRPr b="0" lang="en-US" sz="2170" spc="-1" strike="noStrike">
              <a:solidFill>
                <a:srgbClr val="000000"/>
              </a:solidFill>
              <a:latin typeface="Times New Roman"/>
            </a:endParaRPr>
          </a:p>
        </p:txBody>
      </p:sp>
      <p:sp>
        <p:nvSpPr>
          <p:cNvPr id="66"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67" name=""/>
          <p:cNvSpPr txBox="1"/>
          <p:nvPr/>
        </p:nvSpPr>
        <p:spPr>
          <a:xfrm>
            <a:off x="533520" y="1627920"/>
            <a:ext cx="585828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勾配消失問題 </a:t>
            </a:r>
            <a:r>
              <a:rPr b="0" lang="en-US" sz="2390" spc="-1" strike="noStrike">
                <a:solidFill>
                  <a:srgbClr val="111111"/>
                </a:solidFill>
                <a:latin typeface="NotoSansJP"/>
                <a:ea typeface="NotoSansJP"/>
              </a:rPr>
              <a:t>(Vanishing Gradient Problem)</a:t>
            </a:r>
            <a:endParaRPr b="0" lang="en-US" sz="2390" spc="-1" strike="noStrike">
              <a:solidFill>
                <a:srgbClr val="000000"/>
              </a:solidFill>
              <a:latin typeface="Times New Roman"/>
            </a:endParaRPr>
          </a:p>
        </p:txBody>
      </p:sp>
      <p:sp>
        <p:nvSpPr>
          <p:cNvPr id="68" name=""/>
          <p:cNvSpPr txBox="1"/>
          <p:nvPr/>
        </p:nvSpPr>
        <p:spPr>
          <a:xfrm>
            <a:off x="1085760" y="2200320"/>
            <a:ext cx="95018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RNN</a:t>
            </a:r>
            <a:r>
              <a:rPr b="0" lang="zh-CN" sz="2170" spc="-1" strike="noStrike">
                <a:solidFill>
                  <a:srgbClr val="111111"/>
                </a:solidFill>
                <a:latin typeface="NotoSansJP"/>
                <a:ea typeface="NotoSansJP"/>
              </a:rPr>
              <a:t>は、時間を遡って誤差を伝播させることで学習します </a:t>
            </a:r>
            <a:r>
              <a:rPr b="0" lang="en-US" sz="2170" spc="-1" strike="noStrike">
                <a:solidFill>
                  <a:srgbClr val="111111"/>
                </a:solidFill>
                <a:latin typeface="NotoSansJP"/>
                <a:ea typeface="NotoSansJP"/>
              </a:rPr>
              <a:t>(Backpropagation</a:t>
            </a:r>
            <a:endParaRPr b="0" lang="en-US" sz="2170" spc="-1" strike="noStrike">
              <a:solidFill>
                <a:srgbClr val="000000"/>
              </a:solidFill>
              <a:latin typeface="Times New Roman"/>
            </a:endParaRPr>
          </a:p>
        </p:txBody>
      </p:sp>
      <p:sp>
        <p:nvSpPr>
          <p:cNvPr id="69" name=""/>
          <p:cNvSpPr/>
          <p:nvPr/>
        </p:nvSpPr>
        <p:spPr>
          <a:xfrm>
            <a:off x="809280" y="3238200"/>
            <a:ext cx="105120" cy="105120"/>
          </a:xfrm>
          <a:custGeom>
            <a:avLst/>
            <a:gdLst/>
            <a:ahLst/>
            <a:rect l="0" t="0" r="r" b="b"/>
            <a:pathLst>
              <a:path w="292" h="292">
                <a:moveTo>
                  <a:pt x="292" y="146"/>
                </a:moveTo>
                <a:cubicBezTo>
                  <a:pt x="292" y="155"/>
                  <a:pt x="292" y="165"/>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0" name=""/>
          <p:cNvSpPr txBox="1"/>
          <p:nvPr/>
        </p:nvSpPr>
        <p:spPr>
          <a:xfrm>
            <a:off x="1085760" y="2610000"/>
            <a:ext cx="175932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Through Time)</a:t>
            </a:r>
            <a:endParaRPr b="0" lang="en-US" sz="2170" spc="-1" strike="noStrike">
              <a:solidFill>
                <a:srgbClr val="000000"/>
              </a:solidFill>
              <a:latin typeface="Times New Roman"/>
            </a:endParaRPr>
          </a:p>
        </p:txBody>
      </p:sp>
      <p:sp>
        <p:nvSpPr>
          <p:cNvPr id="71" name=""/>
          <p:cNvSpPr txBox="1"/>
          <p:nvPr/>
        </p:nvSpPr>
        <p:spPr>
          <a:xfrm>
            <a:off x="1085760" y="3095640"/>
            <a:ext cx="10482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しかし、時系列が長くなる（ネットワークが深くなる）と、勾配がどんどん小さくな</a:t>
            </a:r>
            <a:endParaRPr b="0" lang="en-US" sz="2170" spc="-1" strike="noStrike">
              <a:solidFill>
                <a:srgbClr val="000000"/>
              </a:solidFill>
              <a:latin typeface="Times New Roman"/>
            </a:endParaRPr>
          </a:p>
        </p:txBody>
      </p:sp>
      <p:sp>
        <p:nvSpPr>
          <p:cNvPr id="72" name=""/>
          <p:cNvSpPr/>
          <p:nvPr/>
        </p:nvSpPr>
        <p:spPr>
          <a:xfrm>
            <a:off x="809280" y="413352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9"/>
                </a:cubicBezTo>
                <a:cubicBezTo>
                  <a:pt x="5" y="109"/>
                  <a:pt x="8" y="100"/>
                  <a:pt x="12" y="91"/>
                </a:cubicBezTo>
                <a:cubicBezTo>
                  <a:pt x="15" y="82"/>
                  <a:pt x="20" y="74"/>
                  <a:pt x="25" y="66"/>
                </a:cubicBezTo>
                <a:cubicBezTo>
                  <a:pt x="30" y="58"/>
                  <a:pt x="36" y="51"/>
                  <a:pt x="43" y="44"/>
                </a:cubicBezTo>
                <a:cubicBezTo>
                  <a:pt x="50" y="37"/>
                  <a:pt x="57" y="31"/>
                  <a:pt x="65" y="26"/>
                </a:cubicBezTo>
                <a:cubicBezTo>
                  <a:pt x="73" y="21"/>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1"/>
                  <a:pt x="228" y="26"/>
                </a:cubicBezTo>
                <a:cubicBezTo>
                  <a:pt x="236" y="31"/>
                  <a:pt x="243" y="37"/>
                  <a:pt x="250" y="44"/>
                </a:cubicBezTo>
                <a:cubicBezTo>
                  <a:pt x="257" y="51"/>
                  <a:pt x="263" y="58"/>
                  <a:pt x="268" y="66"/>
                </a:cubicBezTo>
                <a:cubicBezTo>
                  <a:pt x="273" y="74"/>
                  <a:pt x="278" y="82"/>
                  <a:pt x="281" y="91"/>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3" name=""/>
          <p:cNvSpPr txBox="1"/>
          <p:nvPr/>
        </p:nvSpPr>
        <p:spPr>
          <a:xfrm>
            <a:off x="1085760" y="3505320"/>
            <a:ext cx="38980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り、ほぼ</a:t>
            </a:r>
            <a:r>
              <a:rPr b="0" lang="en-US" sz="2170" spc="-1" strike="noStrike">
                <a:solidFill>
                  <a:srgbClr val="111111"/>
                </a:solidFill>
                <a:latin typeface="NotoSansJP"/>
                <a:ea typeface="NotoSansJP"/>
              </a:rPr>
              <a:t>0</a:t>
            </a:r>
            <a:r>
              <a:rPr b="0" lang="zh-CN" sz="2170" spc="-1" strike="noStrike">
                <a:solidFill>
                  <a:srgbClr val="111111"/>
                </a:solidFill>
                <a:latin typeface="NotoSansJP"/>
                <a:ea typeface="NotoSansJP"/>
              </a:rPr>
              <a:t>になってしまいます</a:t>
            </a:r>
            <a:endParaRPr b="0" lang="en-US" sz="2170" spc="-1" strike="noStrike">
              <a:solidFill>
                <a:srgbClr val="000000"/>
              </a:solidFill>
              <a:latin typeface="Times New Roman"/>
            </a:endParaRPr>
          </a:p>
        </p:txBody>
      </p:sp>
      <p:sp>
        <p:nvSpPr>
          <p:cNvPr id="74" name=""/>
          <p:cNvSpPr txBox="1"/>
          <p:nvPr/>
        </p:nvSpPr>
        <p:spPr>
          <a:xfrm>
            <a:off x="1085760" y="3990960"/>
            <a:ext cx="10482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結果として、遠い過去の情報が重みの更新に反映されず、</a:t>
            </a:r>
            <a:r>
              <a:rPr b="0" lang="zh-CN" sz="2170" spc="-1" strike="noStrike">
                <a:solidFill>
                  <a:srgbClr val="c9342f"/>
                </a:solidFill>
                <a:latin typeface="NotoSansJP"/>
                <a:ea typeface="NotoSansJP"/>
              </a:rPr>
              <a:t>長期的な依存関係を学習で</a:t>
            </a:r>
            <a:endParaRPr b="0" lang="en-US" sz="2170" spc="-1" strike="noStrike">
              <a:solidFill>
                <a:srgbClr val="000000"/>
              </a:solidFill>
              <a:latin typeface="Times New Roman"/>
            </a:endParaRPr>
          </a:p>
        </p:txBody>
      </p:sp>
      <p:sp>
        <p:nvSpPr>
          <p:cNvPr id="75" name=""/>
          <p:cNvSpPr txBox="1"/>
          <p:nvPr/>
        </p:nvSpPr>
        <p:spPr>
          <a:xfrm>
            <a:off x="1085760" y="4410000"/>
            <a:ext cx="110412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きません</a:t>
            </a:r>
            <a:endParaRPr b="0" lang="en-US" sz="2170" spc="-1" strike="noStrike">
              <a:solidFill>
                <a:srgbClr val="000000"/>
              </a:solidFill>
              <a:latin typeface="Times New Roman"/>
            </a:endParaRPr>
          </a:p>
        </p:txBody>
      </p:sp>
      <p:sp>
        <p:nvSpPr>
          <p:cNvPr id="76" name=""/>
          <p:cNvSpPr txBox="1"/>
          <p:nvPr/>
        </p:nvSpPr>
        <p:spPr>
          <a:xfrm>
            <a:off x="2910600" y="5391000"/>
            <a:ext cx="64616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この問題を解決するために </a:t>
            </a:r>
            <a:r>
              <a:rPr b="0" lang="en-US" sz="2170" spc="-1" strike="noStrike">
                <a:solidFill>
                  <a:srgbClr val="083a5e"/>
                </a:solidFill>
                <a:latin typeface="NotoSansJP"/>
                <a:ea typeface="NotoSansJP"/>
              </a:rPr>
              <a:t>LSTM</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が開発されました</a:t>
            </a:r>
            <a:endParaRPr b="0" lang="en-US" sz="2170" spc="-1" strike="noStrike">
              <a:solidFill>
                <a:srgbClr val="000000"/>
              </a:solidFill>
              <a:latin typeface="Times New Roman"/>
            </a:endParaRPr>
          </a:p>
        </p:txBody>
      </p:sp>
      <p:sp>
        <p:nvSpPr>
          <p:cNvPr id="7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8" name=""/>
          <p:cNvSpPr txBox="1"/>
          <p:nvPr/>
        </p:nvSpPr>
        <p:spPr>
          <a:xfrm>
            <a:off x="914400" y="392400"/>
            <a:ext cx="304164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RNN</a:t>
            </a:r>
            <a:r>
              <a:rPr b="0" lang="zh-CN" sz="1950" spc="-1" strike="noStrike">
                <a:solidFill>
                  <a:srgbClr val="111111"/>
                </a:solidFill>
                <a:latin typeface="NotoSansJP"/>
                <a:ea typeface="NotoSansJP"/>
              </a:rPr>
              <a:t>の課題：勾配消失問題</a:t>
            </a:r>
            <a:endParaRPr b="0" lang="en-US" sz="1950" spc="-1" strike="noStrike">
              <a:solidFill>
                <a:srgbClr val="000000"/>
              </a:solidFill>
              <a:latin typeface="Times New Roman"/>
            </a:endParaRPr>
          </a:p>
        </p:txBody>
      </p:sp>
      <p:sp>
        <p:nvSpPr>
          <p:cNvPr id="7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4</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8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84" name="" descr=""/>
          <p:cNvPicPr/>
          <p:nvPr/>
        </p:nvPicPr>
        <p:blipFill>
          <a:blip r:embed="rId1"/>
          <a:stretch/>
        </p:blipFill>
        <p:spPr>
          <a:xfrm>
            <a:off x="10515600" y="38160"/>
            <a:ext cx="1142640" cy="1142640"/>
          </a:xfrm>
          <a:prstGeom prst="rect">
            <a:avLst/>
          </a:prstGeom>
          <a:ln w="0">
            <a:noFill/>
          </a:ln>
        </p:spPr>
      </p:pic>
      <p:sp>
        <p:nvSpPr>
          <p:cNvPr id="85" name=""/>
          <p:cNvSpPr txBox="1"/>
          <p:nvPr/>
        </p:nvSpPr>
        <p:spPr>
          <a:xfrm>
            <a:off x="533520" y="923760"/>
            <a:ext cx="87336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は「セル状態」と「ゲート」により、情報の取捨選択を行います</a:t>
            </a:r>
            <a:endParaRPr b="0" lang="en-US" sz="2170" spc="-1" strike="noStrike">
              <a:solidFill>
                <a:srgbClr val="000000"/>
              </a:solidFill>
              <a:latin typeface="Times New Roman"/>
            </a:endParaRPr>
          </a:p>
        </p:txBody>
      </p:sp>
      <p:sp>
        <p:nvSpPr>
          <p:cNvPr id="86"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87" name=""/>
          <p:cNvSpPr txBox="1"/>
          <p:nvPr/>
        </p:nvSpPr>
        <p:spPr>
          <a:xfrm>
            <a:off x="533520" y="1627920"/>
            <a:ext cx="3233160" cy="441000"/>
          </a:xfrm>
          <a:prstGeom prst="rect">
            <a:avLst/>
          </a:prstGeom>
          <a:noFill/>
          <a:ln w="0">
            <a:noFill/>
          </a:ln>
        </p:spPr>
        <p:txBody>
          <a:bodyPr wrap="none" lIns="0" rIns="0" tIns="0" bIns="0" anchor="t">
            <a:noAutofit/>
          </a:bodyPr>
          <a:p>
            <a:r>
              <a:rPr b="0" lang="en-US" sz="2390" spc="-1" strike="noStrike">
                <a:solidFill>
                  <a:srgbClr val="111111"/>
                </a:solidFill>
                <a:latin typeface="NotoSansJP"/>
                <a:ea typeface="NotoSansJP"/>
              </a:rPr>
              <a:t>LSTM</a:t>
            </a:r>
            <a:r>
              <a:rPr b="0" lang="zh-CN" sz="2390" spc="-1" strike="noStrike">
                <a:solidFill>
                  <a:srgbClr val="111111"/>
                </a:solidFill>
                <a:latin typeface="NotoSansJP"/>
                <a:ea typeface="NotoSansJP"/>
              </a:rPr>
              <a:t>のキーコンセプト</a:t>
            </a:r>
            <a:endParaRPr b="0" lang="en-US" sz="2390" spc="-1" strike="noStrike">
              <a:solidFill>
                <a:srgbClr val="000000"/>
              </a:solidFill>
              <a:latin typeface="Times New Roman"/>
            </a:endParaRPr>
          </a:p>
        </p:txBody>
      </p:sp>
      <p:sp>
        <p:nvSpPr>
          <p:cNvPr id="88" name=""/>
          <p:cNvSpPr/>
          <p:nvPr/>
        </p:nvSpPr>
        <p:spPr>
          <a:xfrm>
            <a:off x="1361880" y="284796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8"/>
                </a:cubicBezTo>
                <a:cubicBezTo>
                  <a:pt x="5" y="108"/>
                  <a:pt x="7" y="99"/>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0"/>
                  <a:pt x="136" y="0"/>
                  <a:pt x="147" y="0"/>
                </a:cubicBezTo>
                <a:cubicBezTo>
                  <a:pt x="156" y="0"/>
                  <a:pt x="166" y="0"/>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89" name=""/>
          <p:cNvSpPr txBox="1"/>
          <p:nvPr/>
        </p:nvSpPr>
        <p:spPr>
          <a:xfrm>
            <a:off x="1085760" y="2200320"/>
            <a:ext cx="25034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セル状態 </a:t>
            </a:r>
            <a:r>
              <a:rPr b="0" lang="en-US" sz="2170" spc="-1" strike="noStrike">
                <a:solidFill>
                  <a:srgbClr val="111111"/>
                </a:solidFill>
                <a:latin typeface="NotoSansJP"/>
                <a:ea typeface="NotoSansJP"/>
              </a:rPr>
              <a:t>(Cell State)</a:t>
            </a:r>
            <a:endParaRPr b="0" lang="en-US" sz="2170" spc="-1" strike="noStrike">
              <a:solidFill>
                <a:srgbClr val="000000"/>
              </a:solidFill>
              <a:latin typeface="Times New Roman"/>
            </a:endParaRPr>
          </a:p>
        </p:txBody>
      </p:sp>
      <p:sp>
        <p:nvSpPr>
          <p:cNvPr id="90" name=""/>
          <p:cNvSpPr/>
          <p:nvPr/>
        </p:nvSpPr>
        <p:spPr>
          <a:xfrm>
            <a:off x="1361880" y="3333600"/>
            <a:ext cx="105120" cy="105120"/>
          </a:xfrm>
          <a:custGeom>
            <a:avLst/>
            <a:gdLst/>
            <a:ahLst/>
            <a:rect l="0" t="0" r="r" b="b"/>
            <a:pathLst>
              <a:path w="292" h="292">
                <a:moveTo>
                  <a:pt x="292" y="145"/>
                </a:moveTo>
                <a:cubicBezTo>
                  <a:pt x="292" y="155"/>
                  <a:pt x="291" y="164"/>
                  <a:pt x="289" y="174"/>
                </a:cubicBezTo>
                <a:cubicBezTo>
                  <a:pt x="287" y="183"/>
                  <a:pt x="285" y="192"/>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2"/>
                  <a:pt x="5" y="183"/>
                  <a:pt x="3" y="174"/>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91" name=""/>
          <p:cNvSpPr txBox="1"/>
          <p:nvPr/>
        </p:nvSpPr>
        <p:spPr>
          <a:xfrm>
            <a:off x="1638360" y="270504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「情報のコンベアベルト」に例えられる、長期記憶を担う経路</a:t>
            </a:r>
            <a:endParaRPr b="0" lang="en-US" sz="2170" spc="-1" strike="noStrike">
              <a:solidFill>
                <a:srgbClr val="000000"/>
              </a:solidFill>
              <a:latin typeface="Times New Roman"/>
            </a:endParaRPr>
          </a:p>
        </p:txBody>
      </p:sp>
      <p:sp>
        <p:nvSpPr>
          <p:cNvPr id="92" name=""/>
          <p:cNvSpPr/>
          <p:nvPr/>
        </p:nvSpPr>
        <p:spPr>
          <a:xfrm>
            <a:off x="809280" y="38192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7"/>
                  <a:pt x="57" y="31"/>
                  <a:pt x="65" y="26"/>
                </a:cubicBezTo>
                <a:cubicBezTo>
                  <a:pt x="73" y="21"/>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1"/>
                  <a:pt x="228" y="26"/>
                </a:cubicBezTo>
                <a:cubicBezTo>
                  <a:pt x="236" y="31"/>
                  <a:pt x="243" y="37"/>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93" name=""/>
          <p:cNvSpPr txBox="1"/>
          <p:nvPr/>
        </p:nvSpPr>
        <p:spPr>
          <a:xfrm>
            <a:off x="1638360" y="319104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重要な情報が、ほとんど加工されずに長期間伝わることが可能</a:t>
            </a:r>
            <a:endParaRPr b="0" lang="en-US" sz="2170" spc="-1" strike="noStrike">
              <a:solidFill>
                <a:srgbClr val="000000"/>
              </a:solidFill>
              <a:latin typeface="Times New Roman"/>
            </a:endParaRPr>
          </a:p>
        </p:txBody>
      </p:sp>
      <p:sp>
        <p:nvSpPr>
          <p:cNvPr id="94" name=""/>
          <p:cNvSpPr/>
          <p:nvPr/>
        </p:nvSpPr>
        <p:spPr>
          <a:xfrm>
            <a:off x="1361880" y="432432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8"/>
                </a:cubicBezTo>
                <a:cubicBezTo>
                  <a:pt x="5" y="108"/>
                  <a:pt x="7" y="99"/>
                  <a:pt x="11" y="90"/>
                </a:cubicBezTo>
                <a:cubicBezTo>
                  <a:pt x="15" y="82"/>
                  <a:pt x="19" y="73"/>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3"/>
                  <a:pt x="277" y="82"/>
                  <a:pt x="281" y="90"/>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95" name=""/>
          <p:cNvSpPr txBox="1"/>
          <p:nvPr/>
        </p:nvSpPr>
        <p:spPr>
          <a:xfrm>
            <a:off x="1085760" y="3676680"/>
            <a:ext cx="24670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3</a:t>
            </a:r>
            <a:r>
              <a:rPr b="0" lang="zh-CN" sz="2170" spc="-1" strike="noStrike">
                <a:solidFill>
                  <a:srgbClr val="111111"/>
                </a:solidFill>
                <a:latin typeface="NotoSansJP"/>
                <a:ea typeface="NotoSansJP"/>
              </a:rPr>
              <a:t>つのゲート </a:t>
            </a:r>
            <a:r>
              <a:rPr b="0" lang="en-US" sz="2170" spc="-1" strike="noStrike">
                <a:solidFill>
                  <a:srgbClr val="111111"/>
                </a:solidFill>
                <a:latin typeface="NotoSansJP"/>
                <a:ea typeface="NotoSansJP"/>
              </a:rPr>
              <a:t>(Gate)</a:t>
            </a:r>
            <a:endParaRPr b="0" lang="en-US" sz="2170" spc="-1" strike="noStrike">
              <a:solidFill>
                <a:srgbClr val="000000"/>
              </a:solidFill>
              <a:latin typeface="Times New Roman"/>
            </a:endParaRPr>
          </a:p>
        </p:txBody>
      </p:sp>
      <p:sp>
        <p:nvSpPr>
          <p:cNvPr id="96" name=""/>
          <p:cNvSpPr/>
          <p:nvPr/>
        </p:nvSpPr>
        <p:spPr>
          <a:xfrm>
            <a:off x="1361880" y="4809960"/>
            <a:ext cx="105120" cy="105120"/>
          </a:xfrm>
          <a:custGeom>
            <a:avLst/>
            <a:gdLst/>
            <a:ahLst/>
            <a:rect l="0" t="0" r="r" b="b"/>
            <a:pathLst>
              <a:path w="292" h="292">
                <a:moveTo>
                  <a:pt x="292" y="145"/>
                </a:moveTo>
                <a:cubicBezTo>
                  <a:pt x="292" y="155"/>
                  <a:pt x="291" y="164"/>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97" name=""/>
          <p:cNvSpPr txBox="1"/>
          <p:nvPr/>
        </p:nvSpPr>
        <p:spPr>
          <a:xfrm>
            <a:off x="1638360" y="418140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セル状態を流れる情報を制御する仕組み</a:t>
            </a:r>
            <a:endParaRPr b="0" lang="en-US" sz="2170" spc="-1" strike="noStrike">
              <a:solidFill>
                <a:srgbClr val="000000"/>
              </a:solidFill>
              <a:latin typeface="Times New Roman"/>
            </a:endParaRPr>
          </a:p>
        </p:txBody>
      </p:sp>
      <p:sp>
        <p:nvSpPr>
          <p:cNvPr id="98" name=""/>
          <p:cNvSpPr txBox="1"/>
          <p:nvPr/>
        </p:nvSpPr>
        <p:spPr>
          <a:xfrm>
            <a:off x="1638360" y="4667400"/>
            <a:ext cx="96552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どの情報を「忘れ」、どの情報を「記憶」し、何を「出力」するかを学習する</a:t>
            </a:r>
            <a:endParaRPr b="0" lang="en-US" sz="2170" spc="-1" strike="noStrike">
              <a:solidFill>
                <a:srgbClr val="000000"/>
              </a:solidFill>
              <a:latin typeface="Times New Roman"/>
            </a:endParaRPr>
          </a:p>
        </p:txBody>
      </p:sp>
      <p:sp>
        <p:nvSpPr>
          <p:cNvPr id="99" name=""/>
          <p:cNvSpPr txBox="1"/>
          <p:nvPr/>
        </p:nvSpPr>
        <p:spPr>
          <a:xfrm>
            <a:off x="533520" y="5648400"/>
            <a:ext cx="11034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このゲート機構により、必要な情報だけを長期的に保持し、勾配消失問題を回避します。</a:t>
            </a:r>
            <a:endParaRPr b="0" lang="en-US" sz="2170" spc="-1" strike="noStrike">
              <a:solidFill>
                <a:srgbClr val="000000"/>
              </a:solidFill>
              <a:latin typeface="Times New Roman"/>
            </a:endParaRPr>
          </a:p>
        </p:txBody>
      </p:sp>
      <p:sp>
        <p:nvSpPr>
          <p:cNvPr id="100"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1" name=""/>
          <p:cNvSpPr txBox="1"/>
          <p:nvPr/>
        </p:nvSpPr>
        <p:spPr>
          <a:xfrm>
            <a:off x="914400" y="392400"/>
            <a:ext cx="390276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2. LSTM</a:t>
            </a:r>
            <a:r>
              <a:rPr b="0" lang="zh-CN" sz="1950" spc="-1" strike="noStrike">
                <a:solidFill>
                  <a:srgbClr val="111111"/>
                </a:solidFill>
                <a:latin typeface="NotoSansJP"/>
                <a:ea typeface="NotoSansJP"/>
              </a:rPr>
              <a:t>の仕組み：長期記憶の実現</a:t>
            </a:r>
            <a:endParaRPr b="0" lang="en-US" sz="1950" spc="-1" strike="noStrike">
              <a:solidFill>
                <a:srgbClr val="000000"/>
              </a:solidFill>
              <a:latin typeface="Times New Roman"/>
            </a:endParaRPr>
          </a:p>
        </p:txBody>
      </p:sp>
      <p:sp>
        <p:nvSpPr>
          <p:cNvPr id="102"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5</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07" name="" descr=""/>
          <p:cNvPicPr/>
          <p:nvPr/>
        </p:nvPicPr>
        <p:blipFill>
          <a:blip r:embed="rId1"/>
          <a:stretch/>
        </p:blipFill>
        <p:spPr>
          <a:xfrm>
            <a:off x="10515600" y="38160"/>
            <a:ext cx="1142640" cy="1142640"/>
          </a:xfrm>
          <a:prstGeom prst="rect">
            <a:avLst/>
          </a:prstGeom>
          <a:ln w="0">
            <a:noFill/>
          </a:ln>
        </p:spPr>
      </p:pic>
      <p:sp>
        <p:nvSpPr>
          <p:cNvPr id="108" name=""/>
          <p:cNvSpPr txBox="1"/>
          <p:nvPr/>
        </p:nvSpPr>
        <p:spPr>
          <a:xfrm>
            <a:off x="533520" y="923760"/>
            <a:ext cx="65768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3</a:t>
            </a:r>
            <a:r>
              <a:rPr b="0" lang="zh-CN" sz="2170" spc="-1" strike="noStrike">
                <a:solidFill>
                  <a:srgbClr val="111111"/>
                </a:solidFill>
                <a:latin typeface="NotoSansJP"/>
                <a:ea typeface="NotoSansJP"/>
              </a:rPr>
              <a:t>つのゲートがセル状態を緻密にコントロールします</a:t>
            </a:r>
            <a:endParaRPr b="0" lang="en-US" sz="2170" spc="-1" strike="noStrike">
              <a:solidFill>
                <a:srgbClr val="000000"/>
              </a:solidFill>
              <a:latin typeface="Times New Roman"/>
            </a:endParaRPr>
          </a:p>
        </p:txBody>
      </p:sp>
      <p:sp>
        <p:nvSpPr>
          <p:cNvPr id="109" name=""/>
          <p:cNvSpPr/>
          <p:nvPr/>
        </p:nvSpPr>
        <p:spPr>
          <a:xfrm>
            <a:off x="809280" y="19904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0" name=""/>
          <p:cNvSpPr txBox="1"/>
          <p:nvPr/>
        </p:nvSpPr>
        <p:spPr>
          <a:xfrm>
            <a:off x="3442680" y="1438200"/>
            <a:ext cx="54986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LSTM</a:t>
            </a:r>
            <a:r>
              <a:rPr b="0" lang="zh-CN" sz="2170" spc="-1" strike="noStrike">
                <a:solidFill>
                  <a:srgbClr val="111111"/>
                </a:solidFill>
                <a:latin typeface="NotoSansJP"/>
                <a:ea typeface="NotoSansJP"/>
              </a:rPr>
              <a:t>セルのアーキテクチャ </a:t>
            </a:r>
            <a:r>
              <a:rPr b="0" lang="en-US" sz="2170" spc="-1" strike="noStrike">
                <a:solidFill>
                  <a:srgbClr val="111111"/>
                </a:solidFill>
                <a:latin typeface="NotoSansJP"/>
                <a:ea typeface="NotoSansJP"/>
              </a:rPr>
              <a:t>(Figure 3)]</a:t>
            </a:r>
            <a:endParaRPr b="0" lang="en-US" sz="2170" spc="-1" strike="noStrike">
              <a:solidFill>
                <a:srgbClr val="000000"/>
              </a:solidFill>
              <a:latin typeface="Times New Roman"/>
            </a:endParaRPr>
          </a:p>
        </p:txBody>
      </p:sp>
      <p:sp>
        <p:nvSpPr>
          <p:cNvPr id="111" name=""/>
          <p:cNvSpPr/>
          <p:nvPr/>
        </p:nvSpPr>
        <p:spPr>
          <a:xfrm>
            <a:off x="1361880" y="2504880"/>
            <a:ext cx="105120" cy="105120"/>
          </a:xfrm>
          <a:custGeom>
            <a:avLst/>
            <a:gdLst/>
            <a:ahLst/>
            <a:rect l="0" t="0" r="r" b="b"/>
            <a:pathLst>
              <a:path w="292" h="292">
                <a:moveTo>
                  <a:pt x="292" y="146"/>
                </a:moveTo>
                <a:cubicBezTo>
                  <a:pt x="292" y="155"/>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49"/>
                  <a:pt x="43" y="43"/>
                </a:cubicBezTo>
                <a:cubicBezTo>
                  <a:pt x="49" y="36"/>
                  <a:pt x="57" y="30"/>
                  <a:pt x="65" y="25"/>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5"/>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12" name=""/>
          <p:cNvSpPr txBox="1"/>
          <p:nvPr/>
        </p:nvSpPr>
        <p:spPr>
          <a:xfrm>
            <a:off x="1085760" y="1847880"/>
            <a:ext cx="31021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忘却ゲート </a:t>
            </a:r>
            <a:r>
              <a:rPr b="0" lang="en-US" sz="2170" spc="-1" strike="noStrike">
                <a:solidFill>
                  <a:srgbClr val="111111"/>
                </a:solidFill>
                <a:latin typeface="NotoSansJP"/>
                <a:ea typeface="NotoSansJP"/>
              </a:rPr>
              <a:t>(Forget Gate)</a:t>
            </a:r>
            <a:endParaRPr b="0" lang="en-US" sz="2170" spc="-1" strike="noStrike">
              <a:solidFill>
                <a:srgbClr val="000000"/>
              </a:solidFill>
              <a:latin typeface="Times New Roman"/>
            </a:endParaRPr>
          </a:p>
        </p:txBody>
      </p:sp>
      <p:sp>
        <p:nvSpPr>
          <p:cNvPr id="113" name=""/>
          <p:cNvSpPr/>
          <p:nvPr/>
        </p:nvSpPr>
        <p:spPr>
          <a:xfrm>
            <a:off x="809280" y="2990520"/>
            <a:ext cx="105120" cy="105120"/>
          </a:xfrm>
          <a:custGeom>
            <a:avLst/>
            <a:gdLst/>
            <a:ahLst/>
            <a:rect l="0" t="0" r="r" b="b"/>
            <a:pathLst>
              <a:path w="292" h="292">
                <a:moveTo>
                  <a:pt x="292" y="146"/>
                </a:moveTo>
                <a:cubicBezTo>
                  <a:pt x="292" y="155"/>
                  <a:pt x="292" y="165"/>
                  <a:pt x="290" y="174"/>
                </a:cubicBezTo>
                <a:cubicBezTo>
                  <a:pt x="288" y="184"/>
                  <a:pt x="285" y="193"/>
                  <a:pt x="281" y="202"/>
                </a:cubicBezTo>
                <a:cubicBezTo>
                  <a:pt x="278" y="210"/>
                  <a:pt x="273" y="219"/>
                  <a:pt x="268" y="227"/>
                </a:cubicBezTo>
                <a:cubicBezTo>
                  <a:pt x="263" y="235"/>
                  <a:pt x="257" y="242"/>
                  <a:pt x="250" y="249"/>
                </a:cubicBezTo>
                <a:cubicBezTo>
                  <a:pt x="243" y="256"/>
                  <a:pt x="236" y="262"/>
                  <a:pt x="228" y="267"/>
                </a:cubicBezTo>
                <a:cubicBezTo>
                  <a:pt x="219" y="272"/>
                  <a:pt x="210" y="277"/>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7"/>
                  <a:pt x="73" y="272"/>
                  <a:pt x="65" y="267"/>
                </a:cubicBezTo>
                <a:cubicBezTo>
                  <a:pt x="57" y="262"/>
                  <a:pt x="50" y="256"/>
                  <a:pt x="43" y="249"/>
                </a:cubicBezTo>
                <a:cubicBezTo>
                  <a:pt x="36" y="242"/>
                  <a:pt x="30" y="235"/>
                  <a:pt x="25" y="227"/>
                </a:cubicBezTo>
                <a:cubicBezTo>
                  <a:pt x="20" y="219"/>
                  <a:pt x="15" y="210"/>
                  <a:pt x="12" y="202"/>
                </a:cubicBezTo>
                <a:cubicBezTo>
                  <a:pt x="8" y="193"/>
                  <a:pt x="5" y="184"/>
                  <a:pt x="3" y="174"/>
                </a:cubicBezTo>
                <a:cubicBezTo>
                  <a:pt x="1" y="165"/>
                  <a:pt x="0" y="155"/>
                  <a:pt x="0" y="146"/>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4" name=""/>
          <p:cNvSpPr txBox="1"/>
          <p:nvPr/>
        </p:nvSpPr>
        <p:spPr>
          <a:xfrm>
            <a:off x="1638360" y="2362320"/>
            <a:ext cx="55177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過去のセル状態から、不要な情報を削除する</a:t>
            </a:r>
            <a:endParaRPr b="0" lang="en-US" sz="2170" spc="-1" strike="noStrike">
              <a:solidFill>
                <a:srgbClr val="000000"/>
              </a:solidFill>
              <a:latin typeface="Times New Roman"/>
            </a:endParaRPr>
          </a:p>
        </p:txBody>
      </p:sp>
      <p:sp>
        <p:nvSpPr>
          <p:cNvPr id="115" name=""/>
          <p:cNvSpPr/>
          <p:nvPr/>
        </p:nvSpPr>
        <p:spPr>
          <a:xfrm>
            <a:off x="1361880" y="349560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8"/>
                  <a:pt x="7" y="99"/>
                  <a:pt x="11" y="91"/>
                </a:cubicBezTo>
                <a:cubicBezTo>
                  <a:pt x="15" y="82"/>
                  <a:pt x="19" y="73"/>
                  <a:pt x="25" y="65"/>
                </a:cubicBezTo>
                <a:cubicBezTo>
                  <a:pt x="30" y="57"/>
                  <a:pt x="36" y="50"/>
                  <a:pt x="43" y="43"/>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3"/>
                </a:cubicBezTo>
                <a:cubicBezTo>
                  <a:pt x="256" y="50"/>
                  <a:pt x="262" y="57"/>
                  <a:pt x="268" y="65"/>
                </a:cubicBezTo>
                <a:cubicBezTo>
                  <a:pt x="273" y="73"/>
                  <a:pt x="277" y="82"/>
                  <a:pt x="281" y="91"/>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16" name=""/>
          <p:cNvSpPr txBox="1"/>
          <p:nvPr/>
        </p:nvSpPr>
        <p:spPr>
          <a:xfrm>
            <a:off x="1085760" y="2847960"/>
            <a:ext cx="29498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入力ゲート </a:t>
            </a:r>
            <a:r>
              <a:rPr b="0" lang="en-US" sz="2170" spc="-1" strike="noStrike">
                <a:solidFill>
                  <a:srgbClr val="111111"/>
                </a:solidFill>
                <a:latin typeface="NotoSansJP"/>
                <a:ea typeface="NotoSansJP"/>
              </a:rPr>
              <a:t>(Input Gate)</a:t>
            </a:r>
            <a:endParaRPr b="0" lang="en-US" sz="2170" spc="-1" strike="noStrike">
              <a:solidFill>
                <a:srgbClr val="000000"/>
              </a:solidFill>
              <a:latin typeface="Times New Roman"/>
            </a:endParaRPr>
          </a:p>
        </p:txBody>
      </p:sp>
      <p:sp>
        <p:nvSpPr>
          <p:cNvPr id="117" name=""/>
          <p:cNvSpPr/>
          <p:nvPr/>
        </p:nvSpPr>
        <p:spPr>
          <a:xfrm>
            <a:off x="809280" y="398124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20"/>
                  <a:pt x="268" y="227"/>
                </a:cubicBezTo>
                <a:cubicBezTo>
                  <a:pt x="263" y="235"/>
                  <a:pt x="257" y="243"/>
                  <a:pt x="250" y="250"/>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50"/>
                </a:cubicBezTo>
                <a:cubicBezTo>
                  <a:pt x="36" y="243"/>
                  <a:pt x="30" y="235"/>
                  <a:pt x="25" y="227"/>
                </a:cubicBezTo>
                <a:cubicBezTo>
                  <a:pt x="20" y="220"/>
                  <a:pt x="15" y="211"/>
                  <a:pt x="12" y="202"/>
                </a:cubicBezTo>
                <a:cubicBezTo>
                  <a:pt x="8" y="193"/>
                  <a:pt x="5" y="184"/>
                  <a:pt x="3" y="175"/>
                </a:cubicBezTo>
                <a:cubicBezTo>
                  <a:pt x="1" y="166"/>
                  <a:pt x="0" y="156"/>
                  <a:pt x="0" y="147"/>
                </a:cubicBezTo>
                <a:cubicBezTo>
                  <a:pt x="0" y="136"/>
                  <a:pt x="1" y="127"/>
                  <a:pt x="3" y="117"/>
                </a:cubicBezTo>
                <a:cubicBezTo>
                  <a:pt x="5" y="108"/>
                  <a:pt x="8" y="99"/>
                  <a:pt x="12" y="90"/>
                </a:cubicBezTo>
                <a:cubicBezTo>
                  <a:pt x="15" y="81"/>
                  <a:pt x="20" y="73"/>
                  <a:pt x="25" y="65"/>
                </a:cubicBezTo>
                <a:cubicBezTo>
                  <a:pt x="30" y="57"/>
                  <a:pt x="36" y="49"/>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49"/>
                  <a:pt x="263" y="57"/>
                  <a:pt x="268" y="65"/>
                </a:cubicBezTo>
                <a:cubicBezTo>
                  <a:pt x="273" y="73"/>
                  <a:pt x="278" y="81"/>
                  <a:pt x="281" y="90"/>
                </a:cubicBezTo>
                <a:cubicBezTo>
                  <a:pt x="285" y="99"/>
                  <a:pt x="288" y="108"/>
                  <a:pt x="290" y="117"/>
                </a:cubicBezTo>
                <a:cubicBezTo>
                  <a:pt x="292"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8" name=""/>
          <p:cNvSpPr txBox="1"/>
          <p:nvPr/>
        </p:nvSpPr>
        <p:spPr>
          <a:xfrm>
            <a:off x="1638360" y="335268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現在の入力から、セル状態に追加すべき新しい情報を選択する</a:t>
            </a:r>
            <a:endParaRPr b="0" lang="en-US" sz="2170" spc="-1" strike="noStrike">
              <a:solidFill>
                <a:srgbClr val="000000"/>
              </a:solidFill>
              <a:latin typeface="Times New Roman"/>
            </a:endParaRPr>
          </a:p>
        </p:txBody>
      </p:sp>
      <p:sp>
        <p:nvSpPr>
          <p:cNvPr id="119" name=""/>
          <p:cNvSpPr/>
          <p:nvPr/>
        </p:nvSpPr>
        <p:spPr>
          <a:xfrm>
            <a:off x="1361880" y="4485960"/>
            <a:ext cx="105120" cy="105120"/>
          </a:xfrm>
          <a:custGeom>
            <a:avLst/>
            <a:gdLst/>
            <a:ahLst/>
            <a:rect l="0" t="0" r="r" b="b"/>
            <a:pathLst>
              <a:path w="292" h="292">
                <a:moveTo>
                  <a:pt x="292" y="146"/>
                </a:moveTo>
                <a:cubicBezTo>
                  <a:pt x="292" y="155"/>
                  <a:pt x="291" y="165"/>
                  <a:pt x="289" y="174"/>
                </a:cubicBezTo>
                <a:cubicBezTo>
                  <a:pt x="287" y="184"/>
                  <a:pt x="285" y="193"/>
                  <a:pt x="281" y="203"/>
                </a:cubicBezTo>
                <a:cubicBezTo>
                  <a:pt x="277" y="211"/>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1"/>
                  <a:pt x="11" y="203"/>
                </a:cubicBezTo>
                <a:cubicBezTo>
                  <a:pt x="7" y="193"/>
                  <a:pt x="5" y="184"/>
                  <a:pt x="3" y="174"/>
                </a:cubicBezTo>
                <a:cubicBezTo>
                  <a:pt x="1" y="165"/>
                  <a:pt x="0" y="155"/>
                  <a:pt x="0" y="146"/>
                </a:cubicBezTo>
                <a:cubicBezTo>
                  <a:pt x="0" y="136"/>
                  <a:pt x="1" y="127"/>
                  <a:pt x="3" y="118"/>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8"/>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20" name=""/>
          <p:cNvSpPr txBox="1"/>
          <p:nvPr/>
        </p:nvSpPr>
        <p:spPr>
          <a:xfrm>
            <a:off x="1085760" y="3838680"/>
            <a:ext cx="31676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出力ゲート </a:t>
            </a:r>
            <a:r>
              <a:rPr b="0" lang="en-US" sz="2170" spc="-1" strike="noStrike">
                <a:solidFill>
                  <a:srgbClr val="111111"/>
                </a:solidFill>
                <a:latin typeface="NotoSansJP"/>
                <a:ea typeface="NotoSansJP"/>
              </a:rPr>
              <a:t>(Output Gate)</a:t>
            </a:r>
            <a:endParaRPr b="0" lang="en-US" sz="2170" spc="-1" strike="noStrike">
              <a:solidFill>
                <a:srgbClr val="000000"/>
              </a:solidFill>
              <a:latin typeface="Times New Roman"/>
            </a:endParaRPr>
          </a:p>
        </p:txBody>
      </p:sp>
      <p:sp>
        <p:nvSpPr>
          <p:cNvPr id="121" name=""/>
          <p:cNvSpPr txBox="1"/>
          <p:nvPr/>
        </p:nvSpPr>
        <p:spPr>
          <a:xfrm>
            <a:off x="1638360" y="4343400"/>
            <a:ext cx="99309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更新されたセル状態に基づき、次の隠れ状態（短期記憶）として何を出力するか</a:t>
            </a:r>
            <a:endParaRPr b="0" lang="en-US" sz="2170" spc="-1" strike="noStrike">
              <a:solidFill>
                <a:srgbClr val="000000"/>
              </a:solidFill>
              <a:latin typeface="Times New Roman"/>
            </a:endParaRPr>
          </a:p>
        </p:txBody>
      </p:sp>
      <p:sp>
        <p:nvSpPr>
          <p:cNvPr id="122" name=""/>
          <p:cNvSpPr txBox="1"/>
          <p:nvPr/>
        </p:nvSpPr>
        <p:spPr>
          <a:xfrm>
            <a:off x="1638360" y="4762440"/>
            <a:ext cx="13798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を決定する</a:t>
            </a:r>
            <a:endParaRPr b="0" lang="en-US" sz="2170" spc="-1" strike="noStrike">
              <a:solidFill>
                <a:srgbClr val="000000"/>
              </a:solidFill>
              <a:latin typeface="Times New Roman"/>
            </a:endParaRPr>
          </a:p>
        </p:txBody>
      </p:sp>
      <p:sp>
        <p:nvSpPr>
          <p:cNvPr id="123"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24" name=""/>
          <p:cNvSpPr txBox="1"/>
          <p:nvPr/>
        </p:nvSpPr>
        <p:spPr>
          <a:xfrm>
            <a:off x="914400" y="392400"/>
            <a:ext cx="364212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LSTM</a:t>
            </a:r>
            <a:r>
              <a:rPr b="0" lang="zh-CN" sz="1950" spc="-1" strike="noStrike">
                <a:solidFill>
                  <a:srgbClr val="111111"/>
                </a:solidFill>
                <a:latin typeface="NotoSansJP"/>
                <a:ea typeface="NotoSansJP"/>
              </a:rPr>
              <a:t>セルの内部アーキテクチャ</a:t>
            </a:r>
            <a:endParaRPr b="0" lang="en-US" sz="1950" spc="-1" strike="noStrike">
              <a:solidFill>
                <a:srgbClr val="000000"/>
              </a:solidFill>
              <a:latin typeface="Times New Roman"/>
            </a:endParaRPr>
          </a:p>
        </p:txBody>
      </p:sp>
      <p:sp>
        <p:nvSpPr>
          <p:cNvPr id="125"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6</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9"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30" name="" descr=""/>
          <p:cNvPicPr/>
          <p:nvPr/>
        </p:nvPicPr>
        <p:blipFill>
          <a:blip r:embed="rId1"/>
          <a:stretch/>
        </p:blipFill>
        <p:spPr>
          <a:xfrm>
            <a:off x="10515600" y="38160"/>
            <a:ext cx="1142640" cy="1142640"/>
          </a:xfrm>
          <a:prstGeom prst="rect">
            <a:avLst/>
          </a:prstGeom>
          <a:ln w="0">
            <a:noFill/>
          </a:ln>
        </p:spPr>
      </p:pic>
      <p:sp>
        <p:nvSpPr>
          <p:cNvPr id="131" name=""/>
          <p:cNvSpPr txBox="1"/>
          <p:nvPr/>
        </p:nvSpPr>
        <p:spPr>
          <a:xfrm>
            <a:off x="533520" y="923760"/>
            <a:ext cx="98020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各ゲートはシグモイド関数、セル状態の更新は</a:t>
            </a:r>
            <a:r>
              <a:rPr b="0" lang="en-US" sz="2170" spc="-1" strike="noStrike">
                <a:solidFill>
                  <a:srgbClr val="111111"/>
                </a:solidFill>
                <a:latin typeface="NotoSansJP"/>
                <a:ea typeface="NotoSansJP"/>
              </a:rPr>
              <a:t>tanh</a:t>
            </a:r>
            <a:r>
              <a:rPr b="0" lang="zh-CN" sz="2170" spc="-1" strike="noStrike">
                <a:solidFill>
                  <a:srgbClr val="111111"/>
                </a:solidFill>
                <a:latin typeface="NotoSansJP"/>
                <a:ea typeface="NotoSansJP"/>
              </a:rPr>
              <a:t>関数を用いて計算されます</a:t>
            </a:r>
            <a:endParaRPr b="0" lang="en-US" sz="2170" spc="-1" strike="noStrike">
              <a:solidFill>
                <a:srgbClr val="000000"/>
              </a:solidFill>
              <a:latin typeface="Times New Roman"/>
            </a:endParaRPr>
          </a:p>
        </p:txBody>
      </p:sp>
      <p:sp>
        <p:nvSpPr>
          <p:cNvPr id="132" name=""/>
          <p:cNvSpPr txBox="1"/>
          <p:nvPr/>
        </p:nvSpPr>
        <p:spPr>
          <a:xfrm>
            <a:off x="533520" y="1627920"/>
            <a:ext cx="341208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忘却ゲート </a:t>
            </a:r>
            <a:r>
              <a:rPr b="0" lang="en-US" sz="2390" spc="-1" strike="noStrike">
                <a:solidFill>
                  <a:srgbClr val="111111"/>
                </a:solidFill>
                <a:latin typeface="NotoSansJP"/>
                <a:ea typeface="NotoSansJP"/>
              </a:rPr>
              <a:t>(Forget Gate)</a:t>
            </a:r>
            <a:endParaRPr b="0" lang="en-US" sz="2390" spc="-1" strike="noStrike">
              <a:solidFill>
                <a:srgbClr val="000000"/>
              </a:solidFill>
              <a:latin typeface="Times New Roman"/>
            </a:endParaRPr>
          </a:p>
        </p:txBody>
      </p:sp>
      <p:sp>
        <p:nvSpPr>
          <p:cNvPr id="133" name=""/>
          <p:cNvSpPr txBox="1"/>
          <p:nvPr/>
        </p:nvSpPr>
        <p:spPr>
          <a:xfrm>
            <a:off x="533520" y="2200320"/>
            <a:ext cx="90133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過去の情報をどれだけ忘れるかを決定 </a:t>
            </a:r>
            <a:r>
              <a:rPr b="0" lang="en-US" sz="2170" spc="-1" strike="noStrike">
                <a:solidFill>
                  <a:srgbClr val="111111"/>
                </a:solidFill>
                <a:latin typeface="NotoSansJP"/>
                <a:ea typeface="NotoSansJP"/>
              </a:rPr>
              <a:t>(0: </a:t>
            </a:r>
            <a:r>
              <a:rPr b="0" lang="zh-CN" sz="2170" spc="-1" strike="noStrike">
                <a:solidFill>
                  <a:srgbClr val="111111"/>
                </a:solidFill>
                <a:latin typeface="NotoSansJP"/>
                <a:ea typeface="NotoSansJP"/>
              </a:rPr>
              <a:t>完全に忘れる</a:t>
            </a:r>
            <a:r>
              <a:rPr b="0" lang="en-US" sz="2170" spc="-1" strike="noStrike">
                <a:solidFill>
                  <a:srgbClr val="111111"/>
                </a:solidFill>
                <a:latin typeface="NotoSansJP"/>
                <a:ea typeface="NotoSansJP"/>
              </a:rPr>
              <a:t>, 1: </a:t>
            </a:r>
            <a:r>
              <a:rPr b="0" lang="zh-CN" sz="2170" spc="-1" strike="noStrike">
                <a:solidFill>
                  <a:srgbClr val="111111"/>
                </a:solidFill>
                <a:latin typeface="NotoSansJP"/>
                <a:ea typeface="NotoSansJP"/>
              </a:rPr>
              <a:t>完全に記憶</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34" name=""/>
          <p:cNvSpPr txBox="1"/>
          <p:nvPr/>
        </p:nvSpPr>
        <p:spPr>
          <a:xfrm>
            <a:off x="4607280" y="27849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f</a:t>
            </a:r>
            <a:endParaRPr b="0" lang="en-US" sz="2220" spc="-1" strike="noStrike">
              <a:solidFill>
                <a:srgbClr val="000000"/>
              </a:solidFill>
              <a:latin typeface="Times New Roman"/>
            </a:endParaRPr>
          </a:p>
        </p:txBody>
      </p:sp>
      <p:sp>
        <p:nvSpPr>
          <p:cNvPr id="135" name=""/>
          <p:cNvSpPr txBox="1"/>
          <p:nvPr/>
        </p:nvSpPr>
        <p:spPr>
          <a:xfrm>
            <a:off x="4865760" y="27849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a:t>
            </a:r>
            <a:endParaRPr b="0" lang="en-US" sz="2220" spc="-1" strike="noStrike">
              <a:solidFill>
                <a:srgbClr val="000000"/>
              </a:solidFill>
              <a:latin typeface="Times New Roman"/>
            </a:endParaRPr>
          </a:p>
        </p:txBody>
      </p:sp>
      <p:sp>
        <p:nvSpPr>
          <p:cNvPr id="136" name=""/>
          <p:cNvSpPr txBox="1"/>
          <p:nvPr/>
        </p:nvSpPr>
        <p:spPr>
          <a:xfrm>
            <a:off x="4699080" y="29134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37" name=""/>
          <p:cNvSpPr txBox="1"/>
          <p:nvPr/>
        </p:nvSpPr>
        <p:spPr>
          <a:xfrm>
            <a:off x="5100120" y="2759400"/>
            <a:ext cx="281520" cy="408960"/>
          </a:xfrm>
          <a:prstGeom prst="rect">
            <a:avLst/>
          </a:prstGeom>
          <a:noFill/>
          <a:ln w="0">
            <a:noFill/>
          </a:ln>
        </p:spPr>
        <p:txBody>
          <a:bodyPr wrap="none" lIns="0" rIns="0" tIns="0" bIns="0" anchor="t">
            <a:noAutofit/>
          </a:bodyPr>
          <a:p>
            <a:r>
              <a:rPr b="0" lang="en-US" sz="2220" spc="-1" strike="noStrike">
                <a:solidFill>
                  <a:srgbClr val="111111"/>
                </a:solidFill>
                <a:latin typeface="NotoSansCJKjp"/>
                <a:ea typeface="NotoSansCJKjp"/>
              </a:rPr>
              <a:t>σ</a:t>
            </a:r>
            <a:endParaRPr b="0" lang="en-US" sz="2220" spc="-1" strike="noStrike">
              <a:solidFill>
                <a:srgbClr val="000000"/>
              </a:solidFill>
              <a:latin typeface="Times New Roman"/>
            </a:endParaRPr>
          </a:p>
        </p:txBody>
      </p:sp>
      <p:sp>
        <p:nvSpPr>
          <p:cNvPr id="138" name=""/>
          <p:cNvSpPr txBox="1"/>
          <p:nvPr/>
        </p:nvSpPr>
        <p:spPr>
          <a:xfrm>
            <a:off x="5281920" y="2784960"/>
            <a:ext cx="451800" cy="42084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(W</a:t>
            </a:r>
            <a:r>
              <a:rPr b="0" lang="en-US" sz="2220" spc="-1" strike="noStrike">
                <a:solidFill>
                  <a:srgbClr val="111111"/>
                </a:solidFill>
                <a:latin typeface="NotoSansMath"/>
                <a:ea typeface="NotoSansMath"/>
              </a:rPr>
              <a:t> ⋅</a:t>
            </a:r>
            <a:endParaRPr b="0" lang="en-US" sz="2220" spc="-1" strike="noStrike">
              <a:solidFill>
                <a:srgbClr val="000000"/>
              </a:solidFill>
              <a:latin typeface="Times New Roman"/>
            </a:endParaRPr>
          </a:p>
        </p:txBody>
      </p:sp>
      <p:sp>
        <p:nvSpPr>
          <p:cNvPr id="139" name=""/>
          <p:cNvSpPr txBox="1"/>
          <p:nvPr/>
        </p:nvSpPr>
        <p:spPr>
          <a:xfrm>
            <a:off x="5624640" y="29134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f</a:t>
            </a:r>
            <a:endParaRPr b="0" lang="en-US" sz="1560" spc="-1" strike="noStrike">
              <a:solidFill>
                <a:srgbClr val="000000"/>
              </a:solidFill>
              <a:latin typeface="Times New Roman"/>
            </a:endParaRPr>
          </a:p>
        </p:txBody>
      </p:sp>
      <p:sp>
        <p:nvSpPr>
          <p:cNvPr id="140" name=""/>
          <p:cNvSpPr txBox="1"/>
          <p:nvPr/>
        </p:nvSpPr>
        <p:spPr>
          <a:xfrm>
            <a:off x="5911560" y="27849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[h</a:t>
            </a:r>
            <a:endParaRPr b="0" lang="en-US" sz="2220" spc="-1" strike="noStrike">
              <a:solidFill>
                <a:srgbClr val="000000"/>
              </a:solidFill>
              <a:latin typeface="Times New Roman"/>
            </a:endParaRPr>
          </a:p>
        </p:txBody>
      </p:sp>
      <p:sp>
        <p:nvSpPr>
          <p:cNvPr id="141" name=""/>
          <p:cNvSpPr txBox="1"/>
          <p:nvPr/>
        </p:nvSpPr>
        <p:spPr>
          <a:xfrm>
            <a:off x="6485040" y="2784960"/>
            <a:ext cx="6559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 x ] +</a:t>
            </a:r>
            <a:endParaRPr b="0" lang="en-US" sz="2220" spc="-1" strike="noStrike">
              <a:solidFill>
                <a:srgbClr val="000000"/>
              </a:solidFill>
              <a:latin typeface="Times New Roman"/>
            </a:endParaRPr>
          </a:p>
        </p:txBody>
      </p:sp>
      <p:sp>
        <p:nvSpPr>
          <p:cNvPr id="142" name=""/>
          <p:cNvSpPr txBox="1"/>
          <p:nvPr/>
        </p:nvSpPr>
        <p:spPr>
          <a:xfrm>
            <a:off x="6177960" y="2913480"/>
            <a:ext cx="34200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t−1</a:t>
            </a:r>
            <a:endParaRPr b="0" lang="en-US" sz="1560" spc="-1" strike="noStrike">
              <a:solidFill>
                <a:srgbClr val="000000"/>
              </a:solidFill>
              <a:latin typeface="Times New Roman"/>
            </a:endParaRPr>
          </a:p>
        </p:txBody>
      </p:sp>
      <p:sp>
        <p:nvSpPr>
          <p:cNvPr id="143" name=""/>
          <p:cNvSpPr txBox="1"/>
          <p:nvPr/>
        </p:nvSpPr>
        <p:spPr>
          <a:xfrm>
            <a:off x="6750720" y="29134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44" name=""/>
          <p:cNvSpPr txBox="1"/>
          <p:nvPr/>
        </p:nvSpPr>
        <p:spPr>
          <a:xfrm>
            <a:off x="7215840" y="2784960"/>
            <a:ext cx="30996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b )</a:t>
            </a:r>
            <a:endParaRPr b="0" lang="en-US" sz="2220" spc="-1" strike="noStrike">
              <a:solidFill>
                <a:srgbClr val="000000"/>
              </a:solidFill>
              <a:latin typeface="Times New Roman"/>
            </a:endParaRPr>
          </a:p>
        </p:txBody>
      </p:sp>
      <p:sp>
        <p:nvSpPr>
          <p:cNvPr id="145" name=""/>
          <p:cNvSpPr txBox="1"/>
          <p:nvPr/>
        </p:nvSpPr>
        <p:spPr>
          <a:xfrm>
            <a:off x="7390080" y="29134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f</a:t>
            </a:r>
            <a:endParaRPr b="0" lang="en-US" sz="1560" spc="-1" strike="noStrike">
              <a:solidFill>
                <a:srgbClr val="000000"/>
              </a:solidFill>
              <a:latin typeface="Times New Roman"/>
            </a:endParaRPr>
          </a:p>
        </p:txBody>
      </p:sp>
      <p:sp>
        <p:nvSpPr>
          <p:cNvPr id="146" name=""/>
          <p:cNvSpPr txBox="1"/>
          <p:nvPr/>
        </p:nvSpPr>
        <p:spPr>
          <a:xfrm>
            <a:off x="533520" y="3685320"/>
            <a:ext cx="324432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入力ゲート </a:t>
            </a:r>
            <a:r>
              <a:rPr b="0" lang="en-US" sz="2390" spc="-1" strike="noStrike">
                <a:solidFill>
                  <a:srgbClr val="111111"/>
                </a:solidFill>
                <a:latin typeface="NotoSansJP"/>
                <a:ea typeface="NotoSansJP"/>
              </a:rPr>
              <a:t>(Input Gate)</a:t>
            </a:r>
            <a:endParaRPr b="0" lang="en-US" sz="2390" spc="-1" strike="noStrike">
              <a:solidFill>
                <a:srgbClr val="000000"/>
              </a:solidFill>
              <a:latin typeface="Times New Roman"/>
            </a:endParaRPr>
          </a:p>
        </p:txBody>
      </p:sp>
      <p:sp>
        <p:nvSpPr>
          <p:cNvPr id="147" name=""/>
          <p:cNvSpPr txBox="1"/>
          <p:nvPr/>
        </p:nvSpPr>
        <p:spPr>
          <a:xfrm>
            <a:off x="533520" y="424800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新しい情報をセル状態に加える</a:t>
            </a:r>
            <a:endParaRPr b="0" lang="en-US" sz="2170" spc="-1" strike="noStrike">
              <a:solidFill>
                <a:srgbClr val="000000"/>
              </a:solidFill>
              <a:latin typeface="Times New Roman"/>
            </a:endParaRPr>
          </a:p>
        </p:txBody>
      </p:sp>
      <p:sp>
        <p:nvSpPr>
          <p:cNvPr id="148" name=""/>
          <p:cNvSpPr txBox="1"/>
          <p:nvPr/>
        </p:nvSpPr>
        <p:spPr>
          <a:xfrm>
            <a:off x="4667040" y="48423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a:t>
            </a:r>
            <a:endParaRPr b="0" lang="en-US" sz="2220" spc="-1" strike="noStrike">
              <a:solidFill>
                <a:srgbClr val="000000"/>
              </a:solidFill>
              <a:latin typeface="Times New Roman"/>
            </a:endParaRPr>
          </a:p>
        </p:txBody>
      </p:sp>
      <p:sp>
        <p:nvSpPr>
          <p:cNvPr id="149" name=""/>
          <p:cNvSpPr txBox="1"/>
          <p:nvPr/>
        </p:nvSpPr>
        <p:spPr>
          <a:xfrm>
            <a:off x="4356720" y="48423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c</a:t>
            </a:r>
            <a:endParaRPr b="0" lang="en-US" sz="2220" spc="-1" strike="noStrike">
              <a:solidFill>
                <a:srgbClr val="000000"/>
              </a:solidFill>
              <a:latin typeface="Times New Roman"/>
            </a:endParaRPr>
          </a:p>
        </p:txBody>
      </p:sp>
      <p:sp>
        <p:nvSpPr>
          <p:cNvPr id="150" name=""/>
          <p:cNvSpPr txBox="1"/>
          <p:nvPr/>
        </p:nvSpPr>
        <p:spPr>
          <a:xfrm>
            <a:off x="4374000" y="47469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a:t>
            </a:r>
            <a:endParaRPr b="0" lang="en-US" sz="2220" spc="-1" strike="noStrike">
              <a:solidFill>
                <a:srgbClr val="000000"/>
              </a:solidFill>
              <a:latin typeface="Times New Roman"/>
            </a:endParaRPr>
          </a:p>
        </p:txBody>
      </p:sp>
      <p:sp>
        <p:nvSpPr>
          <p:cNvPr id="151" name=""/>
          <p:cNvSpPr txBox="1"/>
          <p:nvPr/>
        </p:nvSpPr>
        <p:spPr>
          <a:xfrm>
            <a:off x="4500720" y="49708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52" name=""/>
          <p:cNvSpPr txBox="1"/>
          <p:nvPr/>
        </p:nvSpPr>
        <p:spPr>
          <a:xfrm>
            <a:off x="4901760" y="4842360"/>
            <a:ext cx="1009800" cy="42084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tanh(W</a:t>
            </a:r>
            <a:r>
              <a:rPr b="0" lang="en-US" sz="2220" spc="-1" strike="noStrike">
                <a:solidFill>
                  <a:srgbClr val="111111"/>
                </a:solidFill>
                <a:latin typeface="NotoSansMath"/>
                <a:ea typeface="NotoSansMath"/>
              </a:rPr>
              <a:t> ⋅</a:t>
            </a:r>
            <a:endParaRPr b="0" lang="en-US" sz="2220" spc="-1" strike="noStrike">
              <a:solidFill>
                <a:srgbClr val="000000"/>
              </a:solidFill>
              <a:latin typeface="Times New Roman"/>
            </a:endParaRPr>
          </a:p>
        </p:txBody>
      </p:sp>
      <p:sp>
        <p:nvSpPr>
          <p:cNvPr id="153" name=""/>
          <p:cNvSpPr txBox="1"/>
          <p:nvPr/>
        </p:nvSpPr>
        <p:spPr>
          <a:xfrm>
            <a:off x="5844600" y="49708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c</a:t>
            </a:r>
            <a:endParaRPr b="0" lang="en-US" sz="1560" spc="-1" strike="noStrike">
              <a:solidFill>
                <a:srgbClr val="000000"/>
              </a:solidFill>
              <a:latin typeface="Times New Roman"/>
            </a:endParaRPr>
          </a:p>
        </p:txBody>
      </p:sp>
      <p:sp>
        <p:nvSpPr>
          <p:cNvPr id="154" name=""/>
          <p:cNvSpPr txBox="1"/>
          <p:nvPr/>
        </p:nvSpPr>
        <p:spPr>
          <a:xfrm>
            <a:off x="6147000" y="48423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[h</a:t>
            </a:r>
            <a:endParaRPr b="0" lang="en-US" sz="2220" spc="-1" strike="noStrike">
              <a:solidFill>
                <a:srgbClr val="000000"/>
              </a:solidFill>
              <a:latin typeface="Times New Roman"/>
            </a:endParaRPr>
          </a:p>
        </p:txBody>
      </p:sp>
      <p:sp>
        <p:nvSpPr>
          <p:cNvPr id="155" name=""/>
          <p:cNvSpPr txBox="1"/>
          <p:nvPr/>
        </p:nvSpPr>
        <p:spPr>
          <a:xfrm>
            <a:off x="6720480" y="4842360"/>
            <a:ext cx="6559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 x ] +</a:t>
            </a:r>
            <a:endParaRPr b="0" lang="en-US" sz="2220" spc="-1" strike="noStrike">
              <a:solidFill>
                <a:srgbClr val="000000"/>
              </a:solidFill>
              <a:latin typeface="Times New Roman"/>
            </a:endParaRPr>
          </a:p>
        </p:txBody>
      </p:sp>
      <p:sp>
        <p:nvSpPr>
          <p:cNvPr id="156" name=""/>
          <p:cNvSpPr txBox="1"/>
          <p:nvPr/>
        </p:nvSpPr>
        <p:spPr>
          <a:xfrm>
            <a:off x="6413400" y="4970880"/>
            <a:ext cx="34200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t−1</a:t>
            </a:r>
            <a:endParaRPr b="0" lang="en-US" sz="1560" spc="-1" strike="noStrike">
              <a:solidFill>
                <a:srgbClr val="000000"/>
              </a:solidFill>
              <a:latin typeface="Times New Roman"/>
            </a:endParaRPr>
          </a:p>
        </p:txBody>
      </p:sp>
      <p:sp>
        <p:nvSpPr>
          <p:cNvPr id="157" name=""/>
          <p:cNvSpPr txBox="1"/>
          <p:nvPr/>
        </p:nvSpPr>
        <p:spPr>
          <a:xfrm>
            <a:off x="6986160" y="49708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58" name=""/>
          <p:cNvSpPr txBox="1"/>
          <p:nvPr/>
        </p:nvSpPr>
        <p:spPr>
          <a:xfrm>
            <a:off x="7451280" y="4842360"/>
            <a:ext cx="30996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b )</a:t>
            </a:r>
            <a:endParaRPr b="0" lang="en-US" sz="2220" spc="-1" strike="noStrike">
              <a:solidFill>
                <a:srgbClr val="000000"/>
              </a:solidFill>
              <a:latin typeface="Times New Roman"/>
            </a:endParaRPr>
          </a:p>
        </p:txBody>
      </p:sp>
      <p:sp>
        <p:nvSpPr>
          <p:cNvPr id="159" name=""/>
          <p:cNvSpPr txBox="1"/>
          <p:nvPr/>
        </p:nvSpPr>
        <p:spPr>
          <a:xfrm>
            <a:off x="7625520" y="49708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c</a:t>
            </a:r>
            <a:endParaRPr b="0" lang="en-US" sz="1560" spc="-1" strike="noStrike">
              <a:solidFill>
                <a:srgbClr val="000000"/>
              </a:solidFill>
              <a:latin typeface="Times New Roman"/>
            </a:endParaRPr>
          </a:p>
        </p:txBody>
      </p:sp>
      <p:sp>
        <p:nvSpPr>
          <p:cNvPr id="160" name=""/>
          <p:cNvSpPr txBox="1"/>
          <p:nvPr/>
        </p:nvSpPr>
        <p:spPr>
          <a:xfrm>
            <a:off x="4425480" y="5613840"/>
            <a:ext cx="47484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m =</a:t>
            </a:r>
            <a:endParaRPr b="0" lang="en-US" sz="2220" spc="-1" strike="noStrike">
              <a:solidFill>
                <a:srgbClr val="000000"/>
              </a:solidFill>
              <a:latin typeface="Times New Roman"/>
            </a:endParaRPr>
          </a:p>
        </p:txBody>
      </p:sp>
      <p:sp>
        <p:nvSpPr>
          <p:cNvPr id="161" name=""/>
          <p:cNvSpPr txBox="1"/>
          <p:nvPr/>
        </p:nvSpPr>
        <p:spPr>
          <a:xfrm>
            <a:off x="4686480" y="574236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62" name=""/>
          <p:cNvSpPr txBox="1"/>
          <p:nvPr/>
        </p:nvSpPr>
        <p:spPr>
          <a:xfrm>
            <a:off x="5087520" y="5588280"/>
            <a:ext cx="281520" cy="408960"/>
          </a:xfrm>
          <a:prstGeom prst="rect">
            <a:avLst/>
          </a:prstGeom>
          <a:noFill/>
          <a:ln w="0">
            <a:noFill/>
          </a:ln>
        </p:spPr>
        <p:txBody>
          <a:bodyPr wrap="none" lIns="0" rIns="0" tIns="0" bIns="0" anchor="t">
            <a:noAutofit/>
          </a:bodyPr>
          <a:p>
            <a:r>
              <a:rPr b="0" lang="en-US" sz="2220" spc="-1" strike="noStrike">
                <a:solidFill>
                  <a:srgbClr val="111111"/>
                </a:solidFill>
                <a:latin typeface="NotoSansCJKjp"/>
                <a:ea typeface="NotoSansCJKjp"/>
              </a:rPr>
              <a:t>σ</a:t>
            </a:r>
            <a:endParaRPr b="0" lang="en-US" sz="2220" spc="-1" strike="noStrike">
              <a:solidFill>
                <a:srgbClr val="000000"/>
              </a:solidFill>
              <a:latin typeface="Times New Roman"/>
            </a:endParaRPr>
          </a:p>
        </p:txBody>
      </p:sp>
      <p:sp>
        <p:nvSpPr>
          <p:cNvPr id="163" name=""/>
          <p:cNvSpPr txBox="1"/>
          <p:nvPr/>
        </p:nvSpPr>
        <p:spPr>
          <a:xfrm>
            <a:off x="5268960" y="5613840"/>
            <a:ext cx="451800" cy="42084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(W</a:t>
            </a:r>
            <a:r>
              <a:rPr b="0" lang="en-US" sz="2220" spc="-1" strike="noStrike">
                <a:solidFill>
                  <a:srgbClr val="111111"/>
                </a:solidFill>
                <a:latin typeface="NotoSansMath"/>
                <a:ea typeface="NotoSansMath"/>
              </a:rPr>
              <a:t> ⋅</a:t>
            </a:r>
            <a:endParaRPr b="0" lang="en-US" sz="2220" spc="-1" strike="noStrike">
              <a:solidFill>
                <a:srgbClr val="000000"/>
              </a:solidFill>
              <a:latin typeface="Times New Roman"/>
            </a:endParaRPr>
          </a:p>
        </p:txBody>
      </p:sp>
      <p:sp>
        <p:nvSpPr>
          <p:cNvPr id="164" name=""/>
          <p:cNvSpPr txBox="1"/>
          <p:nvPr/>
        </p:nvSpPr>
        <p:spPr>
          <a:xfrm>
            <a:off x="5612040" y="574236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m</a:t>
            </a:r>
            <a:endParaRPr b="0" lang="en-US" sz="1560" spc="-1" strike="noStrike">
              <a:solidFill>
                <a:srgbClr val="000000"/>
              </a:solidFill>
              <a:latin typeface="Times New Roman"/>
            </a:endParaRPr>
          </a:p>
        </p:txBody>
      </p:sp>
      <p:sp>
        <p:nvSpPr>
          <p:cNvPr id="165" name=""/>
          <p:cNvSpPr txBox="1"/>
          <p:nvPr/>
        </p:nvSpPr>
        <p:spPr>
          <a:xfrm>
            <a:off x="5996160" y="561384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[h</a:t>
            </a:r>
            <a:endParaRPr b="0" lang="en-US" sz="2220" spc="-1" strike="noStrike">
              <a:solidFill>
                <a:srgbClr val="000000"/>
              </a:solidFill>
              <a:latin typeface="Times New Roman"/>
            </a:endParaRPr>
          </a:p>
        </p:txBody>
      </p:sp>
      <p:sp>
        <p:nvSpPr>
          <p:cNvPr id="166" name=""/>
          <p:cNvSpPr txBox="1"/>
          <p:nvPr/>
        </p:nvSpPr>
        <p:spPr>
          <a:xfrm>
            <a:off x="6569640" y="5613840"/>
            <a:ext cx="6559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 x ] +</a:t>
            </a:r>
            <a:endParaRPr b="0" lang="en-US" sz="2220" spc="-1" strike="noStrike">
              <a:solidFill>
                <a:srgbClr val="000000"/>
              </a:solidFill>
              <a:latin typeface="Times New Roman"/>
            </a:endParaRPr>
          </a:p>
        </p:txBody>
      </p:sp>
      <p:sp>
        <p:nvSpPr>
          <p:cNvPr id="167" name=""/>
          <p:cNvSpPr txBox="1"/>
          <p:nvPr/>
        </p:nvSpPr>
        <p:spPr>
          <a:xfrm>
            <a:off x="6262560" y="5742360"/>
            <a:ext cx="34200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t−1</a:t>
            </a:r>
            <a:endParaRPr b="0" lang="en-US" sz="1560" spc="-1" strike="noStrike">
              <a:solidFill>
                <a:srgbClr val="000000"/>
              </a:solidFill>
              <a:latin typeface="Times New Roman"/>
            </a:endParaRPr>
          </a:p>
        </p:txBody>
      </p:sp>
      <p:sp>
        <p:nvSpPr>
          <p:cNvPr id="168" name=""/>
          <p:cNvSpPr txBox="1"/>
          <p:nvPr/>
        </p:nvSpPr>
        <p:spPr>
          <a:xfrm>
            <a:off x="6835320" y="574236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69" name=""/>
          <p:cNvSpPr txBox="1"/>
          <p:nvPr/>
        </p:nvSpPr>
        <p:spPr>
          <a:xfrm>
            <a:off x="7300440" y="5613840"/>
            <a:ext cx="30996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b )</a:t>
            </a:r>
            <a:endParaRPr b="0" lang="en-US" sz="2220" spc="-1" strike="noStrike">
              <a:solidFill>
                <a:srgbClr val="000000"/>
              </a:solidFill>
              <a:latin typeface="Times New Roman"/>
            </a:endParaRPr>
          </a:p>
        </p:txBody>
      </p:sp>
      <p:sp>
        <p:nvSpPr>
          <p:cNvPr id="170" name=""/>
          <p:cNvSpPr txBox="1"/>
          <p:nvPr/>
        </p:nvSpPr>
        <p:spPr>
          <a:xfrm>
            <a:off x="7474680" y="574236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m</a:t>
            </a:r>
            <a:endParaRPr b="0" lang="en-US" sz="1560" spc="-1" strike="noStrike">
              <a:solidFill>
                <a:srgbClr val="000000"/>
              </a:solidFill>
              <a:latin typeface="Times New Roman"/>
            </a:endParaRPr>
          </a:p>
        </p:txBody>
      </p:sp>
      <p:sp>
        <p:nvSpPr>
          <p:cNvPr id="171" name=""/>
          <p:cNvSpPr txBox="1"/>
          <p:nvPr/>
        </p:nvSpPr>
        <p:spPr>
          <a:xfrm>
            <a:off x="533520" y="6504480"/>
            <a:ext cx="472572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セル状態の更新 </a:t>
            </a:r>
            <a:r>
              <a:rPr b="0" lang="en-US" sz="2390" spc="-1" strike="noStrike">
                <a:solidFill>
                  <a:srgbClr val="111111"/>
                </a:solidFill>
                <a:latin typeface="NotoSansJP"/>
                <a:ea typeface="NotoSansJP"/>
              </a:rPr>
              <a:t>(Cell State Update)</a:t>
            </a:r>
            <a:endParaRPr b="0" lang="en-US" sz="2390" spc="-1" strike="noStrike">
              <a:solidFill>
                <a:srgbClr val="000000"/>
              </a:solidFill>
              <a:latin typeface="Times New Roman"/>
            </a:endParaRPr>
          </a:p>
        </p:txBody>
      </p:sp>
      <p:sp>
        <p:nvSpPr>
          <p:cNvPr id="172"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3" name=""/>
          <p:cNvSpPr txBox="1"/>
          <p:nvPr/>
        </p:nvSpPr>
        <p:spPr>
          <a:xfrm>
            <a:off x="914400" y="392400"/>
            <a:ext cx="240012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LSTM</a:t>
            </a:r>
            <a:r>
              <a:rPr b="0" lang="zh-CN" sz="1950" spc="-1" strike="noStrike">
                <a:solidFill>
                  <a:srgbClr val="111111"/>
                </a:solidFill>
                <a:latin typeface="NotoSansJP"/>
                <a:ea typeface="NotoSansJP"/>
              </a:rPr>
              <a:t>の計算プロセス</a:t>
            </a:r>
            <a:endParaRPr b="0" lang="en-US" sz="1950" spc="-1" strike="noStrike">
              <a:solidFill>
                <a:srgbClr val="000000"/>
              </a:solidFill>
              <a:latin typeface="Times New Roman"/>
            </a:endParaRPr>
          </a:p>
        </p:txBody>
      </p:sp>
      <p:sp>
        <p:nvSpPr>
          <p:cNvPr id="174"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7</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8"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79" name="" descr=""/>
          <p:cNvPicPr/>
          <p:nvPr/>
        </p:nvPicPr>
        <p:blipFill>
          <a:blip r:embed="rId1"/>
          <a:stretch/>
        </p:blipFill>
        <p:spPr>
          <a:xfrm>
            <a:off x="10515600" y="38160"/>
            <a:ext cx="1142640" cy="1142640"/>
          </a:xfrm>
          <a:prstGeom prst="rect">
            <a:avLst/>
          </a:prstGeom>
          <a:ln w="0">
            <a:noFill/>
          </a:ln>
        </p:spPr>
      </p:pic>
      <p:sp>
        <p:nvSpPr>
          <p:cNvPr id="180" name=""/>
          <p:cNvSpPr txBox="1"/>
          <p:nvPr/>
        </p:nvSpPr>
        <p:spPr>
          <a:xfrm>
            <a:off x="533520" y="923760"/>
            <a:ext cx="73544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は物理モデルよりも高い精度で発電量を予測しました</a:t>
            </a:r>
            <a:endParaRPr b="0" lang="en-US" sz="2170" spc="-1" strike="noStrike">
              <a:solidFill>
                <a:srgbClr val="000000"/>
              </a:solidFill>
              <a:latin typeface="Times New Roman"/>
            </a:endParaRPr>
          </a:p>
        </p:txBody>
      </p:sp>
      <p:sp>
        <p:nvSpPr>
          <p:cNvPr id="181"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2" name=""/>
          <p:cNvSpPr txBox="1"/>
          <p:nvPr/>
        </p:nvSpPr>
        <p:spPr>
          <a:xfrm>
            <a:off x="533520" y="1627920"/>
            <a:ext cx="607320" cy="4392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概要</a:t>
            </a:r>
            <a:endParaRPr b="0" lang="en-US" sz="2390" spc="-1" strike="noStrike">
              <a:solidFill>
                <a:srgbClr val="000000"/>
              </a:solidFill>
              <a:latin typeface="Times New Roman"/>
            </a:endParaRPr>
          </a:p>
        </p:txBody>
      </p:sp>
      <p:sp>
        <p:nvSpPr>
          <p:cNvPr id="183" name=""/>
          <p:cNvSpPr/>
          <p:nvPr/>
        </p:nvSpPr>
        <p:spPr>
          <a:xfrm>
            <a:off x="809280" y="2819160"/>
            <a:ext cx="105120" cy="105120"/>
          </a:xfrm>
          <a:custGeom>
            <a:avLst/>
            <a:gdLst/>
            <a:ahLst/>
            <a:rect l="0" t="0" r="r" b="b"/>
            <a:pathLst>
              <a:path w="292" h="292">
                <a:moveTo>
                  <a:pt x="292" y="146"/>
                </a:moveTo>
                <a:cubicBezTo>
                  <a:pt x="292" y="155"/>
                  <a:pt x="292" y="165"/>
                  <a:pt x="290" y="175"/>
                </a:cubicBezTo>
                <a:cubicBezTo>
                  <a:pt x="288" y="184"/>
                  <a:pt x="285" y="194"/>
                  <a:pt x="281" y="202"/>
                </a:cubicBezTo>
                <a:cubicBezTo>
                  <a:pt x="278" y="211"/>
                  <a:pt x="273" y="220"/>
                  <a:pt x="268" y="228"/>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8"/>
                </a:cubicBezTo>
                <a:cubicBezTo>
                  <a:pt x="20" y="220"/>
                  <a:pt x="15" y="211"/>
                  <a:pt x="12" y="202"/>
                </a:cubicBezTo>
                <a:cubicBezTo>
                  <a:pt x="8" y="194"/>
                  <a:pt x="5" y="184"/>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4" name=""/>
          <p:cNvSpPr txBox="1"/>
          <p:nvPr/>
        </p:nvSpPr>
        <p:spPr>
          <a:xfrm>
            <a:off x="1085760" y="2200320"/>
            <a:ext cx="71823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タスク</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過去の気象データから将来の太陽光発電量を予測</a:t>
            </a:r>
            <a:endParaRPr b="0" lang="en-US" sz="2170" spc="-1" strike="noStrike">
              <a:solidFill>
                <a:srgbClr val="000000"/>
              </a:solidFill>
              <a:latin typeface="Times New Roman"/>
            </a:endParaRPr>
          </a:p>
        </p:txBody>
      </p:sp>
      <p:sp>
        <p:nvSpPr>
          <p:cNvPr id="185" name=""/>
          <p:cNvSpPr/>
          <p:nvPr/>
        </p:nvSpPr>
        <p:spPr>
          <a:xfrm>
            <a:off x="809280" y="3305160"/>
            <a:ext cx="105120" cy="105120"/>
          </a:xfrm>
          <a:custGeom>
            <a:avLst/>
            <a:gdLst/>
            <a:ahLst/>
            <a:rect l="0" t="0" r="r" b="b"/>
            <a:pathLst>
              <a:path w="292" h="292">
                <a:moveTo>
                  <a:pt x="292" y="145"/>
                </a:moveTo>
                <a:cubicBezTo>
                  <a:pt x="292" y="155"/>
                  <a:pt x="292" y="164"/>
                  <a:pt x="290" y="173"/>
                </a:cubicBezTo>
                <a:cubicBezTo>
                  <a:pt x="288" y="183"/>
                  <a:pt x="285" y="192"/>
                  <a:pt x="281" y="201"/>
                </a:cubicBezTo>
                <a:cubicBezTo>
                  <a:pt x="278" y="210"/>
                  <a:pt x="273" y="218"/>
                  <a:pt x="268" y="226"/>
                </a:cubicBezTo>
                <a:cubicBezTo>
                  <a:pt x="263" y="234"/>
                  <a:pt x="257" y="241"/>
                  <a:pt x="250" y="248"/>
                </a:cubicBezTo>
                <a:cubicBezTo>
                  <a:pt x="243" y="255"/>
                  <a:pt x="236" y="261"/>
                  <a:pt x="228" y="266"/>
                </a:cubicBezTo>
                <a:cubicBezTo>
                  <a:pt x="219" y="271"/>
                  <a:pt x="210" y="276"/>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6"/>
                  <a:pt x="73" y="271"/>
                  <a:pt x="65" y="266"/>
                </a:cubicBezTo>
                <a:cubicBezTo>
                  <a:pt x="57" y="261"/>
                  <a:pt x="50" y="255"/>
                  <a:pt x="43" y="248"/>
                </a:cubicBezTo>
                <a:cubicBezTo>
                  <a:pt x="36" y="241"/>
                  <a:pt x="30" y="234"/>
                  <a:pt x="25" y="226"/>
                </a:cubicBezTo>
                <a:cubicBezTo>
                  <a:pt x="20" y="218"/>
                  <a:pt x="15" y="210"/>
                  <a:pt x="12" y="201"/>
                </a:cubicBezTo>
                <a:cubicBezTo>
                  <a:pt x="8" y="192"/>
                  <a:pt x="5" y="183"/>
                  <a:pt x="3" y="173"/>
                </a:cubicBezTo>
                <a:cubicBezTo>
                  <a:pt x="1" y="164"/>
                  <a:pt x="0" y="155"/>
                  <a:pt x="0" y="145"/>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0"/>
                  <a:pt x="136" y="0"/>
                  <a:pt x="146" y="0"/>
                </a:cubicBezTo>
                <a:cubicBezTo>
                  <a:pt x="156" y="0"/>
                  <a:pt x="165" y="0"/>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6" name=""/>
          <p:cNvSpPr txBox="1"/>
          <p:nvPr/>
        </p:nvSpPr>
        <p:spPr>
          <a:xfrm>
            <a:off x="1085760" y="2676600"/>
            <a:ext cx="42915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モデル</a:t>
            </a:r>
            <a:r>
              <a:rPr b="0" lang="en-US" sz="2170" spc="-1" strike="noStrike">
                <a:solidFill>
                  <a:srgbClr val="111111"/>
                </a:solidFill>
                <a:latin typeface="NotoSansJP"/>
                <a:ea typeface="NotoSansJP"/>
              </a:rPr>
              <a:t>: 4</a:t>
            </a:r>
            <a:r>
              <a:rPr b="0" lang="zh-CN" sz="2170" spc="-1" strike="noStrike">
                <a:solidFill>
                  <a:srgbClr val="111111"/>
                </a:solidFill>
                <a:latin typeface="NotoSansJP"/>
                <a:ea typeface="NotoSansJP"/>
              </a:rPr>
              <a:t>層の</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ネットワーク</a:t>
            </a:r>
            <a:endParaRPr b="0" lang="en-US" sz="2170" spc="-1" strike="noStrike">
              <a:solidFill>
                <a:srgbClr val="000000"/>
              </a:solidFill>
              <a:latin typeface="Times New Roman"/>
            </a:endParaRPr>
          </a:p>
        </p:txBody>
      </p:sp>
      <p:sp>
        <p:nvSpPr>
          <p:cNvPr id="187" name=""/>
          <p:cNvSpPr/>
          <p:nvPr/>
        </p:nvSpPr>
        <p:spPr>
          <a:xfrm>
            <a:off x="809280" y="379080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9"/>
                  <a:pt x="8" y="100"/>
                  <a:pt x="12" y="90"/>
                </a:cubicBezTo>
                <a:cubicBezTo>
                  <a:pt x="15" y="81"/>
                  <a:pt x="20" y="73"/>
                  <a:pt x="25" y="65"/>
                </a:cubicBezTo>
                <a:cubicBezTo>
                  <a:pt x="30" y="57"/>
                  <a:pt x="36" y="49"/>
                  <a:pt x="43" y="43"/>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3"/>
                </a:cubicBezTo>
                <a:cubicBezTo>
                  <a:pt x="257" y="49"/>
                  <a:pt x="263" y="57"/>
                  <a:pt x="268" y="65"/>
                </a:cubicBezTo>
                <a:cubicBezTo>
                  <a:pt x="273" y="73"/>
                  <a:pt x="278" y="81"/>
                  <a:pt x="281" y="90"/>
                </a:cubicBezTo>
                <a:cubicBezTo>
                  <a:pt x="285" y="100"/>
                  <a:pt x="288" y="109"/>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8" name=""/>
          <p:cNvSpPr txBox="1"/>
          <p:nvPr/>
        </p:nvSpPr>
        <p:spPr>
          <a:xfrm>
            <a:off x="1085760" y="3162240"/>
            <a:ext cx="56404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データ</a:t>
            </a:r>
            <a:r>
              <a:rPr b="0" lang="en-US" sz="2170" spc="-1" strike="noStrike">
                <a:solidFill>
                  <a:srgbClr val="111111"/>
                </a:solidFill>
                <a:latin typeface="NotoSansJP"/>
                <a:ea typeface="NotoSansJP"/>
              </a:rPr>
              <a:t>: 21</a:t>
            </a:r>
            <a:r>
              <a:rPr b="0" lang="zh-CN" sz="2170" spc="-1" strike="noStrike">
                <a:solidFill>
                  <a:srgbClr val="111111"/>
                </a:solidFill>
                <a:latin typeface="NotoSansJP"/>
                <a:ea typeface="NotoSansJP"/>
              </a:rPr>
              <a:t>発電所、</a:t>
            </a:r>
            <a:r>
              <a:rPr b="0" lang="en-US" sz="2170" spc="-1" strike="noStrike">
                <a:solidFill>
                  <a:srgbClr val="111111"/>
                </a:solidFill>
                <a:latin typeface="NotoSansJP"/>
                <a:ea typeface="NotoSansJP"/>
              </a:rPr>
              <a:t>990</a:t>
            </a:r>
            <a:r>
              <a:rPr b="0" lang="zh-CN" sz="2170" spc="-1" strike="noStrike">
                <a:solidFill>
                  <a:srgbClr val="111111"/>
                </a:solidFill>
                <a:latin typeface="NotoSansJP"/>
                <a:ea typeface="NotoSansJP"/>
              </a:rPr>
              <a:t>日分の時系列データ</a:t>
            </a:r>
            <a:endParaRPr b="0" lang="en-US" sz="2170" spc="-1" strike="noStrike">
              <a:solidFill>
                <a:srgbClr val="000000"/>
              </a:solidFill>
              <a:latin typeface="Times New Roman"/>
            </a:endParaRPr>
          </a:p>
        </p:txBody>
      </p:sp>
      <p:sp>
        <p:nvSpPr>
          <p:cNvPr id="189" name=""/>
          <p:cNvSpPr txBox="1"/>
          <p:nvPr/>
        </p:nvSpPr>
        <p:spPr>
          <a:xfrm>
            <a:off x="1085760" y="3648240"/>
            <a:ext cx="618120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比較対象</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物理法則に基づく予測モデル </a:t>
            </a:r>
            <a:r>
              <a:rPr b="0" lang="en-US" sz="2170" spc="-1" strike="noStrike">
                <a:solidFill>
                  <a:srgbClr val="111111"/>
                </a:solidFill>
                <a:latin typeface="NotoSansJP"/>
                <a:ea typeface="NotoSansJP"/>
              </a:rPr>
              <a:t>(P-PVFM)</a:t>
            </a:r>
            <a:endParaRPr b="0" lang="en-US" sz="2170" spc="-1" strike="noStrike">
              <a:solidFill>
                <a:srgbClr val="000000"/>
              </a:solidFill>
              <a:latin typeface="Times New Roman"/>
            </a:endParaRPr>
          </a:p>
        </p:txBody>
      </p:sp>
      <p:sp>
        <p:nvSpPr>
          <p:cNvPr id="190" name=""/>
          <p:cNvSpPr/>
          <p:nvPr/>
        </p:nvSpPr>
        <p:spPr>
          <a:xfrm>
            <a:off x="809280" y="5114880"/>
            <a:ext cx="105120" cy="105120"/>
          </a:xfrm>
          <a:custGeom>
            <a:avLst/>
            <a:gdLst/>
            <a:ahLst/>
            <a:rect l="0" t="0" r="r" b="b"/>
            <a:pathLst>
              <a:path w="292" h="292">
                <a:moveTo>
                  <a:pt x="292" y="145"/>
                </a:moveTo>
                <a:cubicBezTo>
                  <a:pt x="292" y="155"/>
                  <a:pt x="292" y="164"/>
                  <a:pt x="290" y="174"/>
                </a:cubicBezTo>
                <a:cubicBezTo>
                  <a:pt x="288" y="183"/>
                  <a:pt x="285" y="192"/>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2"/>
                  <a:pt x="5" y="183"/>
                  <a:pt x="3" y="174"/>
                </a:cubicBezTo>
                <a:cubicBezTo>
                  <a:pt x="1" y="164"/>
                  <a:pt x="0" y="155"/>
                  <a:pt x="0" y="145"/>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1" name=""/>
          <p:cNvSpPr txBox="1"/>
          <p:nvPr/>
        </p:nvSpPr>
        <p:spPr>
          <a:xfrm>
            <a:off x="533520" y="4399560"/>
            <a:ext cx="607320" cy="4392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結果</a:t>
            </a:r>
            <a:endParaRPr b="0" lang="en-US" sz="2390" spc="-1" strike="noStrike">
              <a:solidFill>
                <a:srgbClr val="000000"/>
              </a:solidFill>
              <a:latin typeface="Times New Roman"/>
            </a:endParaRPr>
          </a:p>
        </p:txBody>
      </p:sp>
      <p:sp>
        <p:nvSpPr>
          <p:cNvPr id="192" name=""/>
          <p:cNvSpPr/>
          <p:nvPr/>
        </p:nvSpPr>
        <p:spPr>
          <a:xfrm>
            <a:off x="809280" y="560052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0"/>
                  <a:pt x="43" y="44"/>
                </a:cubicBezTo>
                <a:cubicBezTo>
                  <a:pt x="50" y="37"/>
                  <a:pt x="57" y="31"/>
                  <a:pt x="65" y="26"/>
                </a:cubicBezTo>
                <a:cubicBezTo>
                  <a:pt x="73" y="20"/>
                  <a:pt x="81" y="16"/>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6"/>
                  <a:pt x="219" y="20"/>
                  <a:pt x="228" y="26"/>
                </a:cubicBezTo>
                <a:cubicBezTo>
                  <a:pt x="236" y="31"/>
                  <a:pt x="243" y="37"/>
                  <a:pt x="250" y="44"/>
                </a:cubicBezTo>
                <a:cubicBezTo>
                  <a:pt x="257" y="50"/>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3" name=""/>
          <p:cNvSpPr txBox="1"/>
          <p:nvPr/>
        </p:nvSpPr>
        <p:spPr>
          <a:xfrm>
            <a:off x="1085760" y="4971960"/>
            <a:ext cx="92145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評価指標 </a:t>
            </a:r>
            <a:r>
              <a:rPr b="0" lang="en-US" sz="2170" spc="-1" strike="noStrike">
                <a:solidFill>
                  <a:srgbClr val="111111"/>
                </a:solidFill>
                <a:latin typeface="NotoSansJP"/>
                <a:ea typeface="NotoSansJP"/>
              </a:rPr>
              <a:t>(RMSE, MAE) </a:t>
            </a:r>
            <a:r>
              <a:rPr b="0" lang="zh-CN" sz="2170" spc="-1" strike="noStrike">
                <a:solidFill>
                  <a:srgbClr val="111111"/>
                </a:solidFill>
                <a:latin typeface="NotoSansJP"/>
                <a:ea typeface="NotoSansJP"/>
              </a:rPr>
              <a:t>において、</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が物理モデルを上回る性能を達成</a:t>
            </a:r>
            <a:endParaRPr b="0" lang="en-US" sz="2170" spc="-1" strike="noStrike">
              <a:solidFill>
                <a:srgbClr val="000000"/>
              </a:solidFill>
              <a:latin typeface="Times New Roman"/>
            </a:endParaRPr>
          </a:p>
        </p:txBody>
      </p:sp>
      <p:sp>
        <p:nvSpPr>
          <p:cNvPr id="194" name=""/>
          <p:cNvSpPr txBox="1"/>
          <p:nvPr/>
        </p:nvSpPr>
        <p:spPr>
          <a:xfrm>
            <a:off x="1085760" y="5457960"/>
            <a:ext cx="103885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は、複数の時系列にまたがる複雑なトレンドや季節性を学習できることが示唆</a:t>
            </a:r>
            <a:endParaRPr b="0" lang="en-US" sz="2170" spc="-1" strike="noStrike">
              <a:solidFill>
                <a:srgbClr val="000000"/>
              </a:solidFill>
              <a:latin typeface="Times New Roman"/>
            </a:endParaRPr>
          </a:p>
        </p:txBody>
      </p:sp>
      <p:sp>
        <p:nvSpPr>
          <p:cNvPr id="195" name=""/>
          <p:cNvSpPr txBox="1"/>
          <p:nvPr/>
        </p:nvSpPr>
        <p:spPr>
          <a:xfrm>
            <a:off x="1085760" y="587700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された</a:t>
            </a:r>
            <a:endParaRPr b="0" lang="en-US" sz="2170" spc="-1" strike="noStrike">
              <a:solidFill>
                <a:srgbClr val="000000"/>
              </a:solidFill>
              <a:latin typeface="Times New Roman"/>
            </a:endParaRPr>
          </a:p>
        </p:txBody>
      </p:sp>
      <p:sp>
        <p:nvSpPr>
          <p:cNvPr id="196"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7" name=""/>
          <p:cNvSpPr txBox="1"/>
          <p:nvPr/>
        </p:nvSpPr>
        <p:spPr>
          <a:xfrm>
            <a:off x="914400" y="392400"/>
            <a:ext cx="421416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3. </a:t>
            </a:r>
            <a:r>
              <a:rPr b="0" lang="zh-CN" sz="1950" spc="-1" strike="noStrike">
                <a:solidFill>
                  <a:srgbClr val="111111"/>
                </a:solidFill>
                <a:latin typeface="NotoSansJP"/>
                <a:ea typeface="NotoSansJP"/>
              </a:rPr>
              <a:t>応用事例</a:t>
            </a:r>
            <a:r>
              <a:rPr b="0" lang="en-US" sz="1950" spc="-1" strike="noStrike">
                <a:solidFill>
                  <a:srgbClr val="111111"/>
                </a:solidFill>
                <a:latin typeface="NotoSansJP"/>
                <a:ea typeface="NotoSansJP"/>
              </a:rPr>
              <a:t>(1)</a:t>
            </a:r>
            <a:r>
              <a:rPr b="0" lang="zh-CN" sz="1950" spc="-1" strike="noStrike">
                <a:solidFill>
                  <a:srgbClr val="111111"/>
                </a:solidFill>
                <a:latin typeface="NotoSansJP"/>
                <a:ea typeface="NotoSansJP"/>
              </a:rPr>
              <a:t>：太陽光発電量の予測</a:t>
            </a:r>
            <a:endParaRPr b="0" lang="en-US" sz="1950" spc="-1" strike="noStrike">
              <a:solidFill>
                <a:srgbClr val="000000"/>
              </a:solidFill>
              <a:latin typeface="Times New Roman"/>
            </a:endParaRPr>
          </a:p>
        </p:txBody>
      </p:sp>
      <p:sp>
        <p:nvSpPr>
          <p:cNvPr id="198"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8</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2"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03" name="" descr=""/>
          <p:cNvPicPr/>
          <p:nvPr/>
        </p:nvPicPr>
        <p:blipFill>
          <a:blip r:embed="rId1"/>
          <a:stretch/>
        </p:blipFill>
        <p:spPr>
          <a:xfrm>
            <a:off x="10515600" y="38160"/>
            <a:ext cx="1142640" cy="1142640"/>
          </a:xfrm>
          <a:prstGeom prst="rect">
            <a:avLst/>
          </a:prstGeom>
          <a:ln w="0">
            <a:noFill/>
          </a:ln>
        </p:spPr>
      </p:pic>
      <p:sp>
        <p:nvSpPr>
          <p:cNvPr id="204" name=""/>
          <p:cNvSpPr txBox="1"/>
          <p:nvPr/>
        </p:nvSpPr>
        <p:spPr>
          <a:xfrm>
            <a:off x="533520" y="923760"/>
            <a:ext cx="104680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双方向</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を用いることで、文脈に応じた単語の意味を捉えることに成功しました</a:t>
            </a:r>
            <a:endParaRPr b="0" lang="en-US" sz="2170" spc="-1" strike="noStrike">
              <a:solidFill>
                <a:srgbClr val="000000"/>
              </a:solidFill>
              <a:latin typeface="Times New Roman"/>
            </a:endParaRPr>
          </a:p>
        </p:txBody>
      </p:sp>
      <p:sp>
        <p:nvSpPr>
          <p:cNvPr id="205"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6" name=""/>
          <p:cNvSpPr txBox="1"/>
          <p:nvPr/>
        </p:nvSpPr>
        <p:spPr>
          <a:xfrm>
            <a:off x="533520" y="1627920"/>
            <a:ext cx="607320" cy="4392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概要</a:t>
            </a:r>
            <a:endParaRPr b="0" lang="en-US" sz="2390" spc="-1" strike="noStrike">
              <a:solidFill>
                <a:srgbClr val="000000"/>
              </a:solidFill>
              <a:latin typeface="Times New Roman"/>
            </a:endParaRPr>
          </a:p>
        </p:txBody>
      </p:sp>
      <p:sp>
        <p:nvSpPr>
          <p:cNvPr id="207" name=""/>
          <p:cNvSpPr/>
          <p:nvPr/>
        </p:nvSpPr>
        <p:spPr>
          <a:xfrm>
            <a:off x="809280" y="2819160"/>
            <a:ext cx="105120" cy="105120"/>
          </a:xfrm>
          <a:custGeom>
            <a:avLst/>
            <a:gdLst/>
            <a:ahLst/>
            <a:rect l="0" t="0" r="r" b="b"/>
            <a:pathLst>
              <a:path w="292" h="292">
                <a:moveTo>
                  <a:pt x="292" y="146"/>
                </a:moveTo>
                <a:cubicBezTo>
                  <a:pt x="292" y="155"/>
                  <a:pt x="292" y="165"/>
                  <a:pt x="290" y="175"/>
                </a:cubicBezTo>
                <a:cubicBezTo>
                  <a:pt x="288" y="184"/>
                  <a:pt x="285" y="194"/>
                  <a:pt x="281" y="202"/>
                </a:cubicBezTo>
                <a:cubicBezTo>
                  <a:pt x="278" y="211"/>
                  <a:pt x="273" y="220"/>
                  <a:pt x="268" y="228"/>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8"/>
                </a:cubicBezTo>
                <a:cubicBezTo>
                  <a:pt x="20" y="220"/>
                  <a:pt x="15" y="211"/>
                  <a:pt x="12" y="202"/>
                </a:cubicBezTo>
                <a:cubicBezTo>
                  <a:pt x="8" y="194"/>
                  <a:pt x="5" y="184"/>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8" name=""/>
          <p:cNvSpPr txBox="1"/>
          <p:nvPr/>
        </p:nvSpPr>
        <p:spPr>
          <a:xfrm>
            <a:off x="1085760" y="2200320"/>
            <a:ext cx="85615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タスク</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文脈を考慮した単語のベクトル表現（単語埋め込み）を生成</a:t>
            </a:r>
            <a:endParaRPr b="0" lang="en-US" sz="2170" spc="-1" strike="noStrike">
              <a:solidFill>
                <a:srgbClr val="000000"/>
              </a:solidFill>
              <a:latin typeface="Times New Roman"/>
            </a:endParaRPr>
          </a:p>
        </p:txBody>
      </p:sp>
      <p:sp>
        <p:nvSpPr>
          <p:cNvPr id="209" name=""/>
          <p:cNvSpPr/>
          <p:nvPr/>
        </p:nvSpPr>
        <p:spPr>
          <a:xfrm>
            <a:off x="1361880" y="3238200"/>
            <a:ext cx="105120" cy="105120"/>
          </a:xfrm>
          <a:custGeom>
            <a:avLst/>
            <a:gdLst/>
            <a:ahLst/>
            <a:rect l="0" t="0" r="r" b="b"/>
            <a:pathLst>
              <a:path w="292" h="292">
                <a:moveTo>
                  <a:pt x="292" y="146"/>
                </a:moveTo>
                <a:cubicBezTo>
                  <a:pt x="292" y="155"/>
                  <a:pt x="291" y="165"/>
                  <a:pt x="289" y="175"/>
                </a:cubicBezTo>
                <a:cubicBezTo>
                  <a:pt x="287" y="185"/>
                  <a:pt x="285" y="194"/>
                  <a:pt x="281" y="203"/>
                </a:cubicBezTo>
                <a:cubicBezTo>
                  <a:pt x="277" y="211"/>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1"/>
                  <a:pt x="11" y="203"/>
                </a:cubicBezTo>
                <a:cubicBezTo>
                  <a:pt x="7" y="194"/>
                  <a:pt x="5" y="185"/>
                  <a:pt x="3" y="175"/>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10" name=""/>
          <p:cNvSpPr txBox="1"/>
          <p:nvPr/>
        </p:nvSpPr>
        <p:spPr>
          <a:xfrm>
            <a:off x="1085760" y="2676600"/>
            <a:ext cx="63316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モデル</a:t>
            </a:r>
            <a:r>
              <a:rPr b="0" lang="en-US" sz="2170" spc="-1" strike="noStrike">
                <a:solidFill>
                  <a:srgbClr val="111111"/>
                </a:solidFill>
                <a:latin typeface="NotoSansJP"/>
                <a:ea typeface="NotoSansJP"/>
              </a:rPr>
              <a:t>: ELMo (Embeddings from Language Models)</a:t>
            </a:r>
            <a:endParaRPr b="0" lang="en-US" sz="2170" spc="-1" strike="noStrike">
              <a:solidFill>
                <a:srgbClr val="000000"/>
              </a:solidFill>
              <a:latin typeface="Times New Roman"/>
            </a:endParaRPr>
          </a:p>
        </p:txBody>
      </p:sp>
      <p:sp>
        <p:nvSpPr>
          <p:cNvPr id="211" name=""/>
          <p:cNvSpPr/>
          <p:nvPr/>
        </p:nvSpPr>
        <p:spPr>
          <a:xfrm>
            <a:off x="1361880" y="372420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5"/>
                  <a:pt x="235" y="261"/>
                  <a:pt x="227" y="266"/>
                </a:cubicBezTo>
                <a:cubicBezTo>
                  <a:pt x="219" y="272"/>
                  <a:pt x="211" y="276"/>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6"/>
                  <a:pt x="73" y="272"/>
                  <a:pt x="65" y="266"/>
                </a:cubicBezTo>
                <a:cubicBezTo>
                  <a:pt x="57" y="261"/>
                  <a:pt x="49" y="255"/>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8"/>
                  <a:pt x="287" y="107"/>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12" name=""/>
          <p:cNvSpPr txBox="1"/>
          <p:nvPr/>
        </p:nvSpPr>
        <p:spPr>
          <a:xfrm>
            <a:off x="1638360" y="3095640"/>
            <a:ext cx="49712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双方向</a:t>
            </a:r>
            <a:r>
              <a:rPr b="0" lang="en-US" sz="2170" spc="-1" strike="noStrike">
                <a:solidFill>
                  <a:srgbClr val="111111"/>
                </a:solidFill>
                <a:latin typeface="NotoSansJP"/>
                <a:ea typeface="NotoSansJP"/>
              </a:rPr>
              <a:t>LSTM (Bidirectional LSTM) </a:t>
            </a:r>
            <a:r>
              <a:rPr b="0" lang="zh-CN" sz="2170" spc="-1" strike="noStrike">
                <a:solidFill>
                  <a:srgbClr val="111111"/>
                </a:solidFill>
                <a:latin typeface="NotoSansJP"/>
                <a:ea typeface="NotoSansJP"/>
              </a:rPr>
              <a:t>を使用</a:t>
            </a:r>
            <a:endParaRPr b="0" lang="en-US" sz="2170" spc="-1" strike="noStrike">
              <a:solidFill>
                <a:srgbClr val="000000"/>
              </a:solidFill>
              <a:latin typeface="Times New Roman"/>
            </a:endParaRPr>
          </a:p>
        </p:txBody>
      </p:sp>
      <p:sp>
        <p:nvSpPr>
          <p:cNvPr id="213" name=""/>
          <p:cNvSpPr txBox="1"/>
          <p:nvPr/>
        </p:nvSpPr>
        <p:spPr>
          <a:xfrm>
            <a:off x="1638360" y="358128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単語の前後の文脈を両方考慮できる</a:t>
            </a:r>
            <a:endParaRPr b="0" lang="en-US" sz="2170" spc="-1" strike="noStrike">
              <a:solidFill>
                <a:srgbClr val="000000"/>
              </a:solidFill>
              <a:latin typeface="Times New Roman"/>
            </a:endParaRPr>
          </a:p>
        </p:txBody>
      </p:sp>
      <p:sp>
        <p:nvSpPr>
          <p:cNvPr id="214" name=""/>
          <p:cNvSpPr/>
          <p:nvPr/>
        </p:nvSpPr>
        <p:spPr>
          <a:xfrm>
            <a:off x="809280" y="504792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9"/>
                </a:cubicBezTo>
                <a:cubicBezTo>
                  <a:pt x="5" y="109"/>
                  <a:pt x="8" y="100"/>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5" name=""/>
          <p:cNvSpPr txBox="1"/>
          <p:nvPr/>
        </p:nvSpPr>
        <p:spPr>
          <a:xfrm>
            <a:off x="533520" y="4332960"/>
            <a:ext cx="607320" cy="4392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結果</a:t>
            </a:r>
            <a:endParaRPr b="0" lang="en-US" sz="2390" spc="-1" strike="noStrike">
              <a:solidFill>
                <a:srgbClr val="000000"/>
              </a:solidFill>
              <a:latin typeface="Times New Roman"/>
            </a:endParaRPr>
          </a:p>
        </p:txBody>
      </p:sp>
      <p:sp>
        <p:nvSpPr>
          <p:cNvPr id="216" name=""/>
          <p:cNvSpPr txBox="1"/>
          <p:nvPr/>
        </p:nvSpPr>
        <p:spPr>
          <a:xfrm>
            <a:off x="1085760" y="4905360"/>
            <a:ext cx="104821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SQuAD (</a:t>
            </a:r>
            <a:r>
              <a:rPr b="0" lang="zh-CN" sz="2170" spc="-1" strike="noStrike">
                <a:solidFill>
                  <a:srgbClr val="111111"/>
                </a:solidFill>
                <a:latin typeface="NotoSansJP"/>
                <a:ea typeface="NotoSansJP"/>
              </a:rPr>
              <a:t>質問応答</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などのベンチマークで、従来手法を大幅に上回り、人間に近い性</a:t>
            </a:r>
            <a:endParaRPr b="0" lang="en-US" sz="2170" spc="-1" strike="noStrike">
              <a:solidFill>
                <a:srgbClr val="000000"/>
              </a:solidFill>
              <a:latin typeface="Times New Roman"/>
            </a:endParaRPr>
          </a:p>
        </p:txBody>
      </p:sp>
      <p:sp>
        <p:nvSpPr>
          <p:cNvPr id="217" name=""/>
          <p:cNvSpPr/>
          <p:nvPr/>
        </p:nvSpPr>
        <p:spPr>
          <a:xfrm>
            <a:off x="809280" y="5943240"/>
            <a:ext cx="105120" cy="105480"/>
          </a:xfrm>
          <a:custGeom>
            <a:avLst/>
            <a:gdLst/>
            <a:ahLst/>
            <a:rect l="0" t="0" r="r" b="b"/>
            <a:pathLst>
              <a:path w="292" h="293">
                <a:moveTo>
                  <a:pt x="292" y="146"/>
                </a:moveTo>
                <a:cubicBezTo>
                  <a:pt x="292" y="156"/>
                  <a:pt x="292" y="165"/>
                  <a:pt x="290" y="174"/>
                </a:cubicBezTo>
                <a:cubicBezTo>
                  <a:pt x="288" y="184"/>
                  <a:pt x="285" y="193"/>
                  <a:pt x="281" y="202"/>
                </a:cubicBezTo>
                <a:cubicBezTo>
                  <a:pt x="278" y="211"/>
                  <a:pt x="273" y="219"/>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3"/>
                  <a:pt x="146" y="293"/>
                </a:cubicBezTo>
                <a:cubicBezTo>
                  <a:pt x="136" y="293"/>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19"/>
                  <a:pt x="15" y="211"/>
                  <a:pt x="12" y="202"/>
                </a:cubicBezTo>
                <a:cubicBezTo>
                  <a:pt x="8" y="193"/>
                  <a:pt x="5" y="184"/>
                  <a:pt x="3" y="174"/>
                </a:cubicBezTo>
                <a:cubicBezTo>
                  <a:pt x="1" y="165"/>
                  <a:pt x="0" y="156"/>
                  <a:pt x="0" y="146"/>
                </a:cubicBezTo>
                <a:cubicBezTo>
                  <a:pt x="0" y="136"/>
                  <a:pt x="1" y="127"/>
                  <a:pt x="3" y="118"/>
                </a:cubicBezTo>
                <a:cubicBezTo>
                  <a:pt x="5" y="108"/>
                  <a:pt x="8" y="99"/>
                  <a:pt x="12" y="90"/>
                </a:cubicBezTo>
                <a:cubicBezTo>
                  <a:pt x="15" y="82"/>
                  <a:pt x="20" y="73"/>
                  <a:pt x="25" y="65"/>
                </a:cubicBezTo>
                <a:cubicBezTo>
                  <a:pt x="30" y="57"/>
                  <a:pt x="36" y="50"/>
                  <a:pt x="43" y="43"/>
                </a:cubicBezTo>
                <a:cubicBezTo>
                  <a:pt x="50" y="36"/>
                  <a:pt x="57" y="30"/>
                  <a:pt x="65" y="25"/>
                </a:cubicBezTo>
                <a:cubicBezTo>
                  <a:pt x="73" y="20"/>
                  <a:pt x="81" y="15"/>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5"/>
                  <a:pt x="219" y="20"/>
                  <a:pt x="228" y="25"/>
                </a:cubicBezTo>
                <a:cubicBezTo>
                  <a:pt x="236" y="30"/>
                  <a:pt x="243" y="36"/>
                  <a:pt x="250" y="43"/>
                </a:cubicBezTo>
                <a:cubicBezTo>
                  <a:pt x="257" y="50"/>
                  <a:pt x="263" y="57"/>
                  <a:pt x="268" y="65"/>
                </a:cubicBezTo>
                <a:cubicBezTo>
                  <a:pt x="273" y="73"/>
                  <a:pt x="278" y="82"/>
                  <a:pt x="281" y="90"/>
                </a:cubicBezTo>
                <a:cubicBezTo>
                  <a:pt x="285" y="99"/>
                  <a:pt x="288" y="108"/>
                  <a:pt x="290" y="118"/>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8" name=""/>
          <p:cNvSpPr txBox="1"/>
          <p:nvPr/>
        </p:nvSpPr>
        <p:spPr>
          <a:xfrm>
            <a:off x="1085760" y="532440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能を達成</a:t>
            </a:r>
            <a:endParaRPr b="0" lang="en-US" sz="2170" spc="-1" strike="noStrike">
              <a:solidFill>
                <a:srgbClr val="000000"/>
              </a:solidFill>
              <a:latin typeface="Times New Roman"/>
            </a:endParaRPr>
          </a:p>
        </p:txBody>
      </p:sp>
      <p:sp>
        <p:nvSpPr>
          <p:cNvPr id="219" name=""/>
          <p:cNvSpPr txBox="1"/>
          <p:nvPr/>
        </p:nvSpPr>
        <p:spPr>
          <a:xfrm>
            <a:off x="1085760" y="5800680"/>
            <a:ext cx="106693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例：「</a:t>
            </a:r>
            <a:r>
              <a:rPr b="0" lang="en-US" sz="2170" spc="-1" strike="noStrike">
                <a:solidFill>
                  <a:srgbClr val="111111"/>
                </a:solidFill>
                <a:latin typeface="NotoSansJP"/>
                <a:ea typeface="NotoSansJP"/>
              </a:rPr>
              <a:t>bank</a:t>
            </a:r>
            <a:r>
              <a:rPr b="0" lang="zh-CN" sz="2170" spc="-1" strike="noStrike">
                <a:solidFill>
                  <a:srgbClr val="111111"/>
                </a:solidFill>
                <a:latin typeface="NotoSansJP"/>
                <a:ea typeface="NotoSansJP"/>
              </a:rPr>
              <a:t>」という単語を「川岸」と「銀行」で使い分け、異なるベクトルを生成で</a:t>
            </a:r>
            <a:endParaRPr b="0" lang="en-US" sz="2170" spc="-1" strike="noStrike">
              <a:solidFill>
                <a:srgbClr val="000000"/>
              </a:solidFill>
              <a:latin typeface="Times New Roman"/>
            </a:endParaRPr>
          </a:p>
        </p:txBody>
      </p:sp>
      <p:sp>
        <p:nvSpPr>
          <p:cNvPr id="220" name=""/>
          <p:cNvSpPr txBox="1"/>
          <p:nvPr/>
        </p:nvSpPr>
        <p:spPr>
          <a:xfrm>
            <a:off x="1085760" y="621972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きる</a:t>
            </a:r>
            <a:endParaRPr b="0" lang="en-US" sz="2170" spc="-1" strike="noStrike">
              <a:solidFill>
                <a:srgbClr val="000000"/>
              </a:solidFill>
              <a:latin typeface="Times New Roman"/>
            </a:endParaRPr>
          </a:p>
        </p:txBody>
      </p:sp>
      <p:sp>
        <p:nvSpPr>
          <p:cNvPr id="22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22" name=""/>
          <p:cNvSpPr txBox="1"/>
          <p:nvPr/>
        </p:nvSpPr>
        <p:spPr>
          <a:xfrm>
            <a:off x="914400" y="392400"/>
            <a:ext cx="40046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応用事例</a:t>
            </a:r>
            <a:r>
              <a:rPr b="0" lang="en-US" sz="1950" spc="-1" strike="noStrike">
                <a:solidFill>
                  <a:srgbClr val="111111"/>
                </a:solidFill>
                <a:latin typeface="NotoSansJP"/>
                <a:ea typeface="NotoSansJP"/>
              </a:rPr>
              <a:t>(2)</a:t>
            </a:r>
            <a:r>
              <a:rPr b="0" lang="zh-CN" sz="1950" spc="-1" strike="noStrike">
                <a:solidFill>
                  <a:srgbClr val="111111"/>
                </a:solidFill>
                <a:latin typeface="NotoSansJP"/>
                <a:ea typeface="NotoSansJP"/>
              </a:rPr>
              <a:t>：自然言語処理 </a:t>
            </a:r>
            <a:r>
              <a:rPr b="0" lang="en-US" sz="1950" spc="-1" strike="noStrike">
                <a:solidFill>
                  <a:srgbClr val="111111"/>
                </a:solidFill>
                <a:latin typeface="NotoSansJP"/>
                <a:ea typeface="NotoSansJP"/>
              </a:rPr>
              <a:t>(ELMo)</a:t>
            </a:r>
            <a:endParaRPr b="0" lang="en-US" sz="1950" spc="-1" strike="noStrike">
              <a:solidFill>
                <a:srgbClr val="000000"/>
              </a:solidFill>
              <a:latin typeface="Times New Roman"/>
            </a:endParaRPr>
          </a:p>
        </p:txBody>
      </p:sp>
      <p:sp>
        <p:nvSpPr>
          <p:cNvPr id="223"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9</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28" name="" descr=""/>
          <p:cNvPicPr/>
          <p:nvPr/>
        </p:nvPicPr>
        <p:blipFill>
          <a:blip r:embed="rId1"/>
          <a:stretch/>
        </p:blipFill>
        <p:spPr>
          <a:xfrm>
            <a:off x="10515600" y="38160"/>
            <a:ext cx="1142640" cy="1142640"/>
          </a:xfrm>
          <a:prstGeom prst="rect">
            <a:avLst/>
          </a:prstGeom>
          <a:ln w="0">
            <a:noFill/>
          </a:ln>
        </p:spPr>
      </p:pic>
      <p:sp>
        <p:nvSpPr>
          <p:cNvPr id="229" name=""/>
          <p:cNvSpPr txBox="1"/>
          <p:nvPr/>
        </p:nvSpPr>
        <p:spPr>
          <a:xfrm>
            <a:off x="533520" y="923760"/>
            <a:ext cx="65268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は強力ですが、常に最良の選択とは限りません</a:t>
            </a:r>
            <a:endParaRPr b="0" lang="en-US" sz="2170" spc="-1" strike="noStrike">
              <a:solidFill>
                <a:srgbClr val="000000"/>
              </a:solidFill>
              <a:latin typeface="Times New Roman"/>
            </a:endParaRPr>
          </a:p>
        </p:txBody>
      </p:sp>
      <p:sp>
        <p:nvSpPr>
          <p:cNvPr id="230"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31" name=""/>
          <p:cNvSpPr txBox="1"/>
          <p:nvPr/>
        </p:nvSpPr>
        <p:spPr>
          <a:xfrm>
            <a:off x="533520" y="1627920"/>
            <a:ext cx="4764600" cy="441000"/>
          </a:xfrm>
          <a:prstGeom prst="rect">
            <a:avLst/>
          </a:prstGeom>
          <a:noFill/>
          <a:ln w="0">
            <a:noFill/>
          </a:ln>
        </p:spPr>
        <p:txBody>
          <a:bodyPr wrap="none" lIns="0" rIns="0" tIns="0" bIns="0" anchor="t">
            <a:noAutofit/>
          </a:bodyPr>
          <a:p>
            <a:r>
              <a:rPr b="0" lang="en-US" sz="2390" spc="-1" strike="noStrike">
                <a:solidFill>
                  <a:srgbClr val="111111"/>
                </a:solidFill>
                <a:latin typeface="NotoSansJP"/>
                <a:ea typeface="NotoSansJP"/>
              </a:rPr>
              <a:t>LSTM vs. </a:t>
            </a:r>
            <a:r>
              <a:rPr b="0" lang="zh-CN" sz="2390" spc="-1" strike="noStrike">
                <a:solidFill>
                  <a:srgbClr val="111111"/>
                </a:solidFill>
                <a:latin typeface="NotoSansJP"/>
                <a:ea typeface="NotoSansJP"/>
              </a:rPr>
              <a:t>統計モデル </a:t>
            </a:r>
            <a:r>
              <a:rPr b="0" lang="en-US" sz="2390" spc="-1" strike="noStrike">
                <a:solidFill>
                  <a:srgbClr val="111111"/>
                </a:solidFill>
                <a:latin typeface="NotoSansJP"/>
                <a:ea typeface="NotoSansJP"/>
              </a:rPr>
              <a:t>(ARIMA</a:t>
            </a:r>
            <a:r>
              <a:rPr b="0" lang="zh-CN" sz="2390" spc="-1" strike="noStrike">
                <a:solidFill>
                  <a:srgbClr val="111111"/>
                </a:solidFill>
                <a:latin typeface="NotoSansJP"/>
                <a:ea typeface="NotoSansJP"/>
              </a:rPr>
              <a:t>など</a:t>
            </a:r>
            <a:r>
              <a:rPr b="0" lang="en-US" sz="2390" spc="-1" strike="noStrike">
                <a:solidFill>
                  <a:srgbClr val="111111"/>
                </a:solidFill>
                <a:latin typeface="NotoSansJP"/>
                <a:ea typeface="NotoSansJP"/>
              </a:rPr>
              <a:t>)</a:t>
            </a:r>
            <a:endParaRPr b="0" lang="en-US" sz="2390" spc="-1" strike="noStrike">
              <a:solidFill>
                <a:srgbClr val="000000"/>
              </a:solidFill>
              <a:latin typeface="Times New Roman"/>
            </a:endParaRPr>
          </a:p>
        </p:txBody>
      </p:sp>
      <p:sp>
        <p:nvSpPr>
          <p:cNvPr id="232" name=""/>
          <p:cNvSpPr/>
          <p:nvPr/>
        </p:nvSpPr>
        <p:spPr>
          <a:xfrm>
            <a:off x="1361880" y="284796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8"/>
                </a:cubicBezTo>
                <a:cubicBezTo>
                  <a:pt x="5" y="108"/>
                  <a:pt x="7" y="99"/>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0"/>
                  <a:pt x="136" y="0"/>
                  <a:pt x="147" y="0"/>
                </a:cubicBezTo>
                <a:cubicBezTo>
                  <a:pt x="156" y="0"/>
                  <a:pt x="166" y="0"/>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3" name=""/>
          <p:cNvSpPr txBox="1"/>
          <p:nvPr/>
        </p:nvSpPr>
        <p:spPr>
          <a:xfrm>
            <a:off x="1085760" y="2200320"/>
            <a:ext cx="15616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の強み</a:t>
            </a:r>
            <a:endParaRPr b="0" lang="en-US" sz="2170" spc="-1" strike="noStrike">
              <a:solidFill>
                <a:srgbClr val="000000"/>
              </a:solidFill>
              <a:latin typeface="Times New Roman"/>
            </a:endParaRPr>
          </a:p>
        </p:txBody>
      </p:sp>
      <p:sp>
        <p:nvSpPr>
          <p:cNvPr id="234" name=""/>
          <p:cNvSpPr/>
          <p:nvPr/>
        </p:nvSpPr>
        <p:spPr>
          <a:xfrm>
            <a:off x="1361880" y="3333600"/>
            <a:ext cx="105120" cy="105120"/>
          </a:xfrm>
          <a:custGeom>
            <a:avLst/>
            <a:gdLst/>
            <a:ahLst/>
            <a:rect l="0" t="0" r="r" b="b"/>
            <a:pathLst>
              <a:path w="292" h="292">
                <a:moveTo>
                  <a:pt x="292" y="145"/>
                </a:moveTo>
                <a:cubicBezTo>
                  <a:pt x="292" y="155"/>
                  <a:pt x="291" y="164"/>
                  <a:pt x="289" y="174"/>
                </a:cubicBezTo>
                <a:cubicBezTo>
                  <a:pt x="287" y="183"/>
                  <a:pt x="285" y="192"/>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2"/>
                  <a:pt x="5" y="183"/>
                  <a:pt x="3" y="174"/>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5" name=""/>
          <p:cNvSpPr txBox="1"/>
          <p:nvPr/>
        </p:nvSpPr>
        <p:spPr>
          <a:xfrm>
            <a:off x="1638360" y="270504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複数の時系列データから、複雑な非線形パターンを学習できる</a:t>
            </a:r>
            <a:endParaRPr b="0" lang="en-US" sz="2170" spc="-1" strike="noStrike">
              <a:solidFill>
                <a:srgbClr val="000000"/>
              </a:solidFill>
              <a:latin typeface="Times New Roman"/>
            </a:endParaRPr>
          </a:p>
        </p:txBody>
      </p:sp>
      <p:sp>
        <p:nvSpPr>
          <p:cNvPr id="236" name=""/>
          <p:cNvSpPr/>
          <p:nvPr/>
        </p:nvSpPr>
        <p:spPr>
          <a:xfrm>
            <a:off x="809280" y="38192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7"/>
                  <a:pt x="57" y="31"/>
                  <a:pt x="65" y="26"/>
                </a:cubicBezTo>
                <a:cubicBezTo>
                  <a:pt x="73" y="21"/>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1"/>
                  <a:pt x="228" y="26"/>
                </a:cubicBezTo>
                <a:cubicBezTo>
                  <a:pt x="236" y="31"/>
                  <a:pt x="243" y="37"/>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37" name=""/>
          <p:cNvSpPr txBox="1"/>
          <p:nvPr/>
        </p:nvSpPr>
        <p:spPr>
          <a:xfrm>
            <a:off x="1638360" y="319104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特徴量エンジニアリングの手間が少ない</a:t>
            </a:r>
            <a:endParaRPr b="0" lang="en-US" sz="2170" spc="-1" strike="noStrike">
              <a:solidFill>
                <a:srgbClr val="000000"/>
              </a:solidFill>
              <a:latin typeface="Times New Roman"/>
            </a:endParaRPr>
          </a:p>
        </p:txBody>
      </p:sp>
      <p:sp>
        <p:nvSpPr>
          <p:cNvPr id="238" name=""/>
          <p:cNvSpPr/>
          <p:nvPr/>
        </p:nvSpPr>
        <p:spPr>
          <a:xfrm>
            <a:off x="1361880" y="432432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8"/>
                </a:cubicBezTo>
                <a:cubicBezTo>
                  <a:pt x="5" y="108"/>
                  <a:pt x="7" y="99"/>
                  <a:pt x="11" y="90"/>
                </a:cubicBezTo>
                <a:cubicBezTo>
                  <a:pt x="15" y="82"/>
                  <a:pt x="19" y="73"/>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3"/>
                  <a:pt x="277" y="82"/>
                  <a:pt x="281" y="90"/>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9" name=""/>
          <p:cNvSpPr txBox="1"/>
          <p:nvPr/>
        </p:nvSpPr>
        <p:spPr>
          <a:xfrm>
            <a:off x="1085760" y="3676680"/>
            <a:ext cx="2207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統計モデルの強み</a:t>
            </a:r>
            <a:endParaRPr b="0" lang="en-US" sz="2170" spc="-1" strike="noStrike">
              <a:solidFill>
                <a:srgbClr val="000000"/>
              </a:solidFill>
              <a:latin typeface="Times New Roman"/>
            </a:endParaRPr>
          </a:p>
        </p:txBody>
      </p:sp>
      <p:sp>
        <p:nvSpPr>
          <p:cNvPr id="240" name=""/>
          <p:cNvSpPr/>
          <p:nvPr/>
        </p:nvSpPr>
        <p:spPr>
          <a:xfrm>
            <a:off x="1361880" y="4809960"/>
            <a:ext cx="105120" cy="105120"/>
          </a:xfrm>
          <a:custGeom>
            <a:avLst/>
            <a:gdLst/>
            <a:ahLst/>
            <a:rect l="0" t="0" r="r" b="b"/>
            <a:pathLst>
              <a:path w="292" h="292">
                <a:moveTo>
                  <a:pt x="292" y="145"/>
                </a:moveTo>
                <a:cubicBezTo>
                  <a:pt x="292" y="155"/>
                  <a:pt x="291" y="164"/>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41" name=""/>
          <p:cNvSpPr txBox="1"/>
          <p:nvPr/>
        </p:nvSpPr>
        <p:spPr>
          <a:xfrm>
            <a:off x="1638360" y="4181400"/>
            <a:ext cx="82760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単純な単変量時系列データでは、同等以上の性能を示すことがある</a:t>
            </a:r>
            <a:endParaRPr b="0" lang="en-US" sz="2170" spc="-1" strike="noStrike">
              <a:solidFill>
                <a:srgbClr val="000000"/>
              </a:solidFill>
              <a:latin typeface="Times New Roman"/>
            </a:endParaRPr>
          </a:p>
        </p:txBody>
      </p:sp>
      <p:sp>
        <p:nvSpPr>
          <p:cNvPr id="242" name=""/>
          <p:cNvSpPr/>
          <p:nvPr/>
        </p:nvSpPr>
        <p:spPr>
          <a:xfrm>
            <a:off x="1361880" y="529560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0"/>
                  <a:pt x="273" y="219"/>
                  <a:pt x="268" y="227"/>
                </a:cubicBezTo>
                <a:cubicBezTo>
                  <a:pt x="262" y="235"/>
                  <a:pt x="256" y="242"/>
                  <a:pt x="249" y="249"/>
                </a:cubicBezTo>
                <a:cubicBezTo>
                  <a:pt x="243" y="256"/>
                  <a:pt x="235" y="262"/>
                  <a:pt x="227" y="267"/>
                </a:cubicBezTo>
                <a:cubicBezTo>
                  <a:pt x="219" y="272"/>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2"/>
                  <a:pt x="65" y="267"/>
                </a:cubicBezTo>
                <a:cubicBezTo>
                  <a:pt x="57" y="262"/>
                  <a:pt x="49" y="256"/>
                  <a:pt x="43" y="249"/>
                </a:cubicBezTo>
                <a:cubicBezTo>
                  <a:pt x="36" y="242"/>
                  <a:pt x="30" y="235"/>
                  <a:pt x="25" y="227"/>
                </a:cubicBezTo>
                <a:cubicBezTo>
                  <a:pt x="19" y="219"/>
                  <a:pt x="15" y="210"/>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43" name=""/>
          <p:cNvSpPr txBox="1"/>
          <p:nvPr/>
        </p:nvSpPr>
        <p:spPr>
          <a:xfrm>
            <a:off x="1638360" y="4667400"/>
            <a:ext cx="275904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過学習のリスクが低い</a:t>
            </a:r>
            <a:endParaRPr b="0" lang="en-US" sz="2170" spc="-1" strike="noStrike">
              <a:solidFill>
                <a:srgbClr val="000000"/>
              </a:solidFill>
              <a:latin typeface="Times New Roman"/>
            </a:endParaRPr>
          </a:p>
        </p:txBody>
      </p:sp>
      <p:sp>
        <p:nvSpPr>
          <p:cNvPr id="244" name=""/>
          <p:cNvSpPr txBox="1"/>
          <p:nvPr/>
        </p:nvSpPr>
        <p:spPr>
          <a:xfrm>
            <a:off x="1638360" y="5153040"/>
            <a:ext cx="2207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計算コストが低い</a:t>
            </a:r>
            <a:endParaRPr b="0" lang="en-US" sz="2170" spc="-1" strike="noStrike">
              <a:solidFill>
                <a:srgbClr val="000000"/>
              </a:solidFill>
              <a:latin typeface="Times New Roman"/>
            </a:endParaRPr>
          </a:p>
        </p:txBody>
      </p:sp>
      <p:sp>
        <p:nvSpPr>
          <p:cNvPr id="245" name=""/>
          <p:cNvSpPr txBox="1"/>
          <p:nvPr/>
        </p:nvSpPr>
        <p:spPr>
          <a:xfrm>
            <a:off x="3064320" y="6134040"/>
            <a:ext cx="6069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結論：データの特性やタスクの複雑さに応じて、</a:t>
            </a:r>
            <a:endParaRPr b="0" lang="en-US" sz="2170" spc="-1" strike="noStrike">
              <a:solidFill>
                <a:srgbClr val="000000"/>
              </a:solidFill>
              <a:latin typeface="Times New Roman"/>
            </a:endParaRPr>
          </a:p>
        </p:txBody>
      </p:sp>
      <p:sp>
        <p:nvSpPr>
          <p:cNvPr id="246" name=""/>
          <p:cNvSpPr txBox="1"/>
          <p:nvPr/>
        </p:nvSpPr>
        <p:spPr>
          <a:xfrm>
            <a:off x="3886200" y="654372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適切なモデルを選択することが重要</a:t>
            </a:r>
            <a:endParaRPr b="0" lang="en-US" sz="2170" spc="-1" strike="noStrike">
              <a:solidFill>
                <a:srgbClr val="000000"/>
              </a:solidFill>
              <a:latin typeface="Times New Roman"/>
            </a:endParaRPr>
          </a:p>
        </p:txBody>
      </p:sp>
      <p:sp>
        <p:nvSpPr>
          <p:cNvPr id="24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48" name=""/>
          <p:cNvSpPr txBox="1"/>
          <p:nvPr/>
        </p:nvSpPr>
        <p:spPr>
          <a:xfrm>
            <a:off x="914400" y="392400"/>
            <a:ext cx="379368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4. </a:t>
            </a:r>
            <a:r>
              <a:rPr b="0" lang="zh-CN" sz="1950" spc="-1" strike="noStrike">
                <a:solidFill>
                  <a:srgbClr val="111111"/>
                </a:solidFill>
                <a:latin typeface="NotoSansJP"/>
                <a:ea typeface="NotoSansJP"/>
              </a:rPr>
              <a:t>考察：</a:t>
            </a:r>
            <a:r>
              <a:rPr b="0" lang="en-US" sz="1950" spc="-1" strike="noStrike">
                <a:solidFill>
                  <a:srgbClr val="111111"/>
                </a:solidFill>
                <a:latin typeface="NotoSansJP"/>
                <a:ea typeface="NotoSansJP"/>
              </a:rPr>
              <a:t>LSTM</a:t>
            </a:r>
            <a:r>
              <a:rPr b="0" lang="zh-CN" sz="1950" spc="-1" strike="noStrike">
                <a:solidFill>
                  <a:srgbClr val="111111"/>
                </a:solidFill>
                <a:latin typeface="NotoSansJP"/>
                <a:ea typeface="NotoSansJP"/>
              </a:rPr>
              <a:t>は万能薬ではない</a:t>
            </a:r>
            <a:endParaRPr b="0" lang="en-US" sz="1950" spc="-1" strike="noStrike">
              <a:solidFill>
                <a:srgbClr val="000000"/>
              </a:solidFill>
              <a:latin typeface="Times New Roman"/>
            </a:endParaRPr>
          </a:p>
        </p:txBody>
      </p:sp>
      <p:sp>
        <p:nvSpPr>
          <p:cNvPr id="249"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10</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54" name="" descr=""/>
          <p:cNvPicPr/>
          <p:nvPr/>
        </p:nvPicPr>
        <p:blipFill>
          <a:blip r:embed="rId1"/>
          <a:stretch/>
        </p:blipFill>
        <p:spPr>
          <a:xfrm>
            <a:off x="10515600" y="38160"/>
            <a:ext cx="1142640" cy="1142640"/>
          </a:xfrm>
          <a:prstGeom prst="rect">
            <a:avLst/>
          </a:prstGeom>
          <a:ln w="0">
            <a:noFill/>
          </a:ln>
        </p:spPr>
      </p:pic>
      <p:sp>
        <p:nvSpPr>
          <p:cNvPr id="255"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6" name=""/>
          <p:cNvSpPr txBox="1"/>
          <p:nvPr/>
        </p:nvSpPr>
        <p:spPr>
          <a:xfrm>
            <a:off x="533520" y="923760"/>
            <a:ext cx="87336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のアーキテクチャは、さらに高度なモデルの基礎となっています</a:t>
            </a:r>
            <a:endParaRPr b="0" lang="en-US" sz="2170" spc="-1" strike="noStrike">
              <a:solidFill>
                <a:srgbClr val="000000"/>
              </a:solidFill>
              <a:latin typeface="Times New Roman"/>
            </a:endParaRPr>
          </a:p>
        </p:txBody>
      </p:sp>
      <p:sp>
        <p:nvSpPr>
          <p:cNvPr id="257" name=""/>
          <p:cNvSpPr/>
          <p:nvPr/>
        </p:nvSpPr>
        <p:spPr>
          <a:xfrm>
            <a:off x="1361880" y="2085840"/>
            <a:ext cx="105120" cy="105120"/>
          </a:xfrm>
          <a:custGeom>
            <a:avLst/>
            <a:gdLst/>
            <a:ahLst/>
            <a:rect l="0" t="0" r="r" b="b"/>
            <a:pathLst>
              <a:path w="292" h="292">
                <a:moveTo>
                  <a:pt x="292" y="145"/>
                </a:moveTo>
                <a:cubicBezTo>
                  <a:pt x="292" y="155"/>
                  <a:pt x="291" y="164"/>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4"/>
                  <a:pt x="0" y="155"/>
                  <a:pt x="0" y="145"/>
                </a:cubicBezTo>
                <a:cubicBezTo>
                  <a:pt x="0" y="136"/>
                  <a:pt x="1" y="126"/>
                  <a:pt x="3" y="117"/>
                </a:cubicBezTo>
                <a:cubicBezTo>
                  <a:pt x="5" y="108"/>
                  <a:pt x="7" y="99"/>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58" name=""/>
          <p:cNvSpPr txBox="1"/>
          <p:nvPr/>
        </p:nvSpPr>
        <p:spPr>
          <a:xfrm>
            <a:off x="1085760" y="1438200"/>
            <a:ext cx="246060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Deep-LSTM (DLSTM)</a:t>
            </a:r>
            <a:endParaRPr b="0" lang="en-US" sz="2170" spc="-1" strike="noStrike">
              <a:solidFill>
                <a:srgbClr val="000000"/>
              </a:solidFill>
              <a:latin typeface="Times New Roman"/>
            </a:endParaRPr>
          </a:p>
        </p:txBody>
      </p:sp>
      <p:sp>
        <p:nvSpPr>
          <p:cNvPr id="259" name=""/>
          <p:cNvSpPr/>
          <p:nvPr/>
        </p:nvSpPr>
        <p:spPr>
          <a:xfrm>
            <a:off x="809280" y="2571480"/>
            <a:ext cx="105120" cy="105120"/>
          </a:xfrm>
          <a:custGeom>
            <a:avLst/>
            <a:gdLst/>
            <a:ahLst/>
            <a:rect l="0" t="0" r="r" b="b"/>
            <a:pathLst>
              <a:path w="292" h="292">
                <a:moveTo>
                  <a:pt x="292" y="146"/>
                </a:moveTo>
                <a:cubicBezTo>
                  <a:pt x="292" y="155"/>
                  <a:pt x="292" y="165"/>
                  <a:pt x="290" y="174"/>
                </a:cubicBezTo>
                <a:cubicBezTo>
                  <a:pt x="288" y="184"/>
                  <a:pt x="285" y="193"/>
                  <a:pt x="281" y="201"/>
                </a:cubicBezTo>
                <a:cubicBezTo>
                  <a:pt x="278" y="210"/>
                  <a:pt x="273" y="219"/>
                  <a:pt x="268" y="227"/>
                </a:cubicBezTo>
                <a:cubicBezTo>
                  <a:pt x="263" y="235"/>
                  <a:pt x="257" y="242"/>
                  <a:pt x="250" y="249"/>
                </a:cubicBezTo>
                <a:cubicBezTo>
                  <a:pt x="243" y="255"/>
                  <a:pt x="236" y="261"/>
                  <a:pt x="228" y="267"/>
                </a:cubicBezTo>
                <a:cubicBezTo>
                  <a:pt x="219" y="272"/>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2"/>
                  <a:pt x="65" y="267"/>
                </a:cubicBezTo>
                <a:cubicBezTo>
                  <a:pt x="57" y="261"/>
                  <a:pt x="50" y="255"/>
                  <a:pt x="43" y="249"/>
                </a:cubicBezTo>
                <a:cubicBezTo>
                  <a:pt x="36" y="242"/>
                  <a:pt x="30" y="235"/>
                  <a:pt x="25" y="227"/>
                </a:cubicBezTo>
                <a:cubicBezTo>
                  <a:pt x="20" y="219"/>
                  <a:pt x="15" y="210"/>
                  <a:pt x="12" y="201"/>
                </a:cubicBezTo>
                <a:cubicBezTo>
                  <a:pt x="8" y="193"/>
                  <a:pt x="5" y="184"/>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0" name=""/>
          <p:cNvSpPr txBox="1"/>
          <p:nvPr/>
        </p:nvSpPr>
        <p:spPr>
          <a:xfrm>
            <a:off x="1638360" y="1942920"/>
            <a:ext cx="73544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層を複数重ねることで、より複雑なデータ構造を表現</a:t>
            </a:r>
            <a:endParaRPr b="0" lang="en-US" sz="2170" spc="-1" strike="noStrike">
              <a:solidFill>
                <a:srgbClr val="000000"/>
              </a:solidFill>
              <a:latin typeface="Times New Roman"/>
            </a:endParaRPr>
          </a:p>
        </p:txBody>
      </p:sp>
      <p:sp>
        <p:nvSpPr>
          <p:cNvPr id="261" name=""/>
          <p:cNvSpPr/>
          <p:nvPr/>
        </p:nvSpPr>
        <p:spPr>
          <a:xfrm>
            <a:off x="1361880" y="3085920"/>
            <a:ext cx="105120" cy="105120"/>
          </a:xfrm>
          <a:custGeom>
            <a:avLst/>
            <a:gdLst/>
            <a:ahLst/>
            <a:rect l="0" t="0" r="r" b="b"/>
            <a:pathLst>
              <a:path w="292" h="292">
                <a:moveTo>
                  <a:pt x="292" y="147"/>
                </a:moveTo>
                <a:cubicBezTo>
                  <a:pt x="292" y="156"/>
                  <a:pt x="291" y="166"/>
                  <a:pt x="289" y="175"/>
                </a:cubicBezTo>
                <a:cubicBezTo>
                  <a:pt x="287" y="184"/>
                  <a:pt x="285" y="193"/>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0"/>
                  <a:pt x="43" y="44"/>
                </a:cubicBezTo>
                <a:cubicBezTo>
                  <a:pt x="49" y="37"/>
                  <a:pt x="57" y="31"/>
                  <a:pt x="65" y="26"/>
                </a:cubicBezTo>
                <a:cubicBezTo>
                  <a:pt x="73" y="20"/>
                  <a:pt x="81" y="16"/>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6"/>
                  <a:pt x="219" y="20"/>
                  <a:pt x="227" y="26"/>
                </a:cubicBezTo>
                <a:cubicBezTo>
                  <a:pt x="235" y="31"/>
                  <a:pt x="243" y="37"/>
                  <a:pt x="249" y="44"/>
                </a:cubicBezTo>
                <a:cubicBezTo>
                  <a:pt x="256" y="50"/>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2" name=""/>
          <p:cNvSpPr txBox="1"/>
          <p:nvPr/>
        </p:nvSpPr>
        <p:spPr>
          <a:xfrm>
            <a:off x="1085760" y="2428920"/>
            <a:ext cx="17305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Attention</a:t>
            </a:r>
            <a:r>
              <a:rPr b="0" lang="zh-CN" sz="2170" spc="-1" strike="noStrike">
                <a:solidFill>
                  <a:srgbClr val="111111"/>
                </a:solidFill>
                <a:latin typeface="NotoSansJP"/>
                <a:ea typeface="NotoSansJP"/>
              </a:rPr>
              <a:t>機構</a:t>
            </a:r>
            <a:endParaRPr b="0" lang="en-US" sz="2170" spc="-1" strike="noStrike">
              <a:solidFill>
                <a:srgbClr val="000000"/>
              </a:solidFill>
              <a:latin typeface="Times New Roman"/>
            </a:endParaRPr>
          </a:p>
        </p:txBody>
      </p:sp>
      <p:sp>
        <p:nvSpPr>
          <p:cNvPr id="263" name=""/>
          <p:cNvSpPr/>
          <p:nvPr/>
        </p:nvSpPr>
        <p:spPr>
          <a:xfrm>
            <a:off x="1361880" y="356220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4" name=""/>
          <p:cNvSpPr txBox="1"/>
          <p:nvPr/>
        </p:nvSpPr>
        <p:spPr>
          <a:xfrm>
            <a:off x="1638360" y="2943360"/>
            <a:ext cx="74484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系列データのどの部分に「注目」すべきかを学習する仕組み</a:t>
            </a:r>
            <a:endParaRPr b="0" lang="en-US" sz="2170" spc="-1" strike="noStrike">
              <a:solidFill>
                <a:srgbClr val="000000"/>
              </a:solidFill>
              <a:latin typeface="Times New Roman"/>
            </a:endParaRPr>
          </a:p>
        </p:txBody>
      </p:sp>
      <p:sp>
        <p:nvSpPr>
          <p:cNvPr id="265" name=""/>
          <p:cNvSpPr/>
          <p:nvPr/>
        </p:nvSpPr>
        <p:spPr>
          <a:xfrm>
            <a:off x="1361880" y="4047840"/>
            <a:ext cx="105120" cy="105120"/>
          </a:xfrm>
          <a:custGeom>
            <a:avLst/>
            <a:gdLst/>
            <a:ahLst/>
            <a:rect l="0" t="0" r="r" b="b"/>
            <a:pathLst>
              <a:path w="292" h="292">
                <a:moveTo>
                  <a:pt x="292" y="146"/>
                </a:moveTo>
                <a:cubicBezTo>
                  <a:pt x="292" y="155"/>
                  <a:pt x="291" y="165"/>
                  <a:pt x="289" y="174"/>
                </a:cubicBezTo>
                <a:cubicBezTo>
                  <a:pt x="287" y="184"/>
                  <a:pt x="285" y="193"/>
                  <a:pt x="281" y="201"/>
                </a:cubicBezTo>
                <a:cubicBezTo>
                  <a:pt x="277" y="210"/>
                  <a:pt x="273" y="219"/>
                  <a:pt x="268" y="227"/>
                </a:cubicBezTo>
                <a:cubicBezTo>
                  <a:pt x="262" y="235"/>
                  <a:pt x="256" y="242"/>
                  <a:pt x="249" y="249"/>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49"/>
                </a:cubicBezTo>
                <a:cubicBezTo>
                  <a:pt x="36" y="242"/>
                  <a:pt x="30" y="235"/>
                  <a:pt x="25" y="227"/>
                </a:cubicBezTo>
                <a:cubicBezTo>
                  <a:pt x="19" y="219"/>
                  <a:pt x="15" y="210"/>
                  <a:pt x="11" y="201"/>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6" name=""/>
          <p:cNvSpPr txBox="1"/>
          <p:nvPr/>
        </p:nvSpPr>
        <p:spPr>
          <a:xfrm>
            <a:off x="1638360" y="3419640"/>
            <a:ext cx="48718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と組み合わせることで性能が向上</a:t>
            </a:r>
            <a:endParaRPr b="0" lang="en-US" sz="2170" spc="-1" strike="noStrike">
              <a:solidFill>
                <a:srgbClr val="000000"/>
              </a:solidFill>
              <a:latin typeface="Times New Roman"/>
            </a:endParaRPr>
          </a:p>
        </p:txBody>
      </p:sp>
      <p:sp>
        <p:nvSpPr>
          <p:cNvPr id="267" name=""/>
          <p:cNvSpPr/>
          <p:nvPr/>
        </p:nvSpPr>
        <p:spPr>
          <a:xfrm>
            <a:off x="809280" y="453384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8"/>
                  <a:pt x="8" y="99"/>
                  <a:pt x="12" y="90"/>
                </a:cubicBezTo>
                <a:cubicBezTo>
                  <a:pt x="15" y="82"/>
                  <a:pt x="20" y="73"/>
                  <a:pt x="25" y="64"/>
                </a:cubicBezTo>
                <a:cubicBezTo>
                  <a:pt x="30" y="56"/>
                  <a:pt x="36" y="49"/>
                  <a:pt x="43" y="42"/>
                </a:cubicBezTo>
                <a:cubicBezTo>
                  <a:pt x="50" y="36"/>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6"/>
                  <a:pt x="250" y="42"/>
                </a:cubicBezTo>
                <a:cubicBezTo>
                  <a:pt x="257" y="49"/>
                  <a:pt x="263" y="56"/>
                  <a:pt x="268" y="64"/>
                </a:cubicBezTo>
                <a:cubicBezTo>
                  <a:pt x="273" y="73"/>
                  <a:pt x="278" y="82"/>
                  <a:pt x="281" y="90"/>
                </a:cubicBezTo>
                <a:cubicBezTo>
                  <a:pt x="285" y="99"/>
                  <a:pt x="288" y="108"/>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8" name=""/>
          <p:cNvSpPr txBox="1"/>
          <p:nvPr/>
        </p:nvSpPr>
        <p:spPr>
          <a:xfrm>
            <a:off x="1638360" y="3905280"/>
            <a:ext cx="426060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この概念が </a:t>
            </a:r>
            <a:r>
              <a:rPr b="0" lang="en-US" sz="2170" spc="-1" strike="noStrike">
                <a:solidFill>
                  <a:srgbClr val="083a5e"/>
                </a:solidFill>
                <a:latin typeface="NotoSansJP"/>
                <a:ea typeface="NotoSansJP"/>
              </a:rPr>
              <a:t>Transformer</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へと発展</a:t>
            </a:r>
            <a:endParaRPr b="0" lang="en-US" sz="2170" spc="-1" strike="noStrike">
              <a:solidFill>
                <a:srgbClr val="000000"/>
              </a:solidFill>
              <a:latin typeface="Times New Roman"/>
            </a:endParaRPr>
          </a:p>
        </p:txBody>
      </p:sp>
      <p:sp>
        <p:nvSpPr>
          <p:cNvPr id="269" name=""/>
          <p:cNvSpPr/>
          <p:nvPr/>
        </p:nvSpPr>
        <p:spPr>
          <a:xfrm>
            <a:off x="1361880" y="50385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7"/>
                  <a:pt x="1" y="127"/>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70" name=""/>
          <p:cNvSpPr txBox="1"/>
          <p:nvPr/>
        </p:nvSpPr>
        <p:spPr>
          <a:xfrm>
            <a:off x="1085760" y="4390920"/>
            <a:ext cx="146088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BERT (2018)</a:t>
            </a:r>
            <a:endParaRPr b="0" lang="en-US" sz="2170" spc="-1" strike="noStrike">
              <a:solidFill>
                <a:srgbClr val="000000"/>
              </a:solidFill>
              <a:latin typeface="Times New Roman"/>
            </a:endParaRPr>
          </a:p>
        </p:txBody>
      </p:sp>
      <p:sp>
        <p:nvSpPr>
          <p:cNvPr id="271" name=""/>
          <p:cNvSpPr/>
          <p:nvPr/>
        </p:nvSpPr>
        <p:spPr>
          <a:xfrm>
            <a:off x="1361880" y="552420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0"/>
                  <a:pt x="273" y="219"/>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19"/>
                  <a:pt x="15" y="210"/>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72" name=""/>
          <p:cNvSpPr txBox="1"/>
          <p:nvPr/>
        </p:nvSpPr>
        <p:spPr>
          <a:xfrm>
            <a:off x="1638360" y="4896000"/>
            <a:ext cx="59810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Transformer</a:t>
            </a:r>
            <a:r>
              <a:rPr b="0" lang="zh-CN" sz="2170" spc="-1" strike="noStrike">
                <a:solidFill>
                  <a:srgbClr val="111111"/>
                </a:solidFill>
                <a:latin typeface="NotoSansJP"/>
                <a:ea typeface="NotoSansJP"/>
              </a:rPr>
              <a:t>をベースにしたエンコーダーモデル</a:t>
            </a:r>
            <a:endParaRPr b="0" lang="en-US" sz="2170" spc="-1" strike="noStrike">
              <a:solidFill>
                <a:srgbClr val="000000"/>
              </a:solidFill>
              <a:latin typeface="Times New Roman"/>
            </a:endParaRPr>
          </a:p>
        </p:txBody>
      </p:sp>
      <p:sp>
        <p:nvSpPr>
          <p:cNvPr id="273" name=""/>
          <p:cNvSpPr txBox="1"/>
          <p:nvPr/>
        </p:nvSpPr>
        <p:spPr>
          <a:xfrm>
            <a:off x="1638360" y="5381640"/>
            <a:ext cx="57204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ELMo</a:t>
            </a:r>
            <a:r>
              <a:rPr b="0" lang="zh-CN" sz="2170" spc="-1" strike="noStrike">
                <a:solidFill>
                  <a:srgbClr val="111111"/>
                </a:solidFill>
                <a:latin typeface="NotoSansJP"/>
                <a:ea typeface="NotoSansJP"/>
              </a:rPr>
              <a:t>と同様に、文脈に応じた単語表現が可能</a:t>
            </a:r>
            <a:endParaRPr b="0" lang="en-US" sz="2170" spc="-1" strike="noStrike">
              <a:solidFill>
                <a:srgbClr val="000000"/>
              </a:solidFill>
              <a:latin typeface="Times New Roman"/>
            </a:endParaRPr>
          </a:p>
        </p:txBody>
      </p:sp>
      <p:sp>
        <p:nvSpPr>
          <p:cNvPr id="274" name=""/>
          <p:cNvSpPr txBox="1"/>
          <p:nvPr/>
        </p:nvSpPr>
        <p:spPr>
          <a:xfrm>
            <a:off x="533520" y="6362640"/>
            <a:ext cx="101127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は、現代の高度な自然言語処理モデルの礎を築いた重要な技術と言えます。</a:t>
            </a:r>
            <a:endParaRPr b="0" lang="en-US" sz="2170" spc="-1" strike="noStrike">
              <a:solidFill>
                <a:srgbClr val="000000"/>
              </a:solidFill>
              <a:latin typeface="Times New Roman"/>
            </a:endParaRPr>
          </a:p>
        </p:txBody>
      </p:sp>
      <p:sp>
        <p:nvSpPr>
          <p:cNvPr id="275"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6" name=""/>
          <p:cNvSpPr txBox="1"/>
          <p:nvPr/>
        </p:nvSpPr>
        <p:spPr>
          <a:xfrm>
            <a:off x="914400" y="392400"/>
            <a:ext cx="19879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今後の展望と発展</a:t>
            </a:r>
            <a:endParaRPr b="0" lang="en-US" sz="1950" spc="-1" strike="noStrike">
              <a:solidFill>
                <a:srgbClr val="000000"/>
              </a:solidFill>
              <a:latin typeface="Times New Roman"/>
            </a:endParaRPr>
          </a:p>
        </p:txBody>
      </p:sp>
      <p:sp>
        <p:nvSpPr>
          <p:cNvPr id="277"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7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81"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82" name="" descr=""/>
          <p:cNvPicPr/>
          <p:nvPr/>
        </p:nvPicPr>
        <p:blipFill>
          <a:blip r:embed="rId1"/>
          <a:stretch/>
        </p:blipFill>
        <p:spPr>
          <a:xfrm>
            <a:off x="10515600" y="38160"/>
            <a:ext cx="1142640" cy="1142640"/>
          </a:xfrm>
          <a:prstGeom prst="rect">
            <a:avLst/>
          </a:prstGeom>
          <a:ln w="0">
            <a:noFill/>
          </a:ln>
        </p:spPr>
      </p:pic>
      <p:sp>
        <p:nvSpPr>
          <p:cNvPr id="283"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4" name=""/>
          <p:cNvSpPr txBox="1"/>
          <p:nvPr/>
        </p:nvSpPr>
        <p:spPr>
          <a:xfrm>
            <a:off x="533520" y="923760"/>
            <a:ext cx="71578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本発表では、</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の仕組みと応用について解説しました</a:t>
            </a:r>
            <a:endParaRPr b="0" lang="en-US" sz="2170" spc="-1" strike="noStrike">
              <a:solidFill>
                <a:srgbClr val="000000"/>
              </a:solidFill>
              <a:latin typeface="Times New Roman"/>
            </a:endParaRPr>
          </a:p>
        </p:txBody>
      </p:sp>
      <p:sp>
        <p:nvSpPr>
          <p:cNvPr id="285" name=""/>
          <p:cNvSpPr/>
          <p:nvPr/>
        </p:nvSpPr>
        <p:spPr>
          <a:xfrm>
            <a:off x="1361880" y="2085840"/>
            <a:ext cx="105120" cy="105120"/>
          </a:xfrm>
          <a:custGeom>
            <a:avLst/>
            <a:gdLst/>
            <a:ahLst/>
            <a:rect l="0" t="0" r="r" b="b"/>
            <a:pathLst>
              <a:path w="292" h="292">
                <a:moveTo>
                  <a:pt x="292" y="145"/>
                </a:moveTo>
                <a:cubicBezTo>
                  <a:pt x="292" y="155"/>
                  <a:pt x="291" y="164"/>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4"/>
                  <a:pt x="0" y="155"/>
                  <a:pt x="0" y="145"/>
                </a:cubicBezTo>
                <a:cubicBezTo>
                  <a:pt x="0" y="136"/>
                  <a:pt x="1" y="126"/>
                  <a:pt x="3" y="117"/>
                </a:cubicBezTo>
                <a:cubicBezTo>
                  <a:pt x="5" y="108"/>
                  <a:pt x="7" y="99"/>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86" name=""/>
          <p:cNvSpPr txBox="1"/>
          <p:nvPr/>
        </p:nvSpPr>
        <p:spPr>
          <a:xfrm>
            <a:off x="1085760" y="1438200"/>
            <a:ext cx="56991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はゲート機構により勾配消失問題を解決</a:t>
            </a:r>
            <a:endParaRPr b="0" lang="en-US" sz="2170" spc="-1" strike="noStrike">
              <a:solidFill>
                <a:srgbClr val="000000"/>
              </a:solidFill>
              <a:latin typeface="Times New Roman"/>
            </a:endParaRPr>
          </a:p>
        </p:txBody>
      </p:sp>
      <p:sp>
        <p:nvSpPr>
          <p:cNvPr id="287" name=""/>
          <p:cNvSpPr txBox="1"/>
          <p:nvPr/>
        </p:nvSpPr>
        <p:spPr>
          <a:xfrm>
            <a:off x="1638360" y="1942920"/>
            <a:ext cx="996660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「セル状態」と「</a:t>
            </a:r>
            <a:r>
              <a:rPr b="0" lang="en-US" sz="2170" spc="-1" strike="noStrike">
                <a:solidFill>
                  <a:srgbClr val="111111"/>
                </a:solidFill>
                <a:latin typeface="NotoSansJP"/>
                <a:ea typeface="NotoSansJP"/>
              </a:rPr>
              <a:t>3</a:t>
            </a:r>
            <a:r>
              <a:rPr b="0" lang="zh-CN" sz="2170" spc="-1" strike="noStrike">
                <a:solidFill>
                  <a:srgbClr val="111111"/>
                </a:solidFill>
                <a:latin typeface="NotoSansJP"/>
                <a:ea typeface="NotoSansJP"/>
              </a:rPr>
              <a:t>つのゲート」で情報の取捨選択を行い、長期的な依存関係を</a:t>
            </a:r>
            <a:endParaRPr b="0" lang="en-US" sz="2170" spc="-1" strike="noStrike">
              <a:solidFill>
                <a:srgbClr val="000000"/>
              </a:solidFill>
              <a:latin typeface="Times New Roman"/>
            </a:endParaRPr>
          </a:p>
        </p:txBody>
      </p:sp>
      <p:sp>
        <p:nvSpPr>
          <p:cNvPr id="288" name=""/>
          <p:cNvSpPr/>
          <p:nvPr/>
        </p:nvSpPr>
        <p:spPr>
          <a:xfrm>
            <a:off x="809280" y="2990520"/>
            <a:ext cx="105120" cy="105120"/>
          </a:xfrm>
          <a:custGeom>
            <a:avLst/>
            <a:gdLst/>
            <a:ahLst/>
            <a:rect l="0" t="0" r="r" b="b"/>
            <a:pathLst>
              <a:path w="292" h="292">
                <a:moveTo>
                  <a:pt x="292" y="146"/>
                </a:moveTo>
                <a:cubicBezTo>
                  <a:pt x="292" y="155"/>
                  <a:pt x="292" y="165"/>
                  <a:pt x="290" y="174"/>
                </a:cubicBezTo>
                <a:cubicBezTo>
                  <a:pt x="288" y="184"/>
                  <a:pt x="285" y="193"/>
                  <a:pt x="281" y="202"/>
                </a:cubicBezTo>
                <a:cubicBezTo>
                  <a:pt x="278" y="210"/>
                  <a:pt x="273" y="219"/>
                  <a:pt x="268" y="227"/>
                </a:cubicBezTo>
                <a:cubicBezTo>
                  <a:pt x="263" y="235"/>
                  <a:pt x="257" y="242"/>
                  <a:pt x="250" y="249"/>
                </a:cubicBezTo>
                <a:cubicBezTo>
                  <a:pt x="243" y="256"/>
                  <a:pt x="236" y="262"/>
                  <a:pt x="228" y="267"/>
                </a:cubicBezTo>
                <a:cubicBezTo>
                  <a:pt x="219" y="272"/>
                  <a:pt x="210" y="277"/>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7"/>
                  <a:pt x="73" y="272"/>
                  <a:pt x="65" y="267"/>
                </a:cubicBezTo>
                <a:cubicBezTo>
                  <a:pt x="57" y="262"/>
                  <a:pt x="50" y="256"/>
                  <a:pt x="43" y="249"/>
                </a:cubicBezTo>
                <a:cubicBezTo>
                  <a:pt x="36" y="242"/>
                  <a:pt x="30" y="235"/>
                  <a:pt x="25" y="227"/>
                </a:cubicBezTo>
                <a:cubicBezTo>
                  <a:pt x="20" y="219"/>
                  <a:pt x="15" y="210"/>
                  <a:pt x="12" y="202"/>
                </a:cubicBezTo>
                <a:cubicBezTo>
                  <a:pt x="8" y="193"/>
                  <a:pt x="5" y="184"/>
                  <a:pt x="3" y="174"/>
                </a:cubicBezTo>
                <a:cubicBezTo>
                  <a:pt x="1" y="165"/>
                  <a:pt x="0" y="155"/>
                  <a:pt x="0" y="146"/>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9" name=""/>
          <p:cNvSpPr txBox="1"/>
          <p:nvPr/>
        </p:nvSpPr>
        <p:spPr>
          <a:xfrm>
            <a:off x="1638360" y="2362320"/>
            <a:ext cx="19317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学習可能にした</a:t>
            </a:r>
            <a:endParaRPr b="0" lang="en-US" sz="2170" spc="-1" strike="noStrike">
              <a:solidFill>
                <a:srgbClr val="000000"/>
              </a:solidFill>
              <a:latin typeface="Times New Roman"/>
            </a:endParaRPr>
          </a:p>
        </p:txBody>
      </p:sp>
      <p:sp>
        <p:nvSpPr>
          <p:cNvPr id="290" name=""/>
          <p:cNvSpPr/>
          <p:nvPr/>
        </p:nvSpPr>
        <p:spPr>
          <a:xfrm>
            <a:off x="1361880" y="349560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8"/>
                  <a:pt x="7" y="99"/>
                  <a:pt x="11" y="91"/>
                </a:cubicBezTo>
                <a:cubicBezTo>
                  <a:pt x="15" y="82"/>
                  <a:pt x="19" y="73"/>
                  <a:pt x="25" y="65"/>
                </a:cubicBezTo>
                <a:cubicBezTo>
                  <a:pt x="30" y="57"/>
                  <a:pt x="36" y="50"/>
                  <a:pt x="43" y="43"/>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3"/>
                </a:cubicBezTo>
                <a:cubicBezTo>
                  <a:pt x="256" y="50"/>
                  <a:pt x="262" y="57"/>
                  <a:pt x="268" y="65"/>
                </a:cubicBezTo>
                <a:cubicBezTo>
                  <a:pt x="273" y="73"/>
                  <a:pt x="277" y="82"/>
                  <a:pt x="281" y="91"/>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91" name=""/>
          <p:cNvSpPr txBox="1"/>
          <p:nvPr/>
        </p:nvSpPr>
        <p:spPr>
          <a:xfrm>
            <a:off x="1085760" y="2847960"/>
            <a:ext cx="35866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多様な分野で高い性能を発揮</a:t>
            </a:r>
            <a:endParaRPr b="0" lang="en-US" sz="2170" spc="-1" strike="noStrike">
              <a:solidFill>
                <a:srgbClr val="000000"/>
              </a:solidFill>
              <a:latin typeface="Times New Roman"/>
            </a:endParaRPr>
          </a:p>
        </p:txBody>
      </p:sp>
      <p:sp>
        <p:nvSpPr>
          <p:cNvPr id="292" name=""/>
          <p:cNvSpPr txBox="1"/>
          <p:nvPr/>
        </p:nvSpPr>
        <p:spPr>
          <a:xfrm>
            <a:off x="1638360" y="3352680"/>
            <a:ext cx="99349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時系列予測（太陽光発電）や自然言語処理 </a:t>
            </a:r>
            <a:r>
              <a:rPr b="0" lang="en-US" sz="2170" spc="-1" strike="noStrike">
                <a:solidFill>
                  <a:srgbClr val="111111"/>
                </a:solidFill>
                <a:latin typeface="NotoSansJP"/>
                <a:ea typeface="NotoSansJP"/>
              </a:rPr>
              <a:t>(ELMo) </a:t>
            </a:r>
            <a:r>
              <a:rPr b="0" lang="zh-CN" sz="2170" spc="-1" strike="noStrike">
                <a:solidFill>
                  <a:srgbClr val="111111"/>
                </a:solidFill>
                <a:latin typeface="NotoSansJP"/>
                <a:ea typeface="NotoSansJP"/>
              </a:rPr>
              <a:t>で、従来手法を上回る成果を</a:t>
            </a:r>
            <a:endParaRPr b="0" lang="en-US" sz="2170" spc="-1" strike="noStrike">
              <a:solidFill>
                <a:srgbClr val="000000"/>
              </a:solidFill>
              <a:latin typeface="Times New Roman"/>
            </a:endParaRPr>
          </a:p>
        </p:txBody>
      </p:sp>
      <p:sp>
        <p:nvSpPr>
          <p:cNvPr id="293" name=""/>
          <p:cNvSpPr/>
          <p:nvPr/>
        </p:nvSpPr>
        <p:spPr>
          <a:xfrm>
            <a:off x="809280" y="439092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8"/>
                  <a:pt x="12" y="90"/>
                </a:cubicBezTo>
                <a:cubicBezTo>
                  <a:pt x="15" y="81"/>
                  <a:pt x="20" y="72"/>
                  <a:pt x="25" y="64"/>
                </a:cubicBezTo>
                <a:cubicBezTo>
                  <a:pt x="30" y="57"/>
                  <a:pt x="36" y="49"/>
                  <a:pt x="43" y="42"/>
                </a:cubicBezTo>
                <a:cubicBezTo>
                  <a:pt x="50" y="36"/>
                  <a:pt x="57" y="30"/>
                  <a:pt x="65" y="24"/>
                </a:cubicBezTo>
                <a:cubicBezTo>
                  <a:pt x="73" y="19"/>
                  <a:pt x="81" y="15"/>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5"/>
                  <a:pt x="219" y="19"/>
                  <a:pt x="228" y="24"/>
                </a:cubicBezTo>
                <a:cubicBezTo>
                  <a:pt x="236" y="30"/>
                  <a:pt x="243" y="36"/>
                  <a:pt x="250" y="42"/>
                </a:cubicBezTo>
                <a:cubicBezTo>
                  <a:pt x="257" y="49"/>
                  <a:pt x="263" y="57"/>
                  <a:pt x="268" y="64"/>
                </a:cubicBezTo>
                <a:cubicBezTo>
                  <a:pt x="273" y="72"/>
                  <a:pt x="278" y="81"/>
                  <a:pt x="281" y="90"/>
                </a:cubicBezTo>
                <a:cubicBezTo>
                  <a:pt x="285" y="98"/>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94" name=""/>
          <p:cNvSpPr txBox="1"/>
          <p:nvPr/>
        </p:nvSpPr>
        <p:spPr>
          <a:xfrm>
            <a:off x="1638360" y="377172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示した</a:t>
            </a:r>
            <a:endParaRPr b="0" lang="en-US" sz="2170" spc="-1" strike="noStrike">
              <a:solidFill>
                <a:srgbClr val="000000"/>
              </a:solidFill>
              <a:latin typeface="Times New Roman"/>
            </a:endParaRPr>
          </a:p>
        </p:txBody>
      </p:sp>
      <p:sp>
        <p:nvSpPr>
          <p:cNvPr id="295" name=""/>
          <p:cNvSpPr/>
          <p:nvPr/>
        </p:nvSpPr>
        <p:spPr>
          <a:xfrm>
            <a:off x="1361880" y="4905360"/>
            <a:ext cx="105120" cy="105120"/>
          </a:xfrm>
          <a:custGeom>
            <a:avLst/>
            <a:gdLst/>
            <a:ahLst/>
            <a:rect l="0" t="0" r="r" b="b"/>
            <a:pathLst>
              <a:path w="292" h="292">
                <a:moveTo>
                  <a:pt x="292" y="145"/>
                </a:moveTo>
                <a:cubicBezTo>
                  <a:pt x="292" y="155"/>
                  <a:pt x="291" y="164"/>
                  <a:pt x="289" y="173"/>
                </a:cubicBezTo>
                <a:cubicBezTo>
                  <a:pt x="287" y="183"/>
                  <a:pt x="285" y="192"/>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2"/>
                  <a:pt x="5" y="183"/>
                  <a:pt x="3" y="173"/>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0"/>
                  <a:pt x="136" y="0"/>
                  <a:pt x="147" y="0"/>
                </a:cubicBezTo>
                <a:cubicBezTo>
                  <a:pt x="156" y="0"/>
                  <a:pt x="166" y="0"/>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96" name=""/>
          <p:cNvSpPr txBox="1"/>
          <p:nvPr/>
        </p:nvSpPr>
        <p:spPr>
          <a:xfrm>
            <a:off x="1085760" y="4248000"/>
            <a:ext cx="24832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モデル選択の重要性</a:t>
            </a:r>
            <a:endParaRPr b="0" lang="en-US" sz="2170" spc="-1" strike="noStrike">
              <a:solidFill>
                <a:srgbClr val="000000"/>
              </a:solidFill>
              <a:latin typeface="Times New Roman"/>
            </a:endParaRPr>
          </a:p>
        </p:txBody>
      </p:sp>
      <p:sp>
        <p:nvSpPr>
          <p:cNvPr id="297" name=""/>
          <p:cNvSpPr/>
          <p:nvPr/>
        </p:nvSpPr>
        <p:spPr>
          <a:xfrm>
            <a:off x="1361880" y="539100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100"/>
                  <a:pt x="11" y="91"/>
                </a:cubicBezTo>
                <a:cubicBezTo>
                  <a:pt x="15" y="82"/>
                  <a:pt x="19" y="74"/>
                  <a:pt x="25" y="66"/>
                </a:cubicBezTo>
                <a:cubicBezTo>
                  <a:pt x="30" y="58"/>
                  <a:pt x="36" y="50"/>
                  <a:pt x="43" y="44"/>
                </a:cubicBezTo>
                <a:cubicBezTo>
                  <a:pt x="49" y="37"/>
                  <a:pt x="57" y="31"/>
                  <a:pt x="65" y="25"/>
                </a:cubicBezTo>
                <a:cubicBezTo>
                  <a:pt x="73" y="20"/>
                  <a:pt x="81" y="16"/>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6"/>
                  <a:pt x="219" y="20"/>
                  <a:pt x="227" y="25"/>
                </a:cubicBezTo>
                <a:cubicBezTo>
                  <a:pt x="235" y="31"/>
                  <a:pt x="243" y="37"/>
                  <a:pt x="249" y="44"/>
                </a:cubicBezTo>
                <a:cubicBezTo>
                  <a:pt x="256" y="50"/>
                  <a:pt x="262" y="58"/>
                  <a:pt x="268" y="66"/>
                </a:cubicBezTo>
                <a:cubicBezTo>
                  <a:pt x="273" y="74"/>
                  <a:pt x="277" y="82"/>
                  <a:pt x="281" y="91"/>
                </a:cubicBezTo>
                <a:cubicBezTo>
                  <a:pt x="285" y="100"/>
                  <a:pt x="287" y="109"/>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98" name=""/>
          <p:cNvSpPr txBox="1"/>
          <p:nvPr/>
        </p:nvSpPr>
        <p:spPr>
          <a:xfrm>
            <a:off x="1638360" y="4762440"/>
            <a:ext cx="40442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は強力だが、万能ではない</a:t>
            </a:r>
            <a:endParaRPr b="0" lang="en-US" sz="2170" spc="-1" strike="noStrike">
              <a:solidFill>
                <a:srgbClr val="000000"/>
              </a:solidFill>
              <a:latin typeface="Times New Roman"/>
            </a:endParaRPr>
          </a:p>
        </p:txBody>
      </p:sp>
      <p:sp>
        <p:nvSpPr>
          <p:cNvPr id="299" name=""/>
          <p:cNvSpPr txBox="1"/>
          <p:nvPr/>
        </p:nvSpPr>
        <p:spPr>
          <a:xfrm>
            <a:off x="1638360" y="5248440"/>
            <a:ext cx="99648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ARIMA</a:t>
            </a:r>
            <a:r>
              <a:rPr b="0" lang="zh-CN" sz="2170" spc="-1" strike="noStrike">
                <a:solidFill>
                  <a:srgbClr val="111111"/>
                </a:solidFill>
                <a:latin typeface="NotoSansJP"/>
                <a:ea typeface="NotoSansJP"/>
              </a:rPr>
              <a:t>のような古典的統計モデルも依然として有用であり、問題に応じた使い分</a:t>
            </a:r>
            <a:endParaRPr b="0" lang="en-US" sz="2170" spc="-1" strike="noStrike">
              <a:solidFill>
                <a:srgbClr val="000000"/>
              </a:solidFill>
              <a:latin typeface="Times New Roman"/>
            </a:endParaRPr>
          </a:p>
        </p:txBody>
      </p:sp>
      <p:sp>
        <p:nvSpPr>
          <p:cNvPr id="300" name=""/>
          <p:cNvSpPr txBox="1"/>
          <p:nvPr/>
        </p:nvSpPr>
        <p:spPr>
          <a:xfrm>
            <a:off x="1638360" y="56577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けが重要</a:t>
            </a:r>
            <a:endParaRPr b="0" lang="en-US" sz="2170" spc="-1" strike="noStrike">
              <a:solidFill>
                <a:srgbClr val="000000"/>
              </a:solidFill>
              <a:latin typeface="Times New Roman"/>
            </a:endParaRPr>
          </a:p>
        </p:txBody>
      </p:sp>
      <p:sp>
        <p:nvSpPr>
          <p:cNvPr id="30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302" name=""/>
          <p:cNvSpPr txBox="1"/>
          <p:nvPr/>
        </p:nvSpPr>
        <p:spPr>
          <a:xfrm>
            <a:off x="914400" y="392400"/>
            <a:ext cx="7459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まとめ</a:t>
            </a:r>
            <a:endParaRPr b="0" lang="en-US" sz="1950" spc="-1" strike="noStrike">
              <a:solidFill>
                <a:srgbClr val="000000"/>
              </a:solidFill>
              <a:latin typeface="Times New Roman"/>
            </a:endParaRPr>
          </a:p>
        </p:txBody>
      </p:sp>
      <p:sp>
        <p:nvSpPr>
          <p:cNvPr id="303"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LibreOffice/24.2.7.2$Linux_AARCH64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